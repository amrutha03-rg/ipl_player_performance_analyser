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1"/>
  </p:notesMasterIdLst>
  <p:handoutMasterIdLst>
    <p:handoutMasterId r:id="rId12"/>
  </p:handoutMasterIdLst>
  <p:sldIdLst>
    <p:sldId id="256" r:id="rId2"/>
    <p:sldId id="427" r:id="rId3"/>
    <p:sldId id="428" r:id="rId4"/>
    <p:sldId id="436" r:id="rId5"/>
    <p:sldId id="429" r:id="rId6"/>
    <p:sldId id="434" r:id="rId7"/>
    <p:sldId id="432" r:id="rId8"/>
    <p:sldId id="433" r:id="rId9"/>
    <p:sldId id="29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78EB4CA-1C65-4743-AAB5-D9E469D4DBB9}">
          <p14:sldIdLst>
            <p14:sldId id="256"/>
          </p14:sldIdLst>
        </p14:section>
        <p14:section name="Untitled Section" id="{E767EBFD-7A80-4318-A534-CA1EE1EFBC8A}">
          <p14:sldIdLst>
            <p14:sldId id="427"/>
            <p14:sldId id="428"/>
            <p14:sldId id="436"/>
            <p14:sldId id="429"/>
            <p14:sldId id="434"/>
            <p14:sldId id="432"/>
            <p14:sldId id="433"/>
            <p14:sldId id="29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0F101C1-E679-8A0F-4A8E-1B959C406192}" name="konduru jyoshana" initials="kj" userId="konduru jyoshan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50" autoAdjust="0"/>
    <p:restoredTop sz="94624" autoAdjust="0"/>
  </p:normalViewPr>
  <p:slideViewPr>
    <p:cSldViewPr>
      <p:cViewPr varScale="1">
        <p:scale>
          <a:sx n="78" d="100"/>
          <a:sy n="78" d="100"/>
        </p:scale>
        <p:origin x="648" y="77"/>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65" d="100"/>
          <a:sy n="65" d="100"/>
        </p:scale>
        <p:origin x="3154" y="3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microsoft.com/office/2018/10/relationships/authors" Targe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F2DB80D-D8DC-40C9-8603-2D92EB853E85}" type="datetimeFigureOut">
              <a:rPr lang="en-US" smtClean="0"/>
              <a:pPr/>
              <a:t>9/30/2026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B72EF51-F63D-488E-9B3C-4A470AE4E6F5}"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EF2DC9-9E6B-4115-80F7-AF3C0B919820}" type="datetimeFigureOut">
              <a:rPr lang="en-US" smtClean="0"/>
              <a:pPr/>
              <a:t>9/29/2026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B36BD8-3BE0-4B04-B520-77C1F1F1FB7F}" type="slidenum">
              <a:rPr lang="en-US" smtClean="0"/>
              <a:pPr/>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BB36BD8-3BE0-4B04-B520-77C1F1F1FB7F}"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854199"/>
            <a:ext cx="9144000" cy="1655763"/>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4" name="Picture 3">
            <a:extLst>
              <a:ext uri="{FF2B5EF4-FFF2-40B4-BE49-F238E27FC236}">
                <a16:creationId xmlns:a16="http://schemas.microsoft.com/office/drawing/2014/main" id="{1125AD38-0796-B4A0-F437-8C37B4D1B9B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567608" y="592088"/>
            <a:ext cx="7609140" cy="1008112"/>
          </a:xfrm>
          <a:prstGeom prst="rect">
            <a:avLst/>
          </a:prstGeom>
        </p:spPr>
      </p:pic>
    </p:spTree>
    <p:extLst>
      <p:ext uri="{BB962C8B-B14F-4D97-AF65-F5344CB8AC3E}">
        <p14:creationId xmlns:p14="http://schemas.microsoft.com/office/powerpoint/2010/main" val="4114810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869085" y="1561876"/>
            <a:ext cx="10515600" cy="4531419"/>
          </a:xfrm>
        </p:spPr>
        <p:txBody>
          <a:bodyPr/>
          <a:lstStyle>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0" name="Date Placeholder 2">
            <a:extLst>
              <a:ext uri="{FF2B5EF4-FFF2-40B4-BE49-F238E27FC236}">
                <a16:creationId xmlns:a16="http://schemas.microsoft.com/office/drawing/2014/main" id="{C8CBE8F9-096B-48BD-AF91-C68E84B4AE0C}"/>
              </a:ext>
            </a:extLst>
          </p:cNvPr>
          <p:cNvSpPr>
            <a:spLocks noGrp="1"/>
          </p:cNvSpPr>
          <p:nvPr>
            <p:ph type="dt" sz="half" idx="11"/>
          </p:nvPr>
        </p:nvSpPr>
        <p:spPr>
          <a:xfrm>
            <a:off x="695400" y="6278770"/>
            <a:ext cx="1656183" cy="365125"/>
          </a:xfrm>
          <a:ln>
            <a:noFill/>
          </a:ln>
        </p:spPr>
        <p:txBody>
          <a:bodyPr/>
          <a:lstStyle>
            <a:lvl1pPr>
              <a:defRPr b="1">
                <a:solidFill>
                  <a:schemeClr val="bg1">
                    <a:lumMod val="50000"/>
                  </a:schemeClr>
                </a:solidFill>
              </a:defRPr>
            </a:lvl1pPr>
          </a:lstStyle>
          <a:p>
            <a:fld id="{8368060C-F3A5-4600-9262-589A0797613D}" type="datetime1">
              <a:rPr lang="en-IN" smtClean="0"/>
              <a:pPr/>
              <a:t>29-09-2026</a:t>
            </a:fld>
            <a:endParaRPr lang="en-US" dirty="0"/>
          </a:p>
        </p:txBody>
      </p:sp>
      <p:sp>
        <p:nvSpPr>
          <p:cNvPr id="11" name="Footer Placeholder 3">
            <a:extLst>
              <a:ext uri="{FF2B5EF4-FFF2-40B4-BE49-F238E27FC236}">
                <a16:creationId xmlns:a16="http://schemas.microsoft.com/office/drawing/2014/main" id="{9B80BD04-4FB9-48ED-8F04-82E1E9B47D6D}"/>
              </a:ext>
            </a:extLst>
          </p:cNvPr>
          <p:cNvSpPr>
            <a:spLocks noGrp="1"/>
          </p:cNvSpPr>
          <p:nvPr>
            <p:ph type="ftr" sz="quarter" idx="12"/>
          </p:nvPr>
        </p:nvSpPr>
        <p:spPr>
          <a:xfrm>
            <a:off x="2567608" y="6278771"/>
            <a:ext cx="6912768" cy="365125"/>
          </a:xfrm>
          <a:ln>
            <a:noFill/>
          </a:ln>
        </p:spPr>
        <p:txBody>
          <a:bodyPr/>
          <a:lstStyle>
            <a:lvl1pPr>
              <a:defRPr b="1">
                <a:solidFill>
                  <a:schemeClr val="bg1">
                    <a:lumMod val="50000"/>
                  </a:schemeClr>
                </a:solidFill>
              </a:defRPr>
            </a:lvl1pPr>
          </a:lstStyle>
          <a:p>
            <a:r>
              <a:rPr lang="en-US" dirty="0"/>
              <a:t>Course Name                                                                Faculty Name, Designation, Dept.</a:t>
            </a:r>
          </a:p>
        </p:txBody>
      </p:sp>
      <p:pic>
        <p:nvPicPr>
          <p:cNvPr id="1026" name="Picture 2">
            <a:extLst>
              <a:ext uri="{FF2B5EF4-FFF2-40B4-BE49-F238E27FC236}">
                <a16:creationId xmlns:a16="http://schemas.microsoft.com/office/drawing/2014/main" id="{A51A2048-2A34-7FBF-43D5-D3D3725F2AF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40709" y="-243408"/>
            <a:ext cx="3249644" cy="18000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3">
            <a:extLst>
              <a:ext uri="{FF2B5EF4-FFF2-40B4-BE49-F238E27FC236}">
                <a16:creationId xmlns:a16="http://schemas.microsoft.com/office/drawing/2014/main" id="{504257EF-5910-55BD-B426-CB8A9D6AA207}"/>
              </a:ext>
            </a:extLst>
          </p:cNvPr>
          <p:cNvSpPr>
            <a:spLocks noGrp="1"/>
          </p:cNvSpPr>
          <p:nvPr>
            <p:ph type="sldNum" sz="quarter" idx="13"/>
          </p:nvPr>
        </p:nvSpPr>
        <p:spPr>
          <a:xfrm>
            <a:off x="10272464" y="6356350"/>
            <a:ext cx="1081336" cy="365125"/>
          </a:xfrm>
        </p:spPr>
        <p:txBody>
          <a:bodyPr/>
          <a:lstStyle/>
          <a:p>
            <a:fld id="{326EF2E3-409D-4D76-AD02-397A36B0DAF9}" type="slidenum">
              <a:rPr lang="en-US" smtClean="0"/>
              <a:pPr/>
              <a:t>‹#›</a:t>
            </a:fld>
            <a:endParaRPr lang="en-US"/>
          </a:p>
        </p:txBody>
      </p:sp>
    </p:spTree>
    <p:extLst>
      <p:ext uri="{BB962C8B-B14F-4D97-AF65-F5344CB8AC3E}">
        <p14:creationId xmlns:p14="http://schemas.microsoft.com/office/powerpoint/2010/main" val="3774776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9367759-B4C6-4477-29E7-48E08870C81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40709" y="-243408"/>
            <a:ext cx="3249644" cy="1800000"/>
          </a:xfrm>
          <a:prstGeom prst="rect">
            <a:avLst/>
          </a:prstGeom>
          <a:noFill/>
          <a:extLst>
            <a:ext uri="{909E8E84-426E-40DD-AFC4-6F175D3DCCD1}">
              <a14:hiddenFill xmlns:a14="http://schemas.microsoft.com/office/drawing/2010/main">
                <a:solidFill>
                  <a:srgbClr val="FFFFFF"/>
                </a:solidFill>
              </a14:hiddenFill>
            </a:ext>
          </a:extLst>
        </p:spPr>
      </p:pic>
      <p:sp>
        <p:nvSpPr>
          <p:cNvPr id="6" name="Date Placeholder 2">
            <a:extLst>
              <a:ext uri="{FF2B5EF4-FFF2-40B4-BE49-F238E27FC236}">
                <a16:creationId xmlns:a16="http://schemas.microsoft.com/office/drawing/2014/main" id="{DBBF301A-453A-BED0-C53C-37286AA00C5A}"/>
              </a:ext>
            </a:extLst>
          </p:cNvPr>
          <p:cNvSpPr>
            <a:spLocks noGrp="1"/>
          </p:cNvSpPr>
          <p:nvPr>
            <p:ph type="dt" sz="half" idx="11"/>
          </p:nvPr>
        </p:nvSpPr>
        <p:spPr>
          <a:xfrm>
            <a:off x="695400" y="6278770"/>
            <a:ext cx="1656183" cy="365125"/>
          </a:xfrm>
          <a:ln>
            <a:noFill/>
          </a:ln>
        </p:spPr>
        <p:txBody>
          <a:bodyPr/>
          <a:lstStyle>
            <a:lvl1pPr>
              <a:defRPr b="1">
                <a:solidFill>
                  <a:schemeClr val="bg1">
                    <a:lumMod val="50000"/>
                  </a:schemeClr>
                </a:solidFill>
              </a:defRPr>
            </a:lvl1pPr>
          </a:lstStyle>
          <a:p>
            <a:fld id="{8368060C-F3A5-4600-9262-589A0797613D}" type="datetime1">
              <a:rPr lang="en-IN" smtClean="0"/>
              <a:pPr/>
              <a:t>29-09-2026</a:t>
            </a:fld>
            <a:endParaRPr lang="en-US" dirty="0"/>
          </a:p>
        </p:txBody>
      </p:sp>
      <p:sp>
        <p:nvSpPr>
          <p:cNvPr id="7" name="Footer Placeholder 3">
            <a:extLst>
              <a:ext uri="{FF2B5EF4-FFF2-40B4-BE49-F238E27FC236}">
                <a16:creationId xmlns:a16="http://schemas.microsoft.com/office/drawing/2014/main" id="{1BBB8F58-91C5-AB5A-807E-19452F655655}"/>
              </a:ext>
            </a:extLst>
          </p:cNvPr>
          <p:cNvSpPr>
            <a:spLocks noGrp="1"/>
          </p:cNvSpPr>
          <p:nvPr>
            <p:ph type="ftr" sz="quarter" idx="12"/>
          </p:nvPr>
        </p:nvSpPr>
        <p:spPr>
          <a:xfrm>
            <a:off x="2567608" y="6278771"/>
            <a:ext cx="6912768" cy="365125"/>
          </a:xfrm>
          <a:ln>
            <a:noFill/>
          </a:ln>
        </p:spPr>
        <p:txBody>
          <a:bodyPr/>
          <a:lstStyle>
            <a:lvl1pPr>
              <a:defRPr b="1">
                <a:solidFill>
                  <a:schemeClr val="bg1">
                    <a:lumMod val="50000"/>
                  </a:schemeClr>
                </a:solidFill>
              </a:defRPr>
            </a:lvl1pPr>
          </a:lstStyle>
          <a:p>
            <a:r>
              <a:rPr lang="en-US" dirty="0"/>
              <a:t>Course Name                                                                Faculty Name, Designation, Dept.</a:t>
            </a:r>
          </a:p>
        </p:txBody>
      </p:sp>
      <p:sp>
        <p:nvSpPr>
          <p:cNvPr id="8" name="Slide Number Placeholder 3">
            <a:extLst>
              <a:ext uri="{FF2B5EF4-FFF2-40B4-BE49-F238E27FC236}">
                <a16:creationId xmlns:a16="http://schemas.microsoft.com/office/drawing/2014/main" id="{119C11AA-4309-9F6B-48A3-24FE199327D5}"/>
              </a:ext>
            </a:extLst>
          </p:cNvPr>
          <p:cNvSpPr>
            <a:spLocks noGrp="1"/>
          </p:cNvSpPr>
          <p:nvPr>
            <p:ph type="sldNum" sz="quarter" idx="13"/>
          </p:nvPr>
        </p:nvSpPr>
        <p:spPr>
          <a:xfrm>
            <a:off x="10272464" y="6356350"/>
            <a:ext cx="1081336" cy="365125"/>
          </a:xfrm>
        </p:spPr>
        <p:txBody>
          <a:bodyPr/>
          <a:lstStyle/>
          <a:p>
            <a:fld id="{326EF2E3-409D-4D76-AD02-397A36B0DAF9}" type="slidenum">
              <a:rPr lang="en-US" smtClean="0"/>
              <a:pPr/>
              <a:t>‹#›</a:t>
            </a:fld>
            <a:endParaRPr lang="en-US"/>
          </a:p>
        </p:txBody>
      </p:sp>
    </p:spTree>
    <p:extLst>
      <p:ext uri="{BB962C8B-B14F-4D97-AF65-F5344CB8AC3E}">
        <p14:creationId xmlns:p14="http://schemas.microsoft.com/office/powerpoint/2010/main" val="5480796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33AD86-BCE5-402A-9A63-AC164DC60237}" type="datetime1">
              <a:rPr lang="en-IN" smtClean="0"/>
              <a:pPr/>
              <a:t>29-09-2026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Course Name                                                                Faculty Name, Designation, Dept.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6EF2E3-409D-4D76-AD02-397A36B0DAF9}" type="slidenum">
              <a:rPr lang="en-US" smtClean="0"/>
              <a:pPr/>
              <a:t>‹#›</a:t>
            </a:fld>
            <a:endParaRPr lang="en-US"/>
          </a:p>
        </p:txBody>
      </p:sp>
    </p:spTree>
    <p:extLst>
      <p:ext uri="{BB962C8B-B14F-4D97-AF65-F5344CB8AC3E}">
        <p14:creationId xmlns:p14="http://schemas.microsoft.com/office/powerpoint/2010/main" val="34272357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9" r:id="rId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www.kaggle.com/datasets/abhishekgodara/ipl-data-set" TargetMode="External"/><Relationship Id="rId2" Type="http://schemas.openxmlformats.org/officeDocument/2006/relationships/hyperlink" Target="https://www.kaggle.com/datasets/riyagarg0314/ipl-ball-by-ball-data-2008-2026"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685800" y="1571612"/>
            <a:ext cx="10696612" cy="2428892"/>
          </a:xfrm>
          <a:prstGeom prst="rect">
            <a:avLst/>
          </a:prstGeom>
        </p:spPr>
        <p:txBody>
          <a:bodyPr vert="horz" lIns="91440" tIns="45720" rIns="91440" bIns="45720" rtlCol="0" anchor="b">
            <a:no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F0000"/>
                </a:solidFill>
                <a:effectLst/>
                <a:uLnTx/>
                <a:uFillTx/>
                <a:latin typeface="Tw Cen MT" pitchFamily="34" charset="0"/>
                <a:ea typeface="+mj-ea"/>
                <a:cs typeface="+mj-cs"/>
              </a:rPr>
              <a:t> </a:t>
            </a:r>
            <a:br>
              <a:rPr kumimoji="0" lang="en-US" sz="4400" b="0" i="0" u="none" strike="noStrike" kern="1200" cap="none" spc="0" normalizeH="0" baseline="0" noProof="0" dirty="0">
                <a:ln>
                  <a:noFill/>
                </a:ln>
                <a:solidFill>
                  <a:srgbClr val="FF0000"/>
                </a:solidFill>
                <a:effectLst/>
                <a:uLnTx/>
                <a:uFillTx/>
                <a:latin typeface="Tw Cen MT" pitchFamily="34" charset="0"/>
                <a:ea typeface="+mj-ea"/>
                <a:cs typeface="+mj-cs"/>
              </a:rPr>
            </a:br>
            <a:endParaRPr kumimoji="0" lang="en-IN" sz="4400" b="0" i="0" u="none" strike="noStrike" kern="1200" cap="none" spc="0" normalizeH="0" baseline="0" noProof="0" dirty="0">
              <a:ln>
                <a:noFill/>
              </a:ln>
              <a:effectLst/>
              <a:uLnTx/>
              <a:uFillTx/>
              <a:latin typeface="Tw Cen MT" pitchFamily="34" charset="0"/>
              <a:ea typeface="+mj-ea"/>
              <a:cs typeface="+mj-cs"/>
            </a:endParaRPr>
          </a:p>
        </p:txBody>
      </p:sp>
      <p:sp>
        <p:nvSpPr>
          <p:cNvPr id="10" name="TextBox 9">
            <a:extLst>
              <a:ext uri="{FF2B5EF4-FFF2-40B4-BE49-F238E27FC236}">
                <a16:creationId xmlns:a16="http://schemas.microsoft.com/office/drawing/2014/main" id="{FD9E1C7A-6C0F-1E70-EC9F-1897C092DFF3}"/>
              </a:ext>
            </a:extLst>
          </p:cNvPr>
          <p:cNvSpPr txBox="1"/>
          <p:nvPr/>
        </p:nvSpPr>
        <p:spPr>
          <a:xfrm>
            <a:off x="1847528" y="1965608"/>
            <a:ext cx="9405349" cy="1200329"/>
          </a:xfrm>
          <a:prstGeom prst="rect">
            <a:avLst/>
          </a:prstGeom>
          <a:noFill/>
        </p:spPr>
        <p:txBody>
          <a:bodyPr wrap="square" rtlCol="0">
            <a:spAutoFit/>
          </a:bodyPr>
          <a:lstStyle/>
          <a:p>
            <a:pPr algn="ctr"/>
            <a:r>
              <a:rPr lang="en-IN" sz="3600" b="1" i="1" dirty="0">
                <a:solidFill>
                  <a:srgbClr val="0070C0"/>
                </a:solidFill>
              </a:rPr>
              <a:t>IPL PLAYER PERFORMANCE </a:t>
            </a:r>
          </a:p>
          <a:p>
            <a:pPr algn="ctr"/>
            <a:r>
              <a:rPr lang="en-IN" sz="3600" b="1" i="1" dirty="0">
                <a:solidFill>
                  <a:srgbClr val="0070C0"/>
                </a:solidFill>
              </a:rPr>
              <a:t>ANALYSIS</a:t>
            </a:r>
          </a:p>
        </p:txBody>
      </p:sp>
      <p:sp>
        <p:nvSpPr>
          <p:cNvPr id="2" name="TextBox 1">
            <a:extLst>
              <a:ext uri="{FF2B5EF4-FFF2-40B4-BE49-F238E27FC236}">
                <a16:creationId xmlns:a16="http://schemas.microsoft.com/office/drawing/2014/main" id="{24389E1D-C2AB-F603-3CA3-87DB4BF1C1AA}"/>
              </a:ext>
            </a:extLst>
          </p:cNvPr>
          <p:cNvSpPr txBox="1"/>
          <p:nvPr/>
        </p:nvSpPr>
        <p:spPr>
          <a:xfrm>
            <a:off x="5375920" y="3321610"/>
            <a:ext cx="2671609" cy="523220"/>
          </a:xfrm>
          <a:prstGeom prst="rect">
            <a:avLst/>
          </a:prstGeom>
          <a:noFill/>
        </p:spPr>
        <p:txBody>
          <a:bodyPr wrap="square" rtlCol="0">
            <a:spAutoFit/>
          </a:bodyPr>
          <a:lstStyle/>
          <a:p>
            <a:r>
              <a:rPr lang="en-US" sz="2800" b="1" dirty="0">
                <a:solidFill>
                  <a:srgbClr val="FF0000"/>
                </a:solidFill>
              </a:rPr>
              <a:t>P</a:t>
            </a:r>
            <a:r>
              <a:rPr lang="en-IN" sz="2800" b="1" dirty="0">
                <a:solidFill>
                  <a:srgbClr val="FF0000"/>
                </a:solidFill>
              </a:rPr>
              <a:t>RESENTED BY</a:t>
            </a:r>
          </a:p>
        </p:txBody>
      </p:sp>
      <p:sp>
        <p:nvSpPr>
          <p:cNvPr id="3" name="TextBox 2">
            <a:extLst>
              <a:ext uri="{FF2B5EF4-FFF2-40B4-BE49-F238E27FC236}">
                <a16:creationId xmlns:a16="http://schemas.microsoft.com/office/drawing/2014/main" id="{9F213753-4CA3-3666-9E10-533F5C1CA7E2}"/>
              </a:ext>
            </a:extLst>
          </p:cNvPr>
          <p:cNvSpPr txBox="1"/>
          <p:nvPr/>
        </p:nvSpPr>
        <p:spPr>
          <a:xfrm>
            <a:off x="4007768" y="3714778"/>
            <a:ext cx="5689577" cy="2215991"/>
          </a:xfrm>
          <a:prstGeom prst="rect">
            <a:avLst/>
          </a:prstGeom>
          <a:noFill/>
        </p:spPr>
        <p:txBody>
          <a:bodyPr wrap="square" rtlCol="0">
            <a:spAutoFit/>
          </a:bodyPr>
          <a:lstStyle/>
          <a:p>
            <a:endParaRPr lang="en-IN" sz="2400" b="1" i="1" u="sng" dirty="0"/>
          </a:p>
          <a:p>
            <a:pPr marL="285750" indent="-285750">
              <a:buFont typeface="Wingdings" panose="05000000000000000000" pitchFamily="2" charset="2"/>
              <a:buChar char="Ø"/>
            </a:pPr>
            <a:r>
              <a:rPr lang="en-IN" sz="2400" b="1" dirty="0"/>
              <a:t>1.</a:t>
            </a:r>
            <a:r>
              <a:rPr lang="en-IN" sz="2400" dirty="0"/>
              <a:t>Rokkam Shyam Kumar     : 25B11CS833</a:t>
            </a:r>
          </a:p>
          <a:p>
            <a:pPr marL="285750" indent="-285750">
              <a:buFont typeface="Wingdings" panose="05000000000000000000" pitchFamily="2" charset="2"/>
              <a:buChar char="Ø"/>
            </a:pPr>
            <a:r>
              <a:rPr lang="en-IN" sz="2400" b="1" dirty="0"/>
              <a:t>2.</a:t>
            </a:r>
            <a:r>
              <a:rPr lang="en-IN" sz="2400" dirty="0"/>
              <a:t>Tadala Amrutha Varshini : 25B11CS926</a:t>
            </a:r>
          </a:p>
          <a:p>
            <a:pPr marL="285750" indent="-285750">
              <a:buFont typeface="Wingdings" panose="05000000000000000000" pitchFamily="2" charset="2"/>
              <a:buChar char="Ø"/>
            </a:pPr>
            <a:r>
              <a:rPr lang="en-IN" sz="2400" b="1" dirty="0"/>
              <a:t>3</a:t>
            </a:r>
            <a:r>
              <a:rPr lang="en-IN" sz="2400" dirty="0"/>
              <a:t>.Vasamsetti Haarika           : 25B11CS996</a:t>
            </a:r>
          </a:p>
          <a:p>
            <a:pPr marL="285750" indent="-285750">
              <a:buFont typeface="Wingdings" panose="05000000000000000000" pitchFamily="2" charset="2"/>
              <a:buChar char="Ø"/>
            </a:pPr>
            <a:r>
              <a:rPr lang="en-IN" sz="2400" b="1" dirty="0"/>
              <a:t>4.</a:t>
            </a:r>
            <a:r>
              <a:rPr lang="en-IN" sz="2400" dirty="0"/>
              <a:t>Sheik </a:t>
            </a:r>
            <a:r>
              <a:rPr lang="en-IN" sz="2400" dirty="0" err="1"/>
              <a:t>Sameeruddin</a:t>
            </a:r>
            <a:r>
              <a:rPr lang="en-IN" sz="2400" dirty="0"/>
              <a:t>          : 25B11CS897</a:t>
            </a: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8EF5DD7-D7CA-A9ED-4AF9-D47C3F3F5BB6}"/>
              </a:ext>
            </a:extLst>
          </p:cNvPr>
          <p:cNvSpPr>
            <a:spLocks noGrp="1"/>
          </p:cNvSpPr>
          <p:nvPr>
            <p:ph type="sldNum" sz="quarter" idx="13"/>
          </p:nvPr>
        </p:nvSpPr>
        <p:spPr/>
        <p:txBody>
          <a:bodyPr/>
          <a:lstStyle/>
          <a:p>
            <a:fld id="{326EF2E3-409D-4D76-AD02-397A36B0DAF9}" type="slidenum">
              <a:rPr lang="en-US" smtClean="0"/>
              <a:pPr/>
              <a:t>2</a:t>
            </a:fld>
            <a:endParaRPr lang="en-US" dirty="0"/>
          </a:p>
        </p:txBody>
      </p:sp>
      <p:sp>
        <p:nvSpPr>
          <p:cNvPr id="5" name="TextBox 4">
            <a:extLst>
              <a:ext uri="{FF2B5EF4-FFF2-40B4-BE49-F238E27FC236}">
                <a16:creationId xmlns:a16="http://schemas.microsoft.com/office/drawing/2014/main" id="{0716960E-FF80-6453-1FC3-07EC8908971C}"/>
              </a:ext>
            </a:extLst>
          </p:cNvPr>
          <p:cNvSpPr txBox="1"/>
          <p:nvPr/>
        </p:nvSpPr>
        <p:spPr>
          <a:xfrm>
            <a:off x="3854267" y="836712"/>
            <a:ext cx="4690004" cy="1323439"/>
          </a:xfrm>
          <a:prstGeom prst="rect">
            <a:avLst/>
          </a:prstGeom>
          <a:noFill/>
        </p:spPr>
        <p:txBody>
          <a:bodyPr wrap="square" rtlCol="0">
            <a:spAutoFit/>
          </a:bodyPr>
          <a:lstStyle/>
          <a:p>
            <a:r>
              <a:rPr lang="en-IN" sz="4000" b="1" dirty="0">
                <a:solidFill>
                  <a:schemeClr val="accent2"/>
                </a:solidFill>
              </a:rPr>
              <a:t>Problem Statement</a:t>
            </a:r>
          </a:p>
          <a:p>
            <a:endParaRPr lang="en-IN" sz="4000" b="1" u="sng" dirty="0">
              <a:solidFill>
                <a:schemeClr val="accent4"/>
              </a:solidFill>
            </a:endParaRPr>
          </a:p>
        </p:txBody>
      </p:sp>
      <p:sp>
        <p:nvSpPr>
          <p:cNvPr id="6" name="TextBox 5">
            <a:extLst>
              <a:ext uri="{FF2B5EF4-FFF2-40B4-BE49-F238E27FC236}">
                <a16:creationId xmlns:a16="http://schemas.microsoft.com/office/drawing/2014/main" id="{52CC91B0-5DDA-9B30-8256-B94AF720EAE9}"/>
              </a:ext>
            </a:extLst>
          </p:cNvPr>
          <p:cNvSpPr txBox="1"/>
          <p:nvPr/>
        </p:nvSpPr>
        <p:spPr>
          <a:xfrm>
            <a:off x="728228" y="1772816"/>
            <a:ext cx="10735543" cy="3970318"/>
          </a:xfrm>
          <a:prstGeom prst="rect">
            <a:avLst/>
          </a:prstGeom>
          <a:noFill/>
        </p:spPr>
        <p:txBody>
          <a:bodyPr wrap="square" rtlCol="0">
            <a:spAutoFit/>
          </a:bodyPr>
          <a:lstStyle/>
          <a:p>
            <a:pPr lvl="0" algn="just"/>
            <a:r>
              <a:rPr lang="en-IN" sz="2800" dirty="0"/>
              <a:t>       </a:t>
            </a:r>
            <a:r>
              <a:rPr lang="en-US" sz="2800" dirty="0"/>
              <a:t>The </a:t>
            </a:r>
            <a:r>
              <a:rPr lang="en-US" sz="2800" i="1" dirty="0"/>
              <a:t>Indian Premier League (IPL) </a:t>
            </a:r>
            <a:r>
              <a:rPr lang="en-US" sz="2800" dirty="0"/>
              <a:t>generates a vast amount of player performance data every season, making manual analysis difficult and time-consuming. Traditional methods often fail to provide accurate insights into player performance and consistency. This project aims to analyze IPL data using data analytics techniques to evaluate batting and bowling performances. By calculating key performance metrics and creating meaningful visualizations, the project helps identify top-performing players and performance trends. The insights obtained can support better player evaluation and decision-making.</a:t>
            </a:r>
            <a:endParaRPr lang="en-IN" dirty="0"/>
          </a:p>
        </p:txBody>
      </p:sp>
    </p:spTree>
    <p:extLst>
      <p:ext uri="{BB962C8B-B14F-4D97-AF65-F5344CB8AC3E}">
        <p14:creationId xmlns:p14="http://schemas.microsoft.com/office/powerpoint/2010/main" val="3281664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B6336D-A041-F821-887A-837462521AD6}"/>
              </a:ext>
            </a:extLst>
          </p:cNvPr>
          <p:cNvSpPr>
            <a:spLocks noGrp="1"/>
          </p:cNvSpPr>
          <p:nvPr>
            <p:ph type="sldNum" sz="quarter" idx="13"/>
          </p:nvPr>
        </p:nvSpPr>
        <p:spPr/>
        <p:txBody>
          <a:bodyPr/>
          <a:lstStyle/>
          <a:p>
            <a:fld id="{326EF2E3-409D-4D76-AD02-397A36B0DAF9}" type="slidenum">
              <a:rPr lang="en-US" smtClean="0"/>
              <a:pPr/>
              <a:t>3</a:t>
            </a:fld>
            <a:endParaRPr lang="en-US" dirty="0"/>
          </a:p>
        </p:txBody>
      </p:sp>
      <p:sp>
        <p:nvSpPr>
          <p:cNvPr id="5" name="TextBox 4">
            <a:extLst>
              <a:ext uri="{FF2B5EF4-FFF2-40B4-BE49-F238E27FC236}">
                <a16:creationId xmlns:a16="http://schemas.microsoft.com/office/drawing/2014/main" id="{AC2383B4-CB5F-D1AB-C9E1-9090856A1D8B}"/>
              </a:ext>
            </a:extLst>
          </p:cNvPr>
          <p:cNvSpPr txBox="1"/>
          <p:nvPr/>
        </p:nvSpPr>
        <p:spPr>
          <a:xfrm>
            <a:off x="4583832" y="692696"/>
            <a:ext cx="4667227" cy="830997"/>
          </a:xfrm>
          <a:prstGeom prst="rect">
            <a:avLst/>
          </a:prstGeom>
          <a:noFill/>
        </p:spPr>
        <p:txBody>
          <a:bodyPr wrap="square" rtlCol="0">
            <a:spAutoFit/>
          </a:bodyPr>
          <a:lstStyle/>
          <a:p>
            <a:r>
              <a:rPr lang="en-IN" sz="4800" b="1" dirty="0">
                <a:solidFill>
                  <a:schemeClr val="accent2"/>
                </a:solidFill>
              </a:rPr>
              <a:t>Objectives</a:t>
            </a:r>
            <a:endParaRPr lang="en-IN" sz="4800" b="1" u="sng" dirty="0">
              <a:solidFill>
                <a:schemeClr val="accent2"/>
              </a:solidFill>
            </a:endParaRPr>
          </a:p>
        </p:txBody>
      </p:sp>
      <p:sp>
        <p:nvSpPr>
          <p:cNvPr id="6" name="TextBox 5">
            <a:extLst>
              <a:ext uri="{FF2B5EF4-FFF2-40B4-BE49-F238E27FC236}">
                <a16:creationId xmlns:a16="http://schemas.microsoft.com/office/drawing/2014/main" id="{F037936E-5339-5AC2-233A-0CFE6B108E1A}"/>
              </a:ext>
            </a:extLst>
          </p:cNvPr>
          <p:cNvSpPr txBox="1"/>
          <p:nvPr/>
        </p:nvSpPr>
        <p:spPr>
          <a:xfrm>
            <a:off x="674748" y="1736229"/>
            <a:ext cx="8566399" cy="3385542"/>
          </a:xfrm>
          <a:prstGeom prst="rect">
            <a:avLst/>
          </a:prstGeom>
          <a:noFill/>
        </p:spPr>
        <p:txBody>
          <a:bodyPr wrap="square" rtlCol="0">
            <a:spAutoFit/>
          </a:bodyPr>
          <a:lstStyle/>
          <a:p>
            <a:pPr algn="just"/>
            <a:r>
              <a:rPr lang="en-IN" sz="2800" b="1" dirty="0">
                <a:solidFill>
                  <a:schemeClr val="accent1"/>
                </a:solidFill>
              </a:rPr>
              <a:t>The objectives of our project are:</a:t>
            </a:r>
          </a:p>
          <a:p>
            <a:pPr algn="just"/>
            <a:endParaRPr lang="en-IN" sz="2800" dirty="0">
              <a:highlight>
                <a:srgbClr val="FFFF00"/>
              </a:highlight>
            </a:endParaRPr>
          </a:p>
          <a:p>
            <a:pPr marL="457200" lvl="0" indent="-457200" algn="just">
              <a:buFont typeface="Wingdings" panose="05000000000000000000" pitchFamily="2" charset="2"/>
              <a:buChar char="q"/>
            </a:pPr>
            <a:r>
              <a:rPr lang="en-IN" sz="2800" dirty="0"/>
              <a:t>To analyse IPL historical data. </a:t>
            </a:r>
          </a:p>
          <a:p>
            <a:pPr marL="457200" lvl="0" indent="-457200" algn="just">
              <a:buFont typeface="Wingdings" panose="05000000000000000000" pitchFamily="2" charset="2"/>
              <a:buChar char="q"/>
            </a:pPr>
            <a:r>
              <a:rPr lang="en-IN" sz="2800" dirty="0"/>
              <a:t>To identify the best-performing teams and players. </a:t>
            </a:r>
          </a:p>
          <a:p>
            <a:pPr marL="457200" lvl="0" indent="-457200" algn="just">
              <a:buFont typeface="Wingdings" panose="05000000000000000000" pitchFamily="2" charset="2"/>
              <a:buChar char="q"/>
            </a:pPr>
            <a:r>
              <a:rPr lang="en-IN" sz="2800" dirty="0"/>
              <a:t>To study the impact of toss decisions on match results. </a:t>
            </a:r>
          </a:p>
          <a:p>
            <a:pPr marL="457200" lvl="0" indent="-457200" algn="just">
              <a:buFont typeface="Wingdings" panose="05000000000000000000" pitchFamily="2" charset="2"/>
              <a:buChar char="q"/>
            </a:pPr>
            <a:r>
              <a:rPr lang="en-IN" sz="2800" dirty="0"/>
              <a:t>To create interactive dashboards using Power BI. </a:t>
            </a:r>
          </a:p>
          <a:p>
            <a:pPr marL="457200" lvl="0" indent="-457200" algn="just">
              <a:buFont typeface="Wingdings" panose="05000000000000000000" pitchFamily="2" charset="2"/>
              <a:buChar char="q"/>
            </a:pPr>
            <a:r>
              <a:rPr lang="en-IN" sz="2800" dirty="0"/>
              <a:t>To generate meaningful insights from the dataset." </a:t>
            </a:r>
          </a:p>
          <a:p>
            <a:endParaRPr lang="en-IN" dirty="0"/>
          </a:p>
        </p:txBody>
      </p:sp>
    </p:spTree>
    <p:extLst>
      <p:ext uri="{BB962C8B-B14F-4D97-AF65-F5344CB8AC3E}">
        <p14:creationId xmlns:p14="http://schemas.microsoft.com/office/powerpoint/2010/main" val="3762867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D41AB9E-84E4-0103-8AE8-CA6B2F1E9883}"/>
              </a:ext>
            </a:extLst>
          </p:cNvPr>
          <p:cNvSpPr>
            <a:spLocks noGrp="1"/>
          </p:cNvSpPr>
          <p:nvPr>
            <p:ph type="sldNum" sz="quarter" idx="13"/>
          </p:nvPr>
        </p:nvSpPr>
        <p:spPr/>
        <p:txBody>
          <a:bodyPr/>
          <a:lstStyle/>
          <a:p>
            <a:fld id="{326EF2E3-409D-4D76-AD02-397A36B0DAF9}" type="slidenum">
              <a:rPr lang="en-US" sz="1600" smtClean="0"/>
              <a:pPr/>
              <a:t>4</a:t>
            </a:fld>
            <a:endParaRPr lang="en-US" sz="1600"/>
          </a:p>
        </p:txBody>
      </p:sp>
      <p:sp>
        <p:nvSpPr>
          <p:cNvPr id="5" name="TextBox 4">
            <a:extLst>
              <a:ext uri="{FF2B5EF4-FFF2-40B4-BE49-F238E27FC236}">
                <a16:creationId xmlns:a16="http://schemas.microsoft.com/office/drawing/2014/main" id="{F3452663-1FC0-84CE-CB89-060642ED1F25}"/>
              </a:ext>
            </a:extLst>
          </p:cNvPr>
          <p:cNvSpPr txBox="1"/>
          <p:nvPr/>
        </p:nvSpPr>
        <p:spPr>
          <a:xfrm>
            <a:off x="4367808" y="483563"/>
            <a:ext cx="4346024" cy="707886"/>
          </a:xfrm>
          <a:prstGeom prst="rect">
            <a:avLst/>
          </a:prstGeom>
          <a:noFill/>
        </p:spPr>
        <p:txBody>
          <a:bodyPr wrap="square" rtlCol="0">
            <a:spAutoFit/>
          </a:bodyPr>
          <a:lstStyle/>
          <a:p>
            <a:r>
              <a:rPr lang="en-IN" sz="4000" b="1" dirty="0">
                <a:solidFill>
                  <a:schemeClr val="accent2"/>
                </a:solidFill>
              </a:rPr>
              <a:t>DATASET DETAILS</a:t>
            </a:r>
          </a:p>
        </p:txBody>
      </p:sp>
      <p:sp>
        <p:nvSpPr>
          <p:cNvPr id="13" name="TextBox 12">
            <a:extLst>
              <a:ext uri="{FF2B5EF4-FFF2-40B4-BE49-F238E27FC236}">
                <a16:creationId xmlns:a16="http://schemas.microsoft.com/office/drawing/2014/main" id="{FEA51B7C-9F34-1A4A-6E54-7D92E972E26C}"/>
              </a:ext>
            </a:extLst>
          </p:cNvPr>
          <p:cNvSpPr txBox="1"/>
          <p:nvPr/>
        </p:nvSpPr>
        <p:spPr>
          <a:xfrm>
            <a:off x="659252" y="1279858"/>
            <a:ext cx="10441160" cy="338554"/>
          </a:xfrm>
          <a:prstGeom prst="rect">
            <a:avLst/>
          </a:prstGeom>
          <a:noFill/>
        </p:spPr>
        <p:txBody>
          <a:bodyPr wrap="square">
            <a:spAutoFit/>
          </a:bodyPr>
          <a:lstStyle/>
          <a:p>
            <a:r>
              <a:rPr lang="en-IN" sz="1600" dirty="0"/>
              <a:t>➤ The dataset contains comprehensive </a:t>
            </a:r>
            <a:r>
              <a:rPr lang="en-IN" sz="1600" b="1" dirty="0"/>
              <a:t>Indian Premier League (IPL)</a:t>
            </a:r>
            <a:r>
              <a:rPr lang="en-IN" sz="1600" dirty="0"/>
              <a:t> match information.</a:t>
            </a:r>
          </a:p>
        </p:txBody>
      </p:sp>
      <p:sp>
        <p:nvSpPr>
          <p:cNvPr id="15" name="TextBox 14">
            <a:extLst>
              <a:ext uri="{FF2B5EF4-FFF2-40B4-BE49-F238E27FC236}">
                <a16:creationId xmlns:a16="http://schemas.microsoft.com/office/drawing/2014/main" id="{CE92235A-FFCA-2840-5B10-E0F7BE8F1825}"/>
              </a:ext>
            </a:extLst>
          </p:cNvPr>
          <p:cNvSpPr txBox="1"/>
          <p:nvPr/>
        </p:nvSpPr>
        <p:spPr>
          <a:xfrm>
            <a:off x="659252" y="1791282"/>
            <a:ext cx="10586392" cy="338554"/>
          </a:xfrm>
          <a:prstGeom prst="rect">
            <a:avLst/>
          </a:prstGeom>
          <a:noFill/>
        </p:spPr>
        <p:txBody>
          <a:bodyPr wrap="square">
            <a:spAutoFit/>
          </a:bodyPr>
          <a:lstStyle/>
          <a:p>
            <a:r>
              <a:rPr lang="en-IN" sz="1600" dirty="0"/>
              <a:t>➤ It includes details about </a:t>
            </a:r>
            <a:r>
              <a:rPr lang="en-IN" sz="1600" b="1" dirty="0"/>
              <a:t>matches, players, teams, and ball-by-ball events</a:t>
            </a:r>
            <a:r>
              <a:rPr lang="en-IN" sz="1600" dirty="0"/>
              <a:t>.</a:t>
            </a:r>
          </a:p>
        </p:txBody>
      </p:sp>
      <p:sp>
        <p:nvSpPr>
          <p:cNvPr id="17" name="TextBox 16">
            <a:extLst>
              <a:ext uri="{FF2B5EF4-FFF2-40B4-BE49-F238E27FC236}">
                <a16:creationId xmlns:a16="http://schemas.microsoft.com/office/drawing/2014/main" id="{56C32C15-8BDE-4EF4-88D9-88B311B5DF0A}"/>
              </a:ext>
            </a:extLst>
          </p:cNvPr>
          <p:cNvSpPr txBox="1"/>
          <p:nvPr/>
        </p:nvSpPr>
        <p:spPr>
          <a:xfrm>
            <a:off x="659252" y="2302707"/>
            <a:ext cx="11398224" cy="338554"/>
          </a:xfrm>
          <a:prstGeom prst="rect">
            <a:avLst/>
          </a:prstGeom>
          <a:noFill/>
        </p:spPr>
        <p:txBody>
          <a:bodyPr wrap="square">
            <a:spAutoFit/>
          </a:bodyPr>
          <a:lstStyle/>
          <a:p>
            <a:r>
              <a:rPr lang="en-IN" sz="1600" dirty="0"/>
              <a:t>➤The data covers </a:t>
            </a:r>
            <a:r>
              <a:rPr lang="en-IN" sz="1600" b="1" dirty="0"/>
              <a:t>batting, bowling, match outcomes, venues, and seasons</a:t>
            </a:r>
            <a:r>
              <a:rPr lang="en-IN" sz="1600" dirty="0"/>
              <a:t>.</a:t>
            </a:r>
          </a:p>
        </p:txBody>
      </p:sp>
      <p:sp>
        <p:nvSpPr>
          <p:cNvPr id="19" name="TextBox 18">
            <a:extLst>
              <a:ext uri="{FF2B5EF4-FFF2-40B4-BE49-F238E27FC236}">
                <a16:creationId xmlns:a16="http://schemas.microsoft.com/office/drawing/2014/main" id="{DD318B4D-6B32-9734-5FA8-0961E98C477D}"/>
              </a:ext>
            </a:extLst>
          </p:cNvPr>
          <p:cNvSpPr txBox="1"/>
          <p:nvPr/>
        </p:nvSpPr>
        <p:spPr>
          <a:xfrm>
            <a:off x="659252" y="2797323"/>
            <a:ext cx="11398224" cy="338554"/>
          </a:xfrm>
          <a:prstGeom prst="rect">
            <a:avLst/>
          </a:prstGeom>
          <a:noFill/>
        </p:spPr>
        <p:txBody>
          <a:bodyPr wrap="square">
            <a:spAutoFit/>
          </a:bodyPr>
          <a:lstStyle/>
          <a:p>
            <a:r>
              <a:rPr lang="en-IN" sz="1600" dirty="0"/>
              <a:t>➤It is organized into multiple </a:t>
            </a:r>
            <a:r>
              <a:rPr lang="en-IN" sz="1600" b="1" dirty="0"/>
              <a:t>CSV files</a:t>
            </a:r>
            <a:r>
              <a:rPr lang="en-IN" sz="1600" dirty="0"/>
              <a:t> for easy access and processing.</a:t>
            </a:r>
          </a:p>
        </p:txBody>
      </p:sp>
      <p:sp>
        <p:nvSpPr>
          <p:cNvPr id="21" name="TextBox 20">
            <a:extLst>
              <a:ext uri="{FF2B5EF4-FFF2-40B4-BE49-F238E27FC236}">
                <a16:creationId xmlns:a16="http://schemas.microsoft.com/office/drawing/2014/main" id="{095BC0AF-6DE2-3AE1-23D1-094CB79C096F}"/>
              </a:ext>
            </a:extLst>
          </p:cNvPr>
          <p:cNvSpPr txBox="1"/>
          <p:nvPr/>
        </p:nvSpPr>
        <p:spPr>
          <a:xfrm>
            <a:off x="648065" y="3291766"/>
            <a:ext cx="11377264" cy="338554"/>
          </a:xfrm>
          <a:prstGeom prst="rect">
            <a:avLst/>
          </a:prstGeom>
          <a:noFill/>
        </p:spPr>
        <p:txBody>
          <a:bodyPr wrap="square">
            <a:spAutoFit/>
          </a:bodyPr>
          <a:lstStyle/>
          <a:p>
            <a:r>
              <a:rPr lang="en-IN" sz="1600" dirty="0"/>
              <a:t>➤The dataset is suitable for </a:t>
            </a:r>
            <a:r>
              <a:rPr lang="en-IN" sz="1600" b="1" dirty="0"/>
              <a:t>data analysis, visualization, and performance evaluation</a:t>
            </a:r>
            <a:r>
              <a:rPr lang="en-IN" sz="1600" dirty="0"/>
              <a:t>.</a:t>
            </a:r>
          </a:p>
        </p:txBody>
      </p:sp>
      <p:sp>
        <p:nvSpPr>
          <p:cNvPr id="23" name="TextBox 22">
            <a:extLst>
              <a:ext uri="{FF2B5EF4-FFF2-40B4-BE49-F238E27FC236}">
                <a16:creationId xmlns:a16="http://schemas.microsoft.com/office/drawing/2014/main" id="{CB2E2A00-B29D-6C74-24E3-945733F7591C}"/>
              </a:ext>
            </a:extLst>
          </p:cNvPr>
          <p:cNvSpPr txBox="1"/>
          <p:nvPr/>
        </p:nvSpPr>
        <p:spPr>
          <a:xfrm>
            <a:off x="634596" y="3755223"/>
            <a:ext cx="10462120" cy="338554"/>
          </a:xfrm>
          <a:prstGeom prst="rect">
            <a:avLst/>
          </a:prstGeom>
          <a:noFill/>
        </p:spPr>
        <p:txBody>
          <a:bodyPr wrap="square">
            <a:spAutoFit/>
          </a:bodyPr>
          <a:lstStyle/>
          <a:p>
            <a:r>
              <a:rPr lang="en-IN" sz="1600" dirty="0"/>
              <a:t>➤It provides a reliable foundation for generating </a:t>
            </a:r>
            <a:r>
              <a:rPr lang="en-IN" sz="1600" b="1" dirty="0"/>
              <a:t>match insights and predictive analysis</a:t>
            </a:r>
            <a:r>
              <a:rPr lang="en-IN" sz="1600" dirty="0"/>
              <a:t>.</a:t>
            </a:r>
          </a:p>
        </p:txBody>
      </p:sp>
      <p:sp>
        <p:nvSpPr>
          <p:cNvPr id="3" name="TextBox 2">
            <a:extLst>
              <a:ext uri="{FF2B5EF4-FFF2-40B4-BE49-F238E27FC236}">
                <a16:creationId xmlns:a16="http://schemas.microsoft.com/office/drawing/2014/main" id="{C36F3912-56C7-B4E0-6BC6-6F3C23B75F11}"/>
              </a:ext>
            </a:extLst>
          </p:cNvPr>
          <p:cNvSpPr txBox="1"/>
          <p:nvPr/>
        </p:nvSpPr>
        <p:spPr>
          <a:xfrm>
            <a:off x="634596" y="4241239"/>
            <a:ext cx="11150036" cy="584775"/>
          </a:xfrm>
          <a:prstGeom prst="rect">
            <a:avLst/>
          </a:prstGeom>
          <a:noFill/>
        </p:spPr>
        <p:txBody>
          <a:bodyPr wrap="square">
            <a:spAutoFit/>
          </a:bodyPr>
          <a:lstStyle/>
          <a:p>
            <a:r>
              <a:rPr lang="en-IN" sz="1600" dirty="0"/>
              <a:t>➤ Source links : </a:t>
            </a:r>
            <a:r>
              <a:rPr lang="en-IN" sz="1600" dirty="0">
                <a:hlinkClick r:id="rId2"/>
              </a:rPr>
              <a:t>https://www.kaggle.com/datasets/riyagarg0314/ipl-ball-by-ball-data-2008-2026</a:t>
            </a:r>
            <a:r>
              <a:rPr lang="en-IN" sz="1600" dirty="0"/>
              <a:t> (From Kaggle.com)</a:t>
            </a:r>
          </a:p>
          <a:p>
            <a:r>
              <a:rPr lang="en-IN" sz="1600" dirty="0"/>
              <a:t>                              </a:t>
            </a:r>
            <a:r>
              <a:rPr lang="en-IN" sz="1600" dirty="0">
                <a:hlinkClick r:id="rId3"/>
              </a:rPr>
              <a:t>https://www.kaggle.com/datasets/abhishekgodara/ipl-data-set</a:t>
            </a:r>
            <a:r>
              <a:rPr lang="en-IN" sz="1600" dirty="0"/>
              <a:t> </a:t>
            </a:r>
          </a:p>
        </p:txBody>
      </p:sp>
    </p:spTree>
    <p:extLst>
      <p:ext uri="{BB962C8B-B14F-4D97-AF65-F5344CB8AC3E}">
        <p14:creationId xmlns:p14="http://schemas.microsoft.com/office/powerpoint/2010/main" val="1545252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3575C84-FA52-DCD0-3FF0-A75E0BDAC2C5}"/>
              </a:ext>
            </a:extLst>
          </p:cNvPr>
          <p:cNvSpPr>
            <a:spLocks noGrp="1"/>
          </p:cNvSpPr>
          <p:nvPr>
            <p:ph type="sldNum" sz="quarter" idx="13"/>
          </p:nvPr>
        </p:nvSpPr>
        <p:spPr/>
        <p:txBody>
          <a:bodyPr/>
          <a:lstStyle/>
          <a:p>
            <a:fld id="{326EF2E3-409D-4D76-AD02-397A36B0DAF9}" type="slidenum">
              <a:rPr lang="en-US" smtClean="0"/>
              <a:pPr/>
              <a:t>5</a:t>
            </a:fld>
            <a:endParaRPr lang="en-US" dirty="0"/>
          </a:p>
        </p:txBody>
      </p:sp>
      <p:sp>
        <p:nvSpPr>
          <p:cNvPr id="5" name="TextBox 4">
            <a:extLst>
              <a:ext uri="{FF2B5EF4-FFF2-40B4-BE49-F238E27FC236}">
                <a16:creationId xmlns:a16="http://schemas.microsoft.com/office/drawing/2014/main" id="{E3FFF5AD-6936-5736-59DB-AD2D1EE24293}"/>
              </a:ext>
            </a:extLst>
          </p:cNvPr>
          <p:cNvSpPr txBox="1"/>
          <p:nvPr/>
        </p:nvSpPr>
        <p:spPr>
          <a:xfrm>
            <a:off x="3275489" y="692696"/>
            <a:ext cx="6433110" cy="769441"/>
          </a:xfrm>
          <a:prstGeom prst="rect">
            <a:avLst/>
          </a:prstGeom>
          <a:noFill/>
        </p:spPr>
        <p:txBody>
          <a:bodyPr wrap="square" rtlCol="0">
            <a:spAutoFit/>
          </a:bodyPr>
          <a:lstStyle/>
          <a:p>
            <a:pPr algn="ctr"/>
            <a:r>
              <a:rPr lang="en-IN" sz="4400" b="1" dirty="0">
                <a:solidFill>
                  <a:schemeClr val="accent2"/>
                </a:solidFill>
              </a:rPr>
              <a:t>System Requirements</a:t>
            </a:r>
            <a:endParaRPr lang="en-IN" sz="3600" b="1" dirty="0">
              <a:solidFill>
                <a:schemeClr val="accent2"/>
              </a:solidFill>
            </a:endParaRPr>
          </a:p>
        </p:txBody>
      </p:sp>
      <p:sp>
        <p:nvSpPr>
          <p:cNvPr id="6" name="TextBox 5">
            <a:extLst>
              <a:ext uri="{FF2B5EF4-FFF2-40B4-BE49-F238E27FC236}">
                <a16:creationId xmlns:a16="http://schemas.microsoft.com/office/drawing/2014/main" id="{BA61482B-868B-2F9A-3078-2F7E46C9D29A}"/>
              </a:ext>
            </a:extLst>
          </p:cNvPr>
          <p:cNvSpPr txBox="1"/>
          <p:nvPr/>
        </p:nvSpPr>
        <p:spPr>
          <a:xfrm>
            <a:off x="983432" y="1573220"/>
            <a:ext cx="11017224" cy="4462760"/>
          </a:xfrm>
          <a:prstGeom prst="rect">
            <a:avLst/>
          </a:prstGeom>
          <a:noFill/>
        </p:spPr>
        <p:txBody>
          <a:bodyPr wrap="square" rtlCol="0">
            <a:spAutoFit/>
          </a:bodyPr>
          <a:lstStyle/>
          <a:p>
            <a:r>
              <a:rPr lang="en-IN" sz="3200" b="1" u="sng" dirty="0"/>
              <a:t>Hardware Requirements</a:t>
            </a:r>
          </a:p>
          <a:p>
            <a:pPr marL="457200" indent="-457200">
              <a:buFont typeface="Wingdings" panose="05000000000000000000" pitchFamily="2" charset="2"/>
              <a:buChar char="§"/>
            </a:pPr>
            <a:r>
              <a:rPr lang="en-IN" sz="2400" b="1" i="1" dirty="0"/>
              <a:t>Processor</a:t>
            </a:r>
            <a:r>
              <a:rPr lang="en-IN" sz="2800" dirty="0"/>
              <a:t>: </a:t>
            </a:r>
            <a:r>
              <a:rPr lang="en-IN" sz="2400" dirty="0"/>
              <a:t>Intel Core i3 / AMD </a:t>
            </a:r>
            <a:r>
              <a:rPr lang="en-IN" sz="2400" dirty="0" err="1"/>
              <a:t>Ryzen</a:t>
            </a:r>
            <a:r>
              <a:rPr lang="en-IN" sz="2400" dirty="0"/>
              <a:t> 3 or higher</a:t>
            </a:r>
          </a:p>
          <a:p>
            <a:pPr marL="457200" indent="-457200">
              <a:buFont typeface="Wingdings" panose="05000000000000000000" pitchFamily="2" charset="2"/>
              <a:buChar char="§"/>
            </a:pPr>
            <a:r>
              <a:rPr lang="en-IN" sz="2400" b="1" i="1" dirty="0"/>
              <a:t>RAM</a:t>
            </a:r>
            <a:r>
              <a:rPr lang="en-IN" sz="2400" dirty="0"/>
              <a:t>: Minimum 4 GB (8 GB Recommended)</a:t>
            </a:r>
          </a:p>
          <a:p>
            <a:pPr marL="457200" indent="-457200">
              <a:buFont typeface="Wingdings" panose="05000000000000000000" pitchFamily="2" charset="2"/>
              <a:buChar char="§"/>
            </a:pPr>
            <a:r>
              <a:rPr lang="en-IN" sz="2400" b="1" i="1" dirty="0"/>
              <a:t>Storage</a:t>
            </a:r>
            <a:r>
              <a:rPr lang="en-IN" sz="2400" dirty="0"/>
              <a:t>: At least 2 GB free diskspace</a:t>
            </a:r>
          </a:p>
          <a:p>
            <a:pPr marL="457200" indent="-457200">
              <a:buFont typeface="Wingdings" panose="05000000000000000000" pitchFamily="2" charset="2"/>
              <a:buChar char="§"/>
            </a:pPr>
            <a:r>
              <a:rPr lang="en-IN" sz="2400" b="1" i="1" dirty="0"/>
              <a:t>Internet</a:t>
            </a:r>
            <a:r>
              <a:rPr lang="en-IN" sz="2400" dirty="0"/>
              <a:t>: Stable internet connection</a:t>
            </a:r>
          </a:p>
          <a:p>
            <a:pPr marL="457200" indent="-457200">
              <a:buFont typeface="Wingdings" panose="05000000000000000000" pitchFamily="2" charset="2"/>
              <a:buChar char="§"/>
            </a:pPr>
            <a:endParaRPr lang="en-IN" sz="2400" dirty="0"/>
          </a:p>
          <a:p>
            <a:r>
              <a:rPr lang="en-IN" sz="3200" b="1" u="sng" dirty="0"/>
              <a:t>Software Requirements</a:t>
            </a:r>
          </a:p>
          <a:p>
            <a:pPr marL="457200" indent="-457200">
              <a:buFont typeface="Wingdings" panose="05000000000000000000" pitchFamily="2" charset="2"/>
              <a:buChar char="§"/>
            </a:pPr>
            <a:r>
              <a:rPr lang="en-IN" sz="2400" b="1" i="1" dirty="0"/>
              <a:t>Operating System</a:t>
            </a:r>
            <a:r>
              <a:rPr lang="en-IN" sz="2400" dirty="0"/>
              <a:t>: Windows 10/11, macOS, or Linux</a:t>
            </a:r>
          </a:p>
          <a:p>
            <a:pPr marL="457200" indent="-457200">
              <a:buFont typeface="Wingdings" panose="05000000000000000000" pitchFamily="2" charset="2"/>
              <a:buChar char="§"/>
            </a:pPr>
            <a:r>
              <a:rPr lang="en-IN" sz="2400" b="1" i="1" dirty="0"/>
              <a:t>Web Browser</a:t>
            </a:r>
            <a:r>
              <a:rPr lang="en-IN" sz="2400" dirty="0"/>
              <a:t>: Google Chrome / Microsoft Edge / Mozilla Firefox</a:t>
            </a:r>
          </a:p>
          <a:p>
            <a:pPr marL="457200" indent="-457200">
              <a:buFont typeface="Wingdings" panose="05000000000000000000" pitchFamily="2" charset="2"/>
              <a:buChar char="§"/>
            </a:pPr>
            <a:r>
              <a:rPr lang="en-IN" sz="2400" b="1" i="1" dirty="0"/>
              <a:t>Platform</a:t>
            </a:r>
            <a:r>
              <a:rPr lang="en-IN" sz="2400" dirty="0"/>
              <a:t>: Google </a:t>
            </a:r>
            <a:r>
              <a:rPr lang="en-IN" sz="2400" dirty="0" err="1"/>
              <a:t>Colab</a:t>
            </a:r>
            <a:endParaRPr lang="en-IN" sz="2400" dirty="0"/>
          </a:p>
          <a:p>
            <a:pPr marL="457200" indent="-457200">
              <a:buFont typeface="Wingdings" panose="05000000000000000000" pitchFamily="2" charset="2"/>
              <a:buChar char="§"/>
            </a:pPr>
            <a:r>
              <a:rPr lang="en-IN" sz="2400" b="1" i="1" dirty="0"/>
              <a:t>Google Account</a:t>
            </a:r>
            <a:r>
              <a:rPr lang="en-IN" sz="2400" dirty="0"/>
              <a:t>: Required to access Google </a:t>
            </a:r>
            <a:r>
              <a:rPr lang="en-IN" sz="2400" dirty="0" err="1"/>
              <a:t>Colab</a:t>
            </a:r>
            <a:endParaRPr lang="en-IN" sz="2400" dirty="0"/>
          </a:p>
        </p:txBody>
      </p:sp>
    </p:spTree>
    <p:extLst>
      <p:ext uri="{BB962C8B-B14F-4D97-AF65-F5344CB8AC3E}">
        <p14:creationId xmlns:p14="http://schemas.microsoft.com/office/powerpoint/2010/main" val="1987325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9F4981-8233-4746-26D9-2E9435976BAF}"/>
              </a:ext>
            </a:extLst>
          </p:cNvPr>
          <p:cNvSpPr>
            <a:spLocks noGrp="1"/>
          </p:cNvSpPr>
          <p:nvPr>
            <p:ph idx="1"/>
          </p:nvPr>
        </p:nvSpPr>
        <p:spPr>
          <a:xfrm>
            <a:off x="838200" y="1412776"/>
            <a:ext cx="10515600" cy="5308700"/>
          </a:xfrm>
        </p:spPr>
        <p:txBody>
          <a:bodyPr>
            <a:normAutofit fontScale="92500" lnSpcReduction="20000"/>
          </a:bodyPr>
          <a:lstStyle/>
          <a:p>
            <a:r>
              <a:rPr lang="en-IN" sz="3300" b="1" dirty="0">
                <a:effectLst>
                  <a:outerShdw blurRad="38100" dist="38100" dir="2700000" algn="tl">
                    <a:srgbClr val="000000">
                      <a:alpha val="43137"/>
                    </a:srgbClr>
                  </a:outerShdw>
                </a:effectLst>
              </a:rPr>
              <a:t>Programming language</a:t>
            </a:r>
          </a:p>
          <a:p>
            <a:r>
              <a:rPr lang="en-IN" sz="3200" dirty="0"/>
              <a:t>Python</a:t>
            </a:r>
          </a:p>
          <a:p>
            <a:r>
              <a:rPr lang="en-IN" sz="3200" b="1" dirty="0">
                <a:effectLst>
                  <a:outerShdw blurRad="38100" dist="38100" dir="2700000" algn="tl">
                    <a:srgbClr val="000000">
                      <a:alpha val="43137"/>
                    </a:srgbClr>
                  </a:outerShdw>
                </a:effectLst>
              </a:rPr>
              <a:t>Development environment</a:t>
            </a:r>
          </a:p>
          <a:p>
            <a:r>
              <a:rPr lang="en-IN" sz="3200" dirty="0"/>
              <a:t>Google </a:t>
            </a:r>
            <a:r>
              <a:rPr lang="en-IN" sz="3200" dirty="0" err="1"/>
              <a:t>colab</a:t>
            </a:r>
            <a:endParaRPr lang="en-IN" sz="3200" dirty="0"/>
          </a:p>
          <a:p>
            <a:r>
              <a:rPr lang="en-IN" sz="3500" b="1" dirty="0">
                <a:effectLst>
                  <a:outerShdw blurRad="38100" dist="38100" dir="2700000" algn="tl">
                    <a:srgbClr val="000000">
                      <a:alpha val="43137"/>
                    </a:srgbClr>
                  </a:outerShdw>
                </a:effectLst>
              </a:rPr>
              <a:t>Libraries</a:t>
            </a:r>
          </a:p>
          <a:p>
            <a:r>
              <a:rPr lang="en-IN" sz="3200" dirty="0"/>
              <a:t>Pandas</a:t>
            </a:r>
          </a:p>
          <a:p>
            <a:r>
              <a:rPr lang="en-IN" sz="3200" dirty="0" err="1"/>
              <a:t>Numpy</a:t>
            </a:r>
            <a:endParaRPr lang="en-IN" sz="3200" dirty="0"/>
          </a:p>
          <a:p>
            <a:r>
              <a:rPr lang="en-IN" sz="3200" dirty="0"/>
              <a:t>Matplotlib</a:t>
            </a:r>
          </a:p>
          <a:p>
            <a:r>
              <a:rPr lang="en-IN" sz="3200" dirty="0"/>
              <a:t>Seaborn</a:t>
            </a:r>
          </a:p>
          <a:p>
            <a:r>
              <a:rPr lang="en-IN" sz="3200" dirty="0" err="1"/>
              <a:t>Plotly</a:t>
            </a:r>
            <a:endParaRPr lang="en-IN" sz="3200" dirty="0"/>
          </a:p>
          <a:p>
            <a:r>
              <a:rPr lang="en-IN" sz="3200" dirty="0"/>
              <a:t>Scikit-learn</a:t>
            </a:r>
          </a:p>
          <a:p>
            <a:pPr marL="0" indent="0">
              <a:buNone/>
            </a:pPr>
            <a:endParaRPr lang="en-IN" sz="3200" dirty="0"/>
          </a:p>
        </p:txBody>
      </p:sp>
      <p:sp>
        <p:nvSpPr>
          <p:cNvPr id="5" name="Slide Number Placeholder 4">
            <a:extLst>
              <a:ext uri="{FF2B5EF4-FFF2-40B4-BE49-F238E27FC236}">
                <a16:creationId xmlns:a16="http://schemas.microsoft.com/office/drawing/2014/main" id="{9067B927-01AE-A80D-4ED5-852096697647}"/>
              </a:ext>
            </a:extLst>
          </p:cNvPr>
          <p:cNvSpPr>
            <a:spLocks noGrp="1"/>
          </p:cNvSpPr>
          <p:nvPr>
            <p:ph type="sldNum" sz="quarter" idx="13"/>
          </p:nvPr>
        </p:nvSpPr>
        <p:spPr/>
        <p:txBody>
          <a:bodyPr/>
          <a:lstStyle/>
          <a:p>
            <a:fld id="{326EF2E3-409D-4D76-AD02-397A36B0DAF9}" type="slidenum">
              <a:rPr lang="en-US" smtClean="0"/>
              <a:pPr/>
              <a:t>6</a:t>
            </a:fld>
            <a:endParaRPr lang="en-US"/>
          </a:p>
        </p:txBody>
      </p:sp>
      <p:sp>
        <p:nvSpPr>
          <p:cNvPr id="7" name="TextBox 6">
            <a:extLst>
              <a:ext uri="{FF2B5EF4-FFF2-40B4-BE49-F238E27FC236}">
                <a16:creationId xmlns:a16="http://schemas.microsoft.com/office/drawing/2014/main" id="{D3513B07-B25B-CD53-64F0-EC8524D0BE5F}"/>
              </a:ext>
            </a:extLst>
          </p:cNvPr>
          <p:cNvSpPr txBox="1"/>
          <p:nvPr/>
        </p:nvSpPr>
        <p:spPr>
          <a:xfrm>
            <a:off x="3359696" y="643335"/>
            <a:ext cx="6089407" cy="738664"/>
          </a:xfrm>
          <a:prstGeom prst="rect">
            <a:avLst/>
          </a:prstGeom>
          <a:noFill/>
        </p:spPr>
        <p:txBody>
          <a:bodyPr wrap="square">
            <a:spAutoFit/>
          </a:bodyPr>
          <a:lstStyle/>
          <a:p>
            <a:pPr algn="ctr"/>
            <a:r>
              <a:rPr lang="en-IN" sz="4200" b="1" dirty="0">
                <a:solidFill>
                  <a:schemeClr val="accent2"/>
                </a:solidFill>
              </a:rPr>
              <a:t>TECH STACK</a:t>
            </a:r>
          </a:p>
        </p:txBody>
      </p:sp>
    </p:spTree>
    <p:extLst>
      <p:ext uri="{BB962C8B-B14F-4D97-AF65-F5344CB8AC3E}">
        <p14:creationId xmlns:p14="http://schemas.microsoft.com/office/powerpoint/2010/main" val="2970995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F1CA1A4-C9FA-E534-A46A-30393566C423}"/>
              </a:ext>
            </a:extLst>
          </p:cNvPr>
          <p:cNvSpPr>
            <a:spLocks noGrp="1"/>
          </p:cNvSpPr>
          <p:nvPr>
            <p:ph type="sldNum" sz="quarter" idx="13"/>
          </p:nvPr>
        </p:nvSpPr>
        <p:spPr/>
        <p:txBody>
          <a:bodyPr/>
          <a:lstStyle/>
          <a:p>
            <a:fld id="{326EF2E3-409D-4D76-AD02-397A36B0DAF9}" type="slidenum">
              <a:rPr lang="en-US" smtClean="0"/>
              <a:pPr/>
              <a:t>7</a:t>
            </a:fld>
            <a:endParaRPr lang="en-US"/>
          </a:p>
        </p:txBody>
      </p:sp>
      <p:sp>
        <p:nvSpPr>
          <p:cNvPr id="5" name="TextBox 4">
            <a:extLst>
              <a:ext uri="{FF2B5EF4-FFF2-40B4-BE49-F238E27FC236}">
                <a16:creationId xmlns:a16="http://schemas.microsoft.com/office/drawing/2014/main" id="{D38910BC-AC33-D2FA-F9D7-1313B995845E}"/>
              </a:ext>
            </a:extLst>
          </p:cNvPr>
          <p:cNvSpPr txBox="1"/>
          <p:nvPr/>
        </p:nvSpPr>
        <p:spPr>
          <a:xfrm>
            <a:off x="2545882" y="674890"/>
            <a:ext cx="7100236" cy="769441"/>
          </a:xfrm>
          <a:prstGeom prst="rect">
            <a:avLst/>
          </a:prstGeom>
          <a:noFill/>
        </p:spPr>
        <p:txBody>
          <a:bodyPr wrap="square" rtlCol="0">
            <a:spAutoFit/>
          </a:bodyPr>
          <a:lstStyle/>
          <a:p>
            <a:pPr algn="ctr"/>
            <a:r>
              <a:rPr lang="en-IN" sz="4400" b="1" dirty="0">
                <a:solidFill>
                  <a:schemeClr val="accent2"/>
                </a:solidFill>
              </a:rPr>
              <a:t>Future Enhancements</a:t>
            </a:r>
          </a:p>
        </p:txBody>
      </p:sp>
      <p:sp>
        <p:nvSpPr>
          <p:cNvPr id="6" name="TextBox 5">
            <a:extLst>
              <a:ext uri="{FF2B5EF4-FFF2-40B4-BE49-F238E27FC236}">
                <a16:creationId xmlns:a16="http://schemas.microsoft.com/office/drawing/2014/main" id="{9CB5A26B-B54D-332D-AA0B-9BE05BF38090}"/>
              </a:ext>
            </a:extLst>
          </p:cNvPr>
          <p:cNvSpPr txBox="1"/>
          <p:nvPr/>
        </p:nvSpPr>
        <p:spPr>
          <a:xfrm>
            <a:off x="1487488" y="1640165"/>
            <a:ext cx="8424936" cy="3385542"/>
          </a:xfrm>
          <a:prstGeom prst="rect">
            <a:avLst/>
          </a:prstGeom>
          <a:noFill/>
        </p:spPr>
        <p:txBody>
          <a:bodyPr wrap="square" rtlCol="0">
            <a:spAutoFit/>
          </a:bodyPr>
          <a:lstStyle/>
          <a:p>
            <a:pPr lvl="0"/>
            <a:r>
              <a:rPr lang="en-IN" sz="2800" dirty="0"/>
              <a:t>Integrate live IPL data using APIs for real-time analysis. </a:t>
            </a:r>
          </a:p>
          <a:p>
            <a:pPr lvl="0"/>
            <a:r>
              <a:rPr lang="en-IN" sz="2800" dirty="0"/>
              <a:t>Predict match winners using Machine Learning models. </a:t>
            </a:r>
          </a:p>
          <a:p>
            <a:pPr lvl="0"/>
            <a:r>
              <a:rPr lang="en-IN" sz="2800" dirty="0"/>
              <a:t>Develop a web-based interactive analytics dashboard. </a:t>
            </a:r>
          </a:p>
          <a:p>
            <a:pPr lvl="0"/>
            <a:r>
              <a:rPr lang="en-IN" sz="2800" dirty="0"/>
              <a:t>Add advanced player performance and team comparison features. </a:t>
            </a:r>
          </a:p>
          <a:p>
            <a:pPr lvl="0"/>
            <a:r>
              <a:rPr lang="en-IN" sz="2800" dirty="0"/>
              <a:t>Enhance the dashboard with real-time updates and interactive visualizations.</a:t>
            </a:r>
          </a:p>
          <a:p>
            <a:endParaRPr lang="en-IN" dirty="0"/>
          </a:p>
        </p:txBody>
      </p:sp>
      <p:sp>
        <p:nvSpPr>
          <p:cNvPr id="8" name="TextBox 7">
            <a:extLst>
              <a:ext uri="{FF2B5EF4-FFF2-40B4-BE49-F238E27FC236}">
                <a16:creationId xmlns:a16="http://schemas.microsoft.com/office/drawing/2014/main" id="{67489B44-B79E-0E15-81DA-ADA679801744}"/>
              </a:ext>
            </a:extLst>
          </p:cNvPr>
          <p:cNvSpPr txBox="1"/>
          <p:nvPr/>
        </p:nvSpPr>
        <p:spPr>
          <a:xfrm>
            <a:off x="1194912" y="1735088"/>
            <a:ext cx="272652" cy="400110"/>
          </a:xfrm>
          <a:prstGeom prst="rect">
            <a:avLst/>
          </a:prstGeom>
          <a:noFill/>
        </p:spPr>
        <p:txBody>
          <a:bodyPr wrap="square">
            <a:spAutoFit/>
          </a:bodyPr>
          <a:lstStyle/>
          <a:p>
            <a:r>
              <a:rPr lang="en-IN" sz="2000" dirty="0"/>
              <a:t>➤</a:t>
            </a:r>
          </a:p>
        </p:txBody>
      </p:sp>
      <p:sp>
        <p:nvSpPr>
          <p:cNvPr id="12" name="TextBox 11">
            <a:extLst>
              <a:ext uri="{FF2B5EF4-FFF2-40B4-BE49-F238E27FC236}">
                <a16:creationId xmlns:a16="http://schemas.microsoft.com/office/drawing/2014/main" id="{3EF3C80D-3204-DC22-FA31-53388959B561}"/>
              </a:ext>
            </a:extLst>
          </p:cNvPr>
          <p:cNvSpPr txBox="1"/>
          <p:nvPr/>
        </p:nvSpPr>
        <p:spPr>
          <a:xfrm>
            <a:off x="1174988" y="2137062"/>
            <a:ext cx="272652" cy="400110"/>
          </a:xfrm>
          <a:prstGeom prst="rect">
            <a:avLst/>
          </a:prstGeom>
          <a:noFill/>
        </p:spPr>
        <p:txBody>
          <a:bodyPr wrap="square">
            <a:spAutoFit/>
          </a:bodyPr>
          <a:lstStyle/>
          <a:p>
            <a:r>
              <a:rPr lang="en-IN" sz="2000" dirty="0"/>
              <a:t>➤</a:t>
            </a:r>
          </a:p>
        </p:txBody>
      </p:sp>
      <p:sp>
        <p:nvSpPr>
          <p:cNvPr id="14" name="TextBox 13">
            <a:extLst>
              <a:ext uri="{FF2B5EF4-FFF2-40B4-BE49-F238E27FC236}">
                <a16:creationId xmlns:a16="http://schemas.microsoft.com/office/drawing/2014/main" id="{EAD1C68C-69C9-6B4D-0658-E29782CAACFD}"/>
              </a:ext>
            </a:extLst>
          </p:cNvPr>
          <p:cNvSpPr txBox="1"/>
          <p:nvPr/>
        </p:nvSpPr>
        <p:spPr>
          <a:xfrm>
            <a:off x="1194912" y="2539036"/>
            <a:ext cx="272652" cy="400110"/>
          </a:xfrm>
          <a:prstGeom prst="rect">
            <a:avLst/>
          </a:prstGeom>
          <a:noFill/>
        </p:spPr>
        <p:txBody>
          <a:bodyPr wrap="square">
            <a:spAutoFit/>
          </a:bodyPr>
          <a:lstStyle/>
          <a:p>
            <a:r>
              <a:rPr lang="en-IN" sz="2000" dirty="0"/>
              <a:t>➤</a:t>
            </a:r>
          </a:p>
        </p:txBody>
      </p:sp>
      <p:sp>
        <p:nvSpPr>
          <p:cNvPr id="18" name="TextBox 17">
            <a:extLst>
              <a:ext uri="{FF2B5EF4-FFF2-40B4-BE49-F238E27FC236}">
                <a16:creationId xmlns:a16="http://schemas.microsoft.com/office/drawing/2014/main" id="{B63707E4-9942-FB0B-D4A7-E2E9FFEDF22C}"/>
              </a:ext>
            </a:extLst>
          </p:cNvPr>
          <p:cNvSpPr txBox="1"/>
          <p:nvPr/>
        </p:nvSpPr>
        <p:spPr>
          <a:xfrm>
            <a:off x="1194912" y="2978145"/>
            <a:ext cx="272652" cy="400110"/>
          </a:xfrm>
          <a:prstGeom prst="rect">
            <a:avLst/>
          </a:prstGeom>
          <a:noFill/>
        </p:spPr>
        <p:txBody>
          <a:bodyPr wrap="square">
            <a:spAutoFit/>
          </a:bodyPr>
          <a:lstStyle/>
          <a:p>
            <a:r>
              <a:rPr lang="en-IN" sz="2000" dirty="0"/>
              <a:t>➤</a:t>
            </a:r>
          </a:p>
        </p:txBody>
      </p:sp>
      <p:sp>
        <p:nvSpPr>
          <p:cNvPr id="21" name="TextBox 20">
            <a:extLst>
              <a:ext uri="{FF2B5EF4-FFF2-40B4-BE49-F238E27FC236}">
                <a16:creationId xmlns:a16="http://schemas.microsoft.com/office/drawing/2014/main" id="{6EA5E097-FB72-C08F-23C6-CC801525800B}"/>
              </a:ext>
            </a:extLst>
          </p:cNvPr>
          <p:cNvSpPr txBox="1"/>
          <p:nvPr/>
        </p:nvSpPr>
        <p:spPr>
          <a:xfrm>
            <a:off x="1194912" y="3848692"/>
            <a:ext cx="272652" cy="400110"/>
          </a:xfrm>
          <a:prstGeom prst="rect">
            <a:avLst/>
          </a:prstGeom>
          <a:noFill/>
        </p:spPr>
        <p:txBody>
          <a:bodyPr wrap="square">
            <a:spAutoFit/>
          </a:bodyPr>
          <a:lstStyle/>
          <a:p>
            <a:r>
              <a:rPr lang="en-IN" sz="2000" dirty="0"/>
              <a:t>➤</a:t>
            </a:r>
          </a:p>
        </p:txBody>
      </p:sp>
    </p:spTree>
    <p:extLst>
      <p:ext uri="{BB962C8B-B14F-4D97-AF65-F5344CB8AC3E}">
        <p14:creationId xmlns:p14="http://schemas.microsoft.com/office/powerpoint/2010/main" val="4023410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8BBB70B-0A5A-BD0E-65D9-D46FA255F40F}"/>
              </a:ext>
            </a:extLst>
          </p:cNvPr>
          <p:cNvSpPr>
            <a:spLocks noGrp="1"/>
          </p:cNvSpPr>
          <p:nvPr>
            <p:ph type="sldNum" sz="quarter" idx="13"/>
          </p:nvPr>
        </p:nvSpPr>
        <p:spPr/>
        <p:txBody>
          <a:bodyPr/>
          <a:lstStyle/>
          <a:p>
            <a:fld id="{326EF2E3-409D-4D76-AD02-397A36B0DAF9}" type="slidenum">
              <a:rPr lang="en-US" smtClean="0"/>
              <a:pPr/>
              <a:t>8</a:t>
            </a:fld>
            <a:endParaRPr lang="en-US"/>
          </a:p>
        </p:txBody>
      </p:sp>
      <p:sp>
        <p:nvSpPr>
          <p:cNvPr id="5" name="TextBox 4">
            <a:extLst>
              <a:ext uri="{FF2B5EF4-FFF2-40B4-BE49-F238E27FC236}">
                <a16:creationId xmlns:a16="http://schemas.microsoft.com/office/drawing/2014/main" id="{7B2FB652-B75D-EE74-3C9C-AA9E0C1AC5DE}"/>
              </a:ext>
            </a:extLst>
          </p:cNvPr>
          <p:cNvSpPr txBox="1"/>
          <p:nvPr/>
        </p:nvSpPr>
        <p:spPr>
          <a:xfrm>
            <a:off x="4274511" y="763737"/>
            <a:ext cx="3642977" cy="830997"/>
          </a:xfrm>
          <a:prstGeom prst="rect">
            <a:avLst/>
          </a:prstGeom>
          <a:noFill/>
        </p:spPr>
        <p:txBody>
          <a:bodyPr wrap="square" rtlCol="0">
            <a:spAutoFit/>
          </a:bodyPr>
          <a:lstStyle/>
          <a:p>
            <a:pPr algn="ctr"/>
            <a:r>
              <a:rPr lang="en-IN" sz="4800" b="1" dirty="0">
                <a:solidFill>
                  <a:schemeClr val="accent2"/>
                </a:solidFill>
              </a:rPr>
              <a:t>Conclusion</a:t>
            </a:r>
          </a:p>
        </p:txBody>
      </p:sp>
      <p:sp>
        <p:nvSpPr>
          <p:cNvPr id="7" name="TextBox 6">
            <a:extLst>
              <a:ext uri="{FF2B5EF4-FFF2-40B4-BE49-F238E27FC236}">
                <a16:creationId xmlns:a16="http://schemas.microsoft.com/office/drawing/2014/main" id="{7E0C3ABF-6F3E-CA27-51EB-D877BABFB3BB}"/>
              </a:ext>
            </a:extLst>
          </p:cNvPr>
          <p:cNvSpPr txBox="1"/>
          <p:nvPr/>
        </p:nvSpPr>
        <p:spPr>
          <a:xfrm>
            <a:off x="1127449" y="1916832"/>
            <a:ext cx="10441159" cy="3385542"/>
          </a:xfrm>
          <a:prstGeom prst="rect">
            <a:avLst/>
          </a:prstGeom>
          <a:noFill/>
        </p:spPr>
        <p:txBody>
          <a:bodyPr wrap="square" rtlCol="0">
            <a:spAutoFit/>
          </a:bodyPr>
          <a:lstStyle/>
          <a:p>
            <a:pPr marL="457200" lvl="0" indent="-457200" algn="just">
              <a:buFont typeface="Wingdings" panose="05000000000000000000" pitchFamily="2" charset="2"/>
              <a:buChar char="Ø"/>
            </a:pPr>
            <a:r>
              <a:rPr lang="en-IN" sz="2800" dirty="0"/>
              <a:t>Successfully analysed IPL historical data using Python and Power BI. </a:t>
            </a:r>
          </a:p>
          <a:p>
            <a:pPr marL="457200" lvl="0" indent="-457200" algn="just">
              <a:buFont typeface="Wingdings" panose="05000000000000000000" pitchFamily="2" charset="2"/>
              <a:buChar char="Ø"/>
            </a:pPr>
            <a:r>
              <a:rPr lang="en-IN" sz="2800" dirty="0"/>
              <a:t>Cleaned and processed the dataset to ensure accurate analysis. </a:t>
            </a:r>
          </a:p>
          <a:p>
            <a:pPr marL="457200" lvl="0" indent="-457200" algn="just">
              <a:buFont typeface="Wingdings" panose="05000000000000000000" pitchFamily="2" charset="2"/>
              <a:buChar char="Ø"/>
            </a:pPr>
            <a:r>
              <a:rPr lang="en-IN" sz="2800" dirty="0"/>
              <a:t>Identified valuable insights on team performance, player statistics, and match trends. </a:t>
            </a:r>
          </a:p>
          <a:p>
            <a:pPr marL="457200" lvl="0" indent="-457200" algn="just">
              <a:buFont typeface="Wingdings" panose="05000000000000000000" pitchFamily="2" charset="2"/>
              <a:buChar char="Ø"/>
            </a:pPr>
            <a:r>
              <a:rPr lang="en-IN" sz="2800" dirty="0"/>
              <a:t>Created interactive dashboards for easy data visualization. </a:t>
            </a:r>
          </a:p>
          <a:p>
            <a:pPr marL="457200" lvl="0" indent="-457200" algn="just">
              <a:buFont typeface="Wingdings" panose="05000000000000000000" pitchFamily="2" charset="2"/>
              <a:buChar char="Ø"/>
            </a:pPr>
            <a:r>
              <a:rPr lang="en-IN" sz="2800" dirty="0"/>
              <a:t>Demonstrated how data analytics helps convert raw data into meaningful insights for better decision-making. </a:t>
            </a:r>
          </a:p>
          <a:p>
            <a:endParaRPr lang="en-IN" dirty="0"/>
          </a:p>
        </p:txBody>
      </p:sp>
    </p:spTree>
    <p:extLst>
      <p:ext uri="{BB962C8B-B14F-4D97-AF65-F5344CB8AC3E}">
        <p14:creationId xmlns:p14="http://schemas.microsoft.com/office/powerpoint/2010/main" val="1786454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1271464" y="2276872"/>
            <a:ext cx="9215502" cy="1363592"/>
          </a:xfrm>
          <a:prstGeom prst="rect">
            <a:avLst/>
          </a:prstGeom>
        </p:spPr>
        <p:txBody>
          <a:bodyPr vert="horz" lIns="91440" tIns="45720" rIns="91440" bIns="45720" rtlCol="0" anchor="ctr">
            <a:noAutofit/>
          </a:bodyPr>
          <a:lstStyle/>
          <a:p>
            <a:pPr marL="514350" indent="-514350" algn="ctr" defTabSz="914400">
              <a:lnSpc>
                <a:spcPct val="170000"/>
              </a:lnSpc>
              <a:spcBef>
                <a:spcPct val="0"/>
              </a:spcBef>
              <a:defRPr/>
            </a:pPr>
            <a:r>
              <a:rPr lang="en-US" sz="7200" b="1" spc="-50" dirty="0">
                <a:solidFill>
                  <a:schemeClr val="accent1">
                    <a:lumMod val="75000"/>
                  </a:schemeClr>
                </a:solidFill>
                <a:latin typeface="Maiandra GD" pitchFamily="34" charset="0"/>
              </a:rPr>
              <a:t>Thank You</a:t>
            </a:r>
          </a:p>
        </p:txBody>
      </p:sp>
      <p:sp>
        <p:nvSpPr>
          <p:cNvPr id="4" name="Slide Number Placeholder 3">
            <a:extLst>
              <a:ext uri="{FF2B5EF4-FFF2-40B4-BE49-F238E27FC236}">
                <a16:creationId xmlns:a16="http://schemas.microsoft.com/office/drawing/2014/main" id="{80214EE3-5496-7B8C-B18E-94D50E1BC7DF}"/>
              </a:ext>
            </a:extLst>
          </p:cNvPr>
          <p:cNvSpPr>
            <a:spLocks noGrp="1"/>
          </p:cNvSpPr>
          <p:nvPr>
            <p:ph type="sldNum" sz="quarter" idx="13"/>
          </p:nvPr>
        </p:nvSpPr>
        <p:spPr>
          <a:xfrm>
            <a:off x="10272464" y="6376243"/>
            <a:ext cx="1081336" cy="365125"/>
          </a:xfrm>
        </p:spPr>
        <p:txBody>
          <a:bodyPr/>
          <a:lstStyle/>
          <a:p>
            <a:fld id="{326EF2E3-409D-4D76-AD02-397A36B0DAF9}" type="slidenum">
              <a:rPr lang="en-US" smtClean="0"/>
              <a:pPr/>
              <a:t>9</a:t>
            </a:fld>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7005</TotalTime>
  <Words>512</Words>
  <Application>Microsoft Office PowerPoint</Application>
  <PresentationFormat>Widescreen</PresentationFormat>
  <Paragraphs>79</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Calibri Light</vt:lpstr>
      <vt:lpstr>Maiandra GD</vt:lpstr>
      <vt:lpstr>Tw Cen MT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amruthavarshini3117@hotmail.com</cp:lastModifiedBy>
  <cp:revision>725</cp:revision>
  <cp:lastPrinted>2023-06-09T04:58:36Z</cp:lastPrinted>
  <dcterms:created xsi:type="dcterms:W3CDTF">2019-12-14T03:50:52Z</dcterms:created>
  <dcterms:modified xsi:type="dcterms:W3CDTF">2026-09-29T18:39:25Z</dcterms:modified>
</cp:coreProperties>
</file>