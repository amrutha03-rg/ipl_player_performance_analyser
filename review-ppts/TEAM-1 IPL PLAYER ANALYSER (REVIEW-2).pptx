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74" r:id="rId6"/>
    <p:sldId id="279" r:id="rId7"/>
    <p:sldId id="276" r:id="rId8"/>
    <p:sldId id="280" r:id="rId9"/>
    <p:sldId id="278" r:id="rId10"/>
    <p:sldId id="271" r:id="rId11"/>
    <p:sldId id="281" r:id="rId12"/>
    <p:sldId id="283" r:id="rId13"/>
    <p:sldId id="285" r:id="rId14"/>
    <p:sldId id="284" r:id="rId15"/>
    <p:sldId id="268" r:id="rId16"/>
    <p:sldId id="269" r:id="rId17"/>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597685-9CB6-45F9-A194-17869D503BB0}" v="6" dt="2026-09-22T09:10:40.52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69" d="100"/>
          <a:sy n="69" d="100"/>
        </p:scale>
        <p:origin x="195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rna chand" userId="6e54419aa65d471c" providerId="LiveId" clId="{2483B58E-5644-4E75-AA46-D334125ADD6E}"/>
    <pc:docChg chg="undo custSel modSld">
      <pc:chgData name="purna chand" userId="6e54419aa65d471c" providerId="LiveId" clId="{2483B58E-5644-4E75-AA46-D334125ADD6E}" dt="2026-09-22T09:13:59.059" v="130" actId="1076"/>
      <pc:docMkLst>
        <pc:docMk/>
      </pc:docMkLst>
      <pc:sldChg chg="addSp delSp modSp mod">
        <pc:chgData name="purna chand" userId="6e54419aa65d471c" providerId="LiveId" clId="{2483B58E-5644-4E75-AA46-D334125ADD6E}" dt="2026-09-22T09:10:12.476" v="82" actId="1076"/>
        <pc:sldMkLst>
          <pc:docMk/>
          <pc:sldMk cId="314495878" sldId="271"/>
        </pc:sldMkLst>
        <pc:spChg chg="add mod">
          <ac:chgData name="purna chand" userId="6e54419aa65d471c" providerId="LiveId" clId="{2483B58E-5644-4E75-AA46-D334125ADD6E}" dt="2026-09-22T09:10:12.476" v="82" actId="1076"/>
          <ac:spMkLst>
            <pc:docMk/>
            <pc:sldMk cId="314495878" sldId="271"/>
            <ac:spMk id="4" creationId="{52502A97-D245-72B2-C4CE-36C3CF74332D}"/>
          </ac:spMkLst>
        </pc:spChg>
        <pc:spChg chg="add del mod">
          <ac:chgData name="purna chand" userId="6e54419aa65d471c" providerId="LiveId" clId="{2483B58E-5644-4E75-AA46-D334125ADD6E}" dt="2026-09-22T09:06:10.678" v="37"/>
          <ac:spMkLst>
            <pc:docMk/>
            <pc:sldMk cId="314495878" sldId="271"/>
            <ac:spMk id="10" creationId="{C3424CE3-2BBD-D949-B6E7-EE563E93A1D9}"/>
          </ac:spMkLst>
        </pc:spChg>
        <pc:spChg chg="mod">
          <ac:chgData name="purna chand" userId="6e54419aa65d471c" providerId="LiveId" clId="{2483B58E-5644-4E75-AA46-D334125ADD6E}" dt="2026-09-22T09:06:53.284" v="48" actId="1076"/>
          <ac:spMkLst>
            <pc:docMk/>
            <pc:sldMk cId="314495878" sldId="271"/>
            <ac:spMk id="12" creationId="{00000000-0000-0000-0000-000000000000}"/>
          </ac:spMkLst>
        </pc:spChg>
        <pc:spChg chg="add mod">
          <ac:chgData name="purna chand" userId="6e54419aa65d471c" providerId="LiveId" clId="{2483B58E-5644-4E75-AA46-D334125ADD6E}" dt="2026-09-22T09:08:39.566" v="64" actId="1076"/>
          <ac:spMkLst>
            <pc:docMk/>
            <pc:sldMk cId="314495878" sldId="271"/>
            <ac:spMk id="13" creationId="{0E34B842-9CD3-AA46-6CA7-F730C9D1D96E}"/>
          </ac:spMkLst>
        </pc:spChg>
        <pc:spChg chg="add mod">
          <ac:chgData name="purna chand" userId="6e54419aa65d471c" providerId="LiveId" clId="{2483B58E-5644-4E75-AA46-D334125ADD6E}" dt="2026-09-22T09:10:07.110" v="81" actId="1076"/>
          <ac:spMkLst>
            <pc:docMk/>
            <pc:sldMk cId="314495878" sldId="271"/>
            <ac:spMk id="15" creationId="{D18714A5-46F1-BD0D-4A00-BB0C1211F660}"/>
          </ac:spMkLst>
        </pc:spChg>
        <pc:spChg chg="add mod">
          <ac:chgData name="purna chand" userId="6e54419aa65d471c" providerId="LiveId" clId="{2483B58E-5644-4E75-AA46-D334125ADD6E}" dt="2026-09-22T09:08:48.654" v="66" actId="1076"/>
          <ac:spMkLst>
            <pc:docMk/>
            <pc:sldMk cId="314495878" sldId="271"/>
            <ac:spMk id="16" creationId="{D359C03E-C4CB-43D3-0C7D-3D50822A8B32}"/>
          </ac:spMkLst>
        </pc:spChg>
        <pc:spChg chg="add mod">
          <ac:chgData name="purna chand" userId="6e54419aa65d471c" providerId="LiveId" clId="{2483B58E-5644-4E75-AA46-D334125ADD6E}" dt="2026-09-22T09:09:02.344" v="69" actId="1076"/>
          <ac:spMkLst>
            <pc:docMk/>
            <pc:sldMk cId="314495878" sldId="271"/>
            <ac:spMk id="18" creationId="{E02D8121-E16D-A49A-1052-85D8AFE05F58}"/>
          </ac:spMkLst>
        </pc:spChg>
        <pc:spChg chg="mod">
          <ac:chgData name="purna chand" userId="6e54419aa65d471c" providerId="LiveId" clId="{2483B58E-5644-4E75-AA46-D334125ADD6E}" dt="2026-09-22T09:08:25.917" v="61" actId="1076"/>
          <ac:spMkLst>
            <pc:docMk/>
            <pc:sldMk cId="314495878" sldId="271"/>
            <ac:spMk id="20" creationId="{00000000-0000-0000-0000-000000000000}"/>
          </ac:spMkLst>
        </pc:spChg>
        <pc:spChg chg="add mod">
          <ac:chgData name="purna chand" userId="6e54419aa65d471c" providerId="LiveId" clId="{2483B58E-5644-4E75-AA46-D334125ADD6E}" dt="2026-09-22T09:09:59.881" v="80" actId="1076"/>
          <ac:spMkLst>
            <pc:docMk/>
            <pc:sldMk cId="314495878" sldId="271"/>
            <ac:spMk id="21" creationId="{B1C9C953-BED3-2F43-1A1F-3B7650BC3A88}"/>
          </ac:spMkLst>
        </pc:spChg>
        <pc:cxnChg chg="add del">
          <ac:chgData name="purna chand" userId="6e54419aa65d471c" providerId="LiveId" clId="{2483B58E-5644-4E75-AA46-D334125ADD6E}" dt="2026-09-22T09:05:07.531" v="24" actId="11529"/>
          <ac:cxnSpMkLst>
            <pc:docMk/>
            <pc:sldMk cId="314495878" sldId="271"/>
            <ac:cxnSpMk id="3" creationId="{F0BC3A08-AD3D-3AB9-73F3-725E1C529C83}"/>
          </ac:cxnSpMkLst>
        </pc:cxnChg>
      </pc:sldChg>
      <pc:sldChg chg="addSp delSp modSp mod">
        <pc:chgData name="purna chand" userId="6e54419aa65d471c" providerId="LiveId" clId="{2483B58E-5644-4E75-AA46-D334125ADD6E}" dt="2026-09-22T09:13:59.059" v="130" actId="1076"/>
        <pc:sldMkLst>
          <pc:docMk/>
          <pc:sldMk cId="3744217247" sldId="281"/>
        </pc:sldMkLst>
        <pc:spChg chg="add">
          <ac:chgData name="purna chand" userId="6e54419aa65d471c" providerId="LiveId" clId="{2483B58E-5644-4E75-AA46-D334125ADD6E}" dt="2026-09-22T09:10:28.519" v="84" actId="22"/>
          <ac:spMkLst>
            <pc:docMk/>
            <pc:sldMk cId="3744217247" sldId="281"/>
            <ac:spMk id="3" creationId="{58C6D514-1AF0-EDB1-7078-687065ECF56B}"/>
          </ac:spMkLst>
        </pc:spChg>
        <pc:spChg chg="del">
          <ac:chgData name="purna chand" userId="6e54419aa65d471c" providerId="LiveId" clId="{2483B58E-5644-4E75-AA46-D334125ADD6E}" dt="2026-09-22T09:10:20.918" v="83" actId="478"/>
          <ac:spMkLst>
            <pc:docMk/>
            <pc:sldMk cId="3744217247" sldId="281"/>
            <ac:spMk id="12" creationId="{00000000-0000-0000-0000-000000000000}"/>
          </ac:spMkLst>
        </pc:spChg>
        <pc:spChg chg="del">
          <ac:chgData name="purna chand" userId="6e54419aa65d471c" providerId="LiveId" clId="{2483B58E-5644-4E75-AA46-D334125ADD6E}" dt="2026-09-22T09:10:20.918" v="83" actId="478"/>
          <ac:spMkLst>
            <pc:docMk/>
            <pc:sldMk cId="3744217247" sldId="281"/>
            <ac:spMk id="13" creationId="{00000000-0000-0000-0000-000000000000}"/>
          </ac:spMkLst>
        </pc:spChg>
        <pc:spChg chg="del">
          <ac:chgData name="purna chand" userId="6e54419aa65d471c" providerId="LiveId" clId="{2483B58E-5644-4E75-AA46-D334125ADD6E}" dt="2026-09-22T09:10:20.918" v="83" actId="478"/>
          <ac:spMkLst>
            <pc:docMk/>
            <pc:sldMk cId="3744217247" sldId="281"/>
            <ac:spMk id="14" creationId="{00000000-0000-0000-0000-000000000000}"/>
          </ac:spMkLst>
        </pc:spChg>
        <pc:spChg chg="del">
          <ac:chgData name="purna chand" userId="6e54419aa65d471c" providerId="LiveId" clId="{2483B58E-5644-4E75-AA46-D334125ADD6E}" dt="2026-09-22T09:10:20.918" v="83" actId="478"/>
          <ac:spMkLst>
            <pc:docMk/>
            <pc:sldMk cId="3744217247" sldId="281"/>
            <ac:spMk id="15" creationId="{00000000-0000-0000-0000-000000000000}"/>
          </ac:spMkLst>
        </pc:spChg>
        <pc:spChg chg="del">
          <ac:chgData name="purna chand" userId="6e54419aa65d471c" providerId="LiveId" clId="{2483B58E-5644-4E75-AA46-D334125ADD6E}" dt="2026-09-22T09:10:20.918" v="83" actId="478"/>
          <ac:spMkLst>
            <pc:docMk/>
            <pc:sldMk cId="3744217247" sldId="281"/>
            <ac:spMk id="16" creationId="{00000000-0000-0000-0000-000000000000}"/>
          </ac:spMkLst>
        </pc:spChg>
        <pc:spChg chg="del">
          <ac:chgData name="purna chand" userId="6e54419aa65d471c" providerId="LiveId" clId="{2483B58E-5644-4E75-AA46-D334125ADD6E}" dt="2026-09-22T09:10:20.918" v="83" actId="478"/>
          <ac:spMkLst>
            <pc:docMk/>
            <pc:sldMk cId="3744217247" sldId="281"/>
            <ac:spMk id="17" creationId="{00000000-0000-0000-0000-000000000000}"/>
          </ac:spMkLst>
        </pc:spChg>
        <pc:spChg chg="del">
          <ac:chgData name="purna chand" userId="6e54419aa65d471c" providerId="LiveId" clId="{2483B58E-5644-4E75-AA46-D334125ADD6E}" dt="2026-09-22T09:10:20.918" v="83" actId="478"/>
          <ac:spMkLst>
            <pc:docMk/>
            <pc:sldMk cId="3744217247" sldId="281"/>
            <ac:spMk id="18" creationId="{00000000-0000-0000-0000-000000000000}"/>
          </ac:spMkLst>
        </pc:spChg>
        <pc:spChg chg="del">
          <ac:chgData name="purna chand" userId="6e54419aa65d471c" providerId="LiveId" clId="{2483B58E-5644-4E75-AA46-D334125ADD6E}" dt="2026-09-22T09:10:20.918" v="83" actId="478"/>
          <ac:spMkLst>
            <pc:docMk/>
            <pc:sldMk cId="3744217247" sldId="281"/>
            <ac:spMk id="19" creationId="{00000000-0000-0000-0000-000000000000}"/>
          </ac:spMkLst>
        </pc:spChg>
        <pc:spChg chg="del">
          <ac:chgData name="purna chand" userId="6e54419aa65d471c" providerId="LiveId" clId="{2483B58E-5644-4E75-AA46-D334125ADD6E}" dt="2026-09-22T09:10:20.918" v="83" actId="478"/>
          <ac:spMkLst>
            <pc:docMk/>
            <pc:sldMk cId="3744217247" sldId="281"/>
            <ac:spMk id="20" creationId="{00000000-0000-0000-0000-000000000000}"/>
          </ac:spMkLst>
        </pc:spChg>
        <pc:spChg chg="mod">
          <ac:chgData name="purna chand" userId="6e54419aa65d471c" providerId="LiveId" clId="{2483B58E-5644-4E75-AA46-D334125ADD6E}" dt="2026-09-22T09:10:40.518" v="85"/>
          <ac:spMkLst>
            <pc:docMk/>
            <pc:sldMk cId="3744217247" sldId="281"/>
            <ac:spMk id="23" creationId="{B3782B54-B821-DE87-C2B7-79ECF9E77AF9}"/>
          </ac:spMkLst>
        </pc:spChg>
        <pc:spChg chg="add mod">
          <ac:chgData name="purna chand" userId="6e54419aa65d471c" providerId="LiveId" clId="{2483B58E-5644-4E75-AA46-D334125ADD6E}" dt="2026-09-22T09:13:59.059" v="130" actId="1076"/>
          <ac:spMkLst>
            <pc:docMk/>
            <pc:sldMk cId="3744217247" sldId="281"/>
            <ac:spMk id="25" creationId="{A5CA9835-2A27-E3B2-E349-E0FE4429CFBE}"/>
          </ac:spMkLst>
        </pc:spChg>
        <pc:spChg chg="add mod">
          <ac:chgData name="purna chand" userId="6e54419aa65d471c" providerId="LiveId" clId="{2483B58E-5644-4E75-AA46-D334125ADD6E}" dt="2026-09-22T09:11:43.863" v="99" actId="1076"/>
          <ac:spMkLst>
            <pc:docMk/>
            <pc:sldMk cId="3744217247" sldId="281"/>
            <ac:spMk id="27" creationId="{769BA950-6049-F76A-4A0C-CF5ED87D2763}"/>
          </ac:spMkLst>
        </pc:spChg>
        <pc:spChg chg="add mod">
          <ac:chgData name="purna chand" userId="6e54419aa65d471c" providerId="LiveId" clId="{2483B58E-5644-4E75-AA46-D334125ADD6E}" dt="2026-09-22T09:11:56.197" v="101" actId="1076"/>
          <ac:spMkLst>
            <pc:docMk/>
            <pc:sldMk cId="3744217247" sldId="281"/>
            <ac:spMk id="29" creationId="{3B0312D2-1C2D-0FC3-47A4-8970E0D691E7}"/>
          </ac:spMkLst>
        </pc:spChg>
        <pc:spChg chg="add mod">
          <ac:chgData name="purna chand" userId="6e54419aa65d471c" providerId="LiveId" clId="{2483B58E-5644-4E75-AA46-D334125ADD6E}" dt="2026-09-22T09:12:22.479" v="109" actId="14100"/>
          <ac:spMkLst>
            <pc:docMk/>
            <pc:sldMk cId="3744217247" sldId="281"/>
            <ac:spMk id="31" creationId="{6FA49019-54D3-0F1F-3651-5D4892AE3078}"/>
          </ac:spMkLst>
        </pc:spChg>
        <pc:spChg chg="add mod">
          <ac:chgData name="purna chand" userId="6e54419aa65d471c" providerId="LiveId" clId="{2483B58E-5644-4E75-AA46-D334125ADD6E}" dt="2026-09-22T09:12:33.020" v="111" actId="1076"/>
          <ac:spMkLst>
            <pc:docMk/>
            <pc:sldMk cId="3744217247" sldId="281"/>
            <ac:spMk id="33" creationId="{6D0F4567-D057-4BE7-32A7-334EC2164A2C}"/>
          </ac:spMkLst>
        </pc:spChg>
        <pc:spChg chg="add mod">
          <ac:chgData name="purna chand" userId="6e54419aa65d471c" providerId="LiveId" clId="{2483B58E-5644-4E75-AA46-D334125ADD6E}" dt="2026-09-22T09:13:12.785" v="119" actId="1076"/>
          <ac:spMkLst>
            <pc:docMk/>
            <pc:sldMk cId="3744217247" sldId="281"/>
            <ac:spMk id="35" creationId="{53C43C12-4B70-F721-9E0A-DD8370D3BABC}"/>
          </ac:spMkLst>
        </pc:spChg>
        <pc:spChg chg="add mod">
          <ac:chgData name="purna chand" userId="6e54419aa65d471c" providerId="LiveId" clId="{2483B58E-5644-4E75-AA46-D334125ADD6E}" dt="2026-09-22T09:13:22.745" v="121" actId="1076"/>
          <ac:spMkLst>
            <pc:docMk/>
            <pc:sldMk cId="3744217247" sldId="281"/>
            <ac:spMk id="37" creationId="{D2A13C47-9211-7F6A-3235-E7CA857CC45D}"/>
          </ac:spMkLst>
        </pc:spChg>
        <pc:spChg chg="add mod">
          <ac:chgData name="purna chand" userId="6e54419aa65d471c" providerId="LiveId" clId="{2483B58E-5644-4E75-AA46-D334125ADD6E}" dt="2026-09-22T09:13:51.692" v="129" actId="1076"/>
          <ac:spMkLst>
            <pc:docMk/>
            <pc:sldMk cId="3744217247" sldId="281"/>
            <ac:spMk id="39" creationId="{A378BCE5-A3E9-0942-2521-8A05596F86BE}"/>
          </ac:spMkLst>
        </pc:spChg>
        <pc:grpChg chg="add mod">
          <ac:chgData name="purna chand" userId="6e54419aa65d471c" providerId="LiveId" clId="{2483B58E-5644-4E75-AA46-D334125ADD6E}" dt="2026-09-22T09:10:40.518" v="85"/>
          <ac:grpSpMkLst>
            <pc:docMk/>
            <pc:sldMk cId="3744217247" sldId="281"/>
            <ac:grpSpMk id="4" creationId="{F02D1B8B-963F-84C5-69F0-17C3EECCFD8D}"/>
          </ac:grpSpMkLst>
        </pc:grpChg>
        <pc:picChg chg="mod">
          <ac:chgData name="purna chand" userId="6e54419aa65d471c" providerId="LiveId" clId="{2483B58E-5644-4E75-AA46-D334125ADD6E}" dt="2026-09-22T09:10:40.518" v="85"/>
          <ac:picMkLst>
            <pc:docMk/>
            <pc:sldMk cId="3744217247" sldId="281"/>
            <ac:picMk id="10" creationId="{BD448D2F-A85D-4EA9-4AFA-DBD143FFC367}"/>
          </ac:picMkLst>
        </pc:picChg>
        <pc:picChg chg="del">
          <ac:chgData name="purna chand" userId="6e54419aa65d471c" providerId="LiveId" clId="{2483B58E-5644-4E75-AA46-D334125ADD6E}" dt="2026-09-22T09:10:20.918" v="83" actId="478"/>
          <ac:picMkLst>
            <pc:docMk/>
            <pc:sldMk cId="3744217247" sldId="281"/>
            <ac:picMk id="11" creationId="{A6C365DC-19B7-1764-968A-F9C87D5E4951}"/>
          </ac:picMkLst>
        </pc:picChg>
        <pc:picChg chg="mod">
          <ac:chgData name="purna chand" userId="6e54419aa65d471c" providerId="LiveId" clId="{2483B58E-5644-4E75-AA46-D334125ADD6E}" dt="2026-09-22T09:10:40.518" v="85"/>
          <ac:picMkLst>
            <pc:docMk/>
            <pc:sldMk cId="3744217247" sldId="281"/>
            <ac:picMk id="21" creationId="{70B9531E-FF63-3CBC-8C76-5101CEB24CF2}"/>
          </ac:picMkLst>
        </pc:picChg>
        <pc:picChg chg="mod">
          <ac:chgData name="purna chand" userId="6e54419aa65d471c" providerId="LiveId" clId="{2483B58E-5644-4E75-AA46-D334125ADD6E}" dt="2026-09-22T09:10:40.518" v="85"/>
          <ac:picMkLst>
            <pc:docMk/>
            <pc:sldMk cId="3744217247" sldId="281"/>
            <ac:picMk id="22" creationId="{A51A82D2-D894-569F-6C1F-514FA4F1297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30-09-2026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pPr/>
              <a:t>10</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pPr/>
              <a:t>11</a:t>
            </a:fld>
            <a:endParaRPr lang="en-IN"/>
          </a:p>
        </p:txBody>
      </p:sp>
    </p:spTree>
    <p:extLst>
      <p:ext uri="{BB962C8B-B14F-4D97-AF65-F5344CB8AC3E}">
        <p14:creationId xmlns:p14="http://schemas.microsoft.com/office/powerpoint/2010/main" val="1527576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9/30/2026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9/30/2026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TextBox 2"/>
          <p:cNvSpPr txBox="1"/>
          <p:nvPr/>
        </p:nvSpPr>
        <p:spPr>
          <a:xfrm>
            <a:off x="1463040" y="1110550"/>
            <a:ext cx="7315200" cy="405239"/>
          </a:xfrm>
          <a:prstGeom prst="rect">
            <a:avLst/>
          </a:prstGeom>
          <a:noFill/>
        </p:spPr>
        <p:txBody>
          <a:bodyPr wrap="square" lIns="50800" tIns="25400" rIns="50800" bIns="25400" anchor="ctr">
            <a:spAutoFit/>
          </a:bodyPr>
          <a:lstStyle/>
          <a:p>
            <a:pPr algn="ctr">
              <a:spcAft>
                <a:spcPts val="700"/>
              </a:spcAft>
              <a:defRPr sz="2500" b="1">
                <a:solidFill>
                  <a:srgbClr val="233464"/>
                </a:solidFill>
                <a:latin typeface="Aptos"/>
              </a:defRPr>
            </a:pPr>
            <a:r>
              <a:rPr sz="2300" b="1" dirty="0">
                <a:solidFill>
                  <a:srgbClr val="1F3168"/>
                </a:solidFill>
                <a:latin typeface="Times New Roman" panose="02020603050405020304" pitchFamily="18" charset="0"/>
                <a:cs typeface="Times New Roman" panose="02020603050405020304" pitchFamily="18" charset="0"/>
              </a:rPr>
              <a:t>Data Analysis Essentials</a:t>
            </a:r>
          </a:p>
        </p:txBody>
      </p:sp>
      <p:sp>
        <p:nvSpPr>
          <p:cNvPr id="4" name="TextBox 3"/>
          <p:cNvSpPr txBox="1"/>
          <p:nvPr/>
        </p:nvSpPr>
        <p:spPr>
          <a:xfrm>
            <a:off x="1463040" y="1508760"/>
            <a:ext cx="7315200" cy="282129"/>
          </a:xfrm>
          <a:prstGeom prst="rect">
            <a:avLst/>
          </a:prstGeom>
          <a:noFill/>
        </p:spPr>
        <p:txBody>
          <a:bodyPr wrap="square" lIns="50800" tIns="25400" rIns="50800" bIns="25400">
            <a:spAutoFit/>
          </a:bodyPr>
          <a:lstStyle/>
          <a:p>
            <a:pPr algn="ctr">
              <a:spcAft>
                <a:spcPts val="700"/>
              </a:spcAft>
              <a:defRPr sz="2300" b="1">
                <a:solidFill>
                  <a:srgbClr val="C25B30"/>
                </a:solidFill>
                <a:latin typeface="Aptos"/>
              </a:defRPr>
            </a:pPr>
            <a:r>
              <a:rPr sz="1500" b="1">
                <a:solidFill>
                  <a:srgbClr val="FF6600"/>
                </a:solidFill>
                <a:latin typeface="Times New Roman" panose="02020603050405020304" pitchFamily="18" charset="0"/>
                <a:cs typeface="Times New Roman" panose="02020603050405020304" pitchFamily="18" charset="0"/>
              </a:rPr>
              <a:t>Cornerstone Project</a:t>
            </a:r>
          </a:p>
        </p:txBody>
      </p:sp>
      <p:sp>
        <p:nvSpPr>
          <p:cNvPr id="5" name="TextBox 4"/>
          <p:cNvSpPr txBox="1"/>
          <p:nvPr/>
        </p:nvSpPr>
        <p:spPr>
          <a:xfrm>
            <a:off x="594360" y="2267712"/>
            <a:ext cx="8869680" cy="466794"/>
          </a:xfrm>
          <a:prstGeom prst="rect">
            <a:avLst/>
          </a:prstGeom>
          <a:noFill/>
        </p:spPr>
        <p:txBody>
          <a:bodyPr wrap="square" lIns="50800" tIns="25400" rIns="50800" bIns="25400">
            <a:spAutoFit/>
          </a:bodyPr>
          <a:lstStyle/>
          <a:p>
            <a:pPr algn="ctr">
              <a:spcAft>
                <a:spcPts val="700"/>
              </a:spcAft>
              <a:defRPr sz="3000" b="1">
                <a:solidFill>
                  <a:srgbClr val="233464"/>
                </a:solidFill>
                <a:latin typeface="Aptos"/>
              </a:defRPr>
            </a:pPr>
            <a:r>
              <a:rPr sz="2700" b="1">
                <a:solidFill>
                  <a:srgbClr val="1F3168"/>
                </a:solidFill>
                <a:latin typeface="Times New Roman" panose="02020603050405020304" pitchFamily="18" charset="0"/>
                <a:cs typeface="Times New Roman" panose="02020603050405020304" pitchFamily="18" charset="0"/>
              </a:rPr>
              <a:t>IPL Player Performance Analysis</a:t>
            </a:r>
          </a:p>
        </p:txBody>
      </p:sp>
      <p:sp>
        <p:nvSpPr>
          <p:cNvPr id="6" name="TextBox 5"/>
          <p:cNvSpPr txBox="1"/>
          <p:nvPr/>
        </p:nvSpPr>
        <p:spPr>
          <a:xfrm>
            <a:off x="1188720" y="2944368"/>
            <a:ext cx="7680960" cy="312906"/>
          </a:xfrm>
          <a:prstGeom prst="rect">
            <a:avLst/>
          </a:prstGeom>
          <a:noFill/>
        </p:spPr>
        <p:txBody>
          <a:bodyPr wrap="square" lIns="50800" tIns="25400" rIns="50800" bIns="25400">
            <a:spAutoFit/>
          </a:bodyPr>
          <a:lstStyle/>
          <a:p>
            <a:pPr algn="ctr">
              <a:spcAft>
                <a:spcPts val="700"/>
              </a:spcAft>
              <a:defRPr sz="1800" b="0">
                <a:solidFill>
                  <a:srgbClr val="375BA0"/>
                </a:solidFill>
                <a:latin typeface="Aptos"/>
              </a:defRPr>
            </a:pPr>
            <a:r>
              <a:rPr sz="1700" b="0">
                <a:solidFill>
                  <a:srgbClr val="FF6600"/>
                </a:solidFill>
                <a:latin typeface="Times New Roman" panose="02020603050405020304" pitchFamily="18" charset="0"/>
                <a:cs typeface="Times New Roman" panose="02020603050405020304" pitchFamily="18" charset="0"/>
              </a:rPr>
              <a:t>Exploratory Data Analysis of IPL Data</a:t>
            </a:r>
          </a:p>
        </p:txBody>
      </p:sp>
      <p:sp>
        <p:nvSpPr>
          <p:cNvPr id="7" name="TextBox 6"/>
          <p:cNvSpPr txBox="1"/>
          <p:nvPr/>
        </p:nvSpPr>
        <p:spPr>
          <a:xfrm>
            <a:off x="1508760" y="3837796"/>
            <a:ext cx="7040880" cy="1605568"/>
          </a:xfrm>
          <a:prstGeom prst="rect">
            <a:avLst/>
          </a:prstGeom>
          <a:noFill/>
        </p:spPr>
        <p:txBody>
          <a:bodyPr wrap="square" lIns="50800" tIns="25400" rIns="50800" bIns="25400" anchor="ctr">
            <a:spAutoFit/>
          </a:bodyPr>
          <a:lstStyle/>
          <a:p>
            <a:pPr algn="ctr">
              <a:spcAft>
                <a:spcPts val="700"/>
              </a:spcAft>
              <a:defRPr sz="1400" b="0">
                <a:solidFill>
                  <a:srgbClr val="2D2D2D"/>
                </a:solidFill>
                <a:latin typeface="Aptos"/>
              </a:defRPr>
            </a:pPr>
            <a:r>
              <a:rPr sz="1600" b="1" dirty="0">
                <a:solidFill>
                  <a:srgbClr val="FF6600"/>
                </a:solidFill>
                <a:latin typeface="Times New Roman" panose="02020603050405020304" pitchFamily="18" charset="0"/>
                <a:cs typeface="Times New Roman" panose="02020603050405020304" pitchFamily="18" charset="0"/>
              </a:rPr>
              <a:t>PROJECT TEAM</a:t>
            </a:r>
          </a:p>
          <a:p>
            <a:pPr algn="ctr">
              <a:spcAft>
                <a:spcPts val="300"/>
              </a:spcAft>
            </a:pPr>
            <a:r>
              <a:rPr sz="1300" b="1" dirty="0" err="1">
                <a:solidFill>
                  <a:srgbClr val="1F3168"/>
                </a:solidFill>
                <a:latin typeface="Times New Roman" panose="02020603050405020304" pitchFamily="18" charset="0"/>
                <a:cs typeface="Times New Roman" panose="02020603050405020304" pitchFamily="18" charset="0"/>
              </a:rPr>
              <a:t>Rokkam</a:t>
            </a:r>
            <a:r>
              <a:rPr sz="1300" b="1" dirty="0">
                <a:solidFill>
                  <a:srgbClr val="1F3168"/>
                </a:solidFill>
                <a:latin typeface="Times New Roman" panose="02020603050405020304" pitchFamily="18" charset="0"/>
                <a:cs typeface="Times New Roman" panose="02020603050405020304" pitchFamily="18" charset="0"/>
              </a:rPr>
              <a:t> Shyam Kumar (25B11CS833)</a:t>
            </a:r>
          </a:p>
          <a:p>
            <a:pPr algn="ctr">
              <a:spcAft>
                <a:spcPts val="300"/>
              </a:spcAft>
            </a:pPr>
            <a:r>
              <a:rPr sz="1300" b="1" dirty="0">
                <a:solidFill>
                  <a:schemeClr val="accent6">
                    <a:lumMod val="50000"/>
                  </a:schemeClr>
                </a:solidFill>
                <a:latin typeface="Times New Roman" panose="02020603050405020304" pitchFamily="18" charset="0"/>
                <a:cs typeface="Times New Roman" panose="02020603050405020304" pitchFamily="18" charset="0"/>
              </a:rPr>
              <a:t>Tadala Amrutha Varshini (25B11CS926)</a:t>
            </a:r>
          </a:p>
          <a:p>
            <a:pPr algn="ctr">
              <a:spcAft>
                <a:spcPts val="300"/>
              </a:spcAft>
            </a:pPr>
            <a:r>
              <a:rPr sz="1300" b="1" dirty="0" err="1">
                <a:solidFill>
                  <a:schemeClr val="accent6">
                    <a:lumMod val="50000"/>
                  </a:schemeClr>
                </a:solidFill>
                <a:latin typeface="Times New Roman" panose="02020603050405020304" pitchFamily="18" charset="0"/>
                <a:cs typeface="Times New Roman" panose="02020603050405020304" pitchFamily="18" charset="0"/>
              </a:rPr>
              <a:t>Vasamsetti</a:t>
            </a:r>
            <a:r>
              <a:rPr sz="1300" b="1" dirty="0">
                <a:solidFill>
                  <a:schemeClr val="accent6">
                    <a:lumMod val="50000"/>
                  </a:schemeClr>
                </a:solidFill>
                <a:latin typeface="Times New Roman" panose="02020603050405020304" pitchFamily="18" charset="0"/>
                <a:cs typeface="Times New Roman" panose="02020603050405020304" pitchFamily="18" charset="0"/>
              </a:rPr>
              <a:t> Haarika (25B11CS996)</a:t>
            </a:r>
          </a:p>
          <a:p>
            <a:pPr algn="ctr">
              <a:spcAft>
                <a:spcPts val="300"/>
              </a:spcAft>
            </a:pPr>
            <a:r>
              <a:rPr sz="1300" b="1" dirty="0">
                <a:solidFill>
                  <a:schemeClr val="accent6">
                    <a:lumMod val="50000"/>
                  </a:schemeClr>
                </a:solidFill>
                <a:latin typeface="Times New Roman" panose="02020603050405020304" pitchFamily="18" charset="0"/>
                <a:cs typeface="Times New Roman" panose="02020603050405020304" pitchFamily="18" charset="0"/>
              </a:rPr>
              <a:t>Sheik </a:t>
            </a:r>
            <a:r>
              <a:rPr sz="1300" b="1" dirty="0" err="1">
                <a:solidFill>
                  <a:schemeClr val="accent6">
                    <a:lumMod val="50000"/>
                  </a:schemeClr>
                </a:solidFill>
                <a:latin typeface="Times New Roman" panose="02020603050405020304" pitchFamily="18" charset="0"/>
                <a:cs typeface="Times New Roman" panose="02020603050405020304" pitchFamily="18" charset="0"/>
              </a:rPr>
              <a:t>Sameeruddin</a:t>
            </a:r>
            <a:r>
              <a:rPr sz="1300" b="1" dirty="0">
                <a:solidFill>
                  <a:schemeClr val="accent6">
                    <a:lumMod val="50000"/>
                  </a:schemeClr>
                </a:solidFill>
                <a:latin typeface="Times New Roman" panose="02020603050405020304" pitchFamily="18" charset="0"/>
                <a:cs typeface="Times New Roman" panose="02020603050405020304" pitchFamily="18" charset="0"/>
              </a:rPr>
              <a:t> (25B11CS897)</a:t>
            </a:r>
          </a:p>
          <a:p>
            <a:pPr algn="ctr">
              <a:spcBef>
                <a:spcPts val="500"/>
              </a:spcBef>
            </a:pPr>
            <a:r>
              <a:rPr lang="en-IN" sz="1300" b="1" dirty="0">
                <a:latin typeface="Times New Roman" panose="02020603050405020304" pitchFamily="18" charset="0"/>
                <a:cs typeface="Times New Roman" pitchFamily="18" charset="0"/>
              </a:rPr>
              <a:t>Guide: Mr. K. Ashok Teja, Assistant Professor, CSE Dept</a:t>
            </a:r>
            <a:endParaRPr sz="1300" b="0" dirty="0">
              <a:solidFill>
                <a:srgbClr val="67708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914400" y="6446520"/>
            <a:ext cx="8229600" cy="220573"/>
          </a:xfrm>
          <a:prstGeom prst="rect">
            <a:avLst/>
          </a:prstGeom>
          <a:noFill/>
        </p:spPr>
        <p:txBody>
          <a:bodyPr wrap="square" lIns="50800" tIns="25400" rIns="50800" bIns="25400">
            <a:spAutoFit/>
          </a:bodyPr>
          <a:lstStyle/>
          <a:p>
            <a:pPr algn="ctr">
              <a:spcAft>
                <a:spcPts val="700"/>
              </a:spcAft>
              <a:defRPr sz="1300" b="1">
                <a:solidFill>
                  <a:srgbClr val="233464"/>
                </a:solidFill>
                <a:latin typeface="Aptos"/>
              </a:defRPr>
            </a:pPr>
            <a:r>
              <a:rPr sz="1100" b="1">
                <a:solidFill>
                  <a:srgbClr val="1F3168"/>
                </a:solidFill>
                <a:latin typeface="Times New Roman" panose="02020603050405020304" pitchFamily="18" charset="0"/>
                <a:cs typeface="Times New Roman" panose="02020603050405020304" pitchFamily="18" charset="0"/>
              </a:rPr>
              <a:t>Department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10" name="TextBox 9"/>
          <p:cNvSpPr txBox="1"/>
          <p:nvPr/>
        </p:nvSpPr>
        <p:spPr>
          <a:xfrm>
            <a:off x="2545080" y="269414"/>
            <a:ext cx="5120640" cy="389850"/>
          </a:xfrm>
          <a:prstGeom prst="rect">
            <a:avLst/>
          </a:prstGeom>
          <a:noFill/>
        </p:spPr>
        <p:txBody>
          <a:bodyPr wrap="square" lIns="50800" tIns="25400" rIns="50800" bIns="25400">
            <a:spAutoFit/>
          </a:bodyPr>
          <a:lstStyle/>
          <a:p>
            <a:pPr algn="ctr">
              <a:spcAft>
                <a:spcPts val="700"/>
              </a:spcAft>
              <a:defRPr sz="2200" b="1">
                <a:solidFill>
                  <a:srgbClr val="233464"/>
                </a:solidFill>
                <a:latin typeface="Aptos"/>
              </a:defRPr>
            </a:pPr>
            <a:r>
              <a:rPr lang="en-US" dirty="0">
                <a:solidFill>
                  <a:schemeClr val="bg1"/>
                </a:solidFill>
                <a:latin typeface="Times New Roman" panose="02020603050405020304" pitchFamily="18" charset="0"/>
                <a:cs typeface="Times New Roman" pitchFamily="18" charset="0"/>
              </a:rPr>
              <a:t>Contents</a:t>
            </a:r>
            <a:endParaRPr dirty="0">
              <a:solidFill>
                <a:schemeClr val="bg1"/>
              </a:solidFill>
              <a:latin typeface="Times New Roman" panose="02020603050405020304" pitchFamily="18" charset="0"/>
              <a:cs typeface="Times New Roman" pitchFamily="18" charset="0"/>
            </a:endParaRPr>
          </a:p>
        </p:txBody>
      </p:sp>
      <p:sp>
        <p:nvSpPr>
          <p:cNvPr id="11" name="Rounded Rectangle 10"/>
          <p:cNvSpPr/>
          <p:nvPr/>
        </p:nvSpPr>
        <p:spPr>
          <a:xfrm>
            <a:off x="868680" y="1170432"/>
            <a:ext cx="3977639" cy="621792"/>
          </a:xfrm>
          <a:prstGeom prst="roundRect">
            <a:avLst/>
          </a:prstGeom>
          <a:solidFill>
            <a:srgbClr val="F6F8FC"/>
          </a:solidFill>
          <a:ln w="1016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Oval 11"/>
          <p:cNvSpPr/>
          <p:nvPr/>
        </p:nvSpPr>
        <p:spPr>
          <a:xfrm>
            <a:off x="978407" y="1280160"/>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1</a:t>
            </a:r>
          </a:p>
        </p:txBody>
      </p:sp>
      <p:sp>
        <p:nvSpPr>
          <p:cNvPr id="13" name="TextBox 12"/>
          <p:cNvSpPr txBox="1"/>
          <p:nvPr/>
        </p:nvSpPr>
        <p:spPr>
          <a:xfrm>
            <a:off x="1401654" y="1256518"/>
            <a:ext cx="3300983" cy="266740"/>
          </a:xfrm>
          <a:prstGeom prst="rect">
            <a:avLst/>
          </a:prstGeom>
          <a:noFill/>
        </p:spPr>
        <p:txBody>
          <a:bodyPr wrap="square" lIns="50800" tIns="25400" rIns="50800" bIns="25400" anchor="ctr">
            <a:spAutoFit/>
          </a:bodyPr>
          <a:lstStyle/>
          <a:p>
            <a:pPr algn="l"/>
            <a:r>
              <a:rPr sz="1400" b="1" dirty="0">
                <a:solidFill>
                  <a:srgbClr val="1F3168"/>
                </a:solidFill>
                <a:latin typeface="Times New Roman" panose="02020603050405020304" pitchFamily="18" charset="0"/>
                <a:cs typeface="Times New Roman" panose="02020603050405020304" pitchFamily="18" charset="0"/>
              </a:rPr>
              <a:t>Problem Understanding</a:t>
            </a:r>
          </a:p>
        </p:txBody>
      </p:sp>
      <p:sp>
        <p:nvSpPr>
          <p:cNvPr id="14" name="TextBox 13"/>
          <p:cNvSpPr txBox="1"/>
          <p:nvPr/>
        </p:nvSpPr>
        <p:spPr>
          <a:xfrm>
            <a:off x="1554480" y="1492311"/>
            <a:ext cx="3063240" cy="197490"/>
          </a:xfrm>
          <a:prstGeom prst="rect">
            <a:avLst/>
          </a:prstGeom>
          <a:noFill/>
        </p:spPr>
        <p:txBody>
          <a:bodyPr wrap="square" lIns="50800" tIns="25400" rIns="50800" bIns="25400" anchor="ctr">
            <a:spAutoFit/>
          </a:bodyPr>
          <a:lstStyle/>
          <a:p>
            <a:pPr algn="l"/>
            <a:r>
              <a:rPr sz="950" b="0" dirty="0">
                <a:solidFill>
                  <a:srgbClr val="4B5563"/>
                </a:solidFill>
                <a:latin typeface="Times New Roman" panose="02020603050405020304" pitchFamily="18" charset="0"/>
                <a:cs typeface="Times New Roman" panose="02020603050405020304" pitchFamily="18" charset="0"/>
              </a:rPr>
              <a:t>The challenge</a:t>
            </a:r>
          </a:p>
        </p:txBody>
      </p:sp>
      <p:sp>
        <p:nvSpPr>
          <p:cNvPr id="15" name="Rounded Rectangle 14"/>
          <p:cNvSpPr/>
          <p:nvPr/>
        </p:nvSpPr>
        <p:spPr>
          <a:xfrm>
            <a:off x="868680" y="1975104"/>
            <a:ext cx="3977639" cy="621792"/>
          </a:xfrm>
          <a:prstGeom prst="roundRect">
            <a:avLst/>
          </a:prstGeom>
          <a:solidFill>
            <a:srgbClr val="F6F8FC"/>
          </a:solidFill>
          <a:ln w="1016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Oval 15"/>
          <p:cNvSpPr/>
          <p:nvPr/>
        </p:nvSpPr>
        <p:spPr>
          <a:xfrm>
            <a:off x="978407" y="2084832"/>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2</a:t>
            </a:r>
          </a:p>
        </p:txBody>
      </p:sp>
      <p:sp>
        <p:nvSpPr>
          <p:cNvPr id="17" name="TextBox 16"/>
          <p:cNvSpPr txBox="1"/>
          <p:nvPr/>
        </p:nvSpPr>
        <p:spPr>
          <a:xfrm>
            <a:off x="1410798" y="2061190"/>
            <a:ext cx="3300983" cy="266740"/>
          </a:xfrm>
          <a:prstGeom prst="rect">
            <a:avLst/>
          </a:prstGeom>
          <a:noFill/>
        </p:spPr>
        <p:txBody>
          <a:bodyPr wrap="square" lIns="50800" tIns="25400" rIns="50800" bIns="25400" anchor="ctr">
            <a:spAutoFit/>
          </a:bodyPr>
          <a:lstStyle/>
          <a:p>
            <a:pPr algn="l"/>
            <a:r>
              <a:rPr sz="1400" b="1">
                <a:solidFill>
                  <a:srgbClr val="1F3168"/>
                </a:solidFill>
                <a:latin typeface="Times New Roman" panose="02020603050405020304" pitchFamily="18" charset="0"/>
                <a:cs typeface="Times New Roman" panose="02020603050405020304" pitchFamily="18" charset="0"/>
              </a:rPr>
              <a:t>Introduction</a:t>
            </a:r>
          </a:p>
        </p:txBody>
      </p:sp>
      <p:sp>
        <p:nvSpPr>
          <p:cNvPr id="18" name="TextBox 17"/>
          <p:cNvSpPr txBox="1"/>
          <p:nvPr/>
        </p:nvSpPr>
        <p:spPr>
          <a:xfrm>
            <a:off x="1554480" y="2296983"/>
            <a:ext cx="3063240" cy="197490"/>
          </a:xfrm>
          <a:prstGeom prst="rect">
            <a:avLst/>
          </a:prstGeom>
          <a:noFill/>
        </p:spPr>
        <p:txBody>
          <a:bodyPr wrap="square" lIns="50800" tIns="25400" rIns="50800" bIns="25400" anchor="ctr">
            <a:spAutoFit/>
          </a:bodyPr>
          <a:lstStyle/>
          <a:p>
            <a:pPr algn="l"/>
            <a:r>
              <a:rPr sz="950" b="0">
                <a:solidFill>
                  <a:srgbClr val="4B5563"/>
                </a:solidFill>
                <a:latin typeface="Times New Roman" panose="02020603050405020304" pitchFamily="18" charset="0"/>
                <a:cs typeface="Times New Roman" panose="02020603050405020304" pitchFamily="18" charset="0"/>
              </a:rPr>
              <a:t>Project context</a:t>
            </a:r>
          </a:p>
        </p:txBody>
      </p:sp>
      <p:sp>
        <p:nvSpPr>
          <p:cNvPr id="19" name="Rounded Rectangle 18"/>
          <p:cNvSpPr/>
          <p:nvPr/>
        </p:nvSpPr>
        <p:spPr>
          <a:xfrm>
            <a:off x="868680" y="2779776"/>
            <a:ext cx="3977639" cy="621792"/>
          </a:xfrm>
          <a:prstGeom prst="roundRect">
            <a:avLst/>
          </a:prstGeom>
          <a:solidFill>
            <a:srgbClr val="F6F8FC"/>
          </a:solidFill>
          <a:ln w="1016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Oval 19"/>
          <p:cNvSpPr/>
          <p:nvPr/>
        </p:nvSpPr>
        <p:spPr>
          <a:xfrm>
            <a:off x="978407" y="2889504"/>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3</a:t>
            </a:r>
          </a:p>
        </p:txBody>
      </p:sp>
      <p:sp>
        <p:nvSpPr>
          <p:cNvPr id="21" name="TextBox 20"/>
          <p:cNvSpPr txBox="1"/>
          <p:nvPr/>
        </p:nvSpPr>
        <p:spPr>
          <a:xfrm>
            <a:off x="1410798" y="2895692"/>
            <a:ext cx="3300983" cy="243656"/>
          </a:xfrm>
          <a:prstGeom prst="rect">
            <a:avLst/>
          </a:prstGeom>
          <a:noFill/>
        </p:spPr>
        <p:txBody>
          <a:bodyPr wrap="square" lIns="50800" tIns="25400" rIns="50800" bIns="25400" anchor="ctr">
            <a:spAutoFit/>
          </a:bodyPr>
          <a:lstStyle/>
          <a:p>
            <a:pPr algn="l"/>
            <a:r>
              <a:rPr sz="1250" b="1" dirty="0">
                <a:solidFill>
                  <a:srgbClr val="1F3168"/>
                </a:solidFill>
                <a:latin typeface="Times New Roman" panose="02020603050405020304" pitchFamily="18" charset="0"/>
                <a:cs typeface="Times New Roman" panose="02020603050405020304" pitchFamily="18" charset="0"/>
              </a:rPr>
              <a:t>Current Approach &amp; Limitations</a:t>
            </a:r>
          </a:p>
        </p:txBody>
      </p:sp>
      <p:sp>
        <p:nvSpPr>
          <p:cNvPr id="22" name="TextBox 21"/>
          <p:cNvSpPr txBox="1"/>
          <p:nvPr/>
        </p:nvSpPr>
        <p:spPr>
          <a:xfrm>
            <a:off x="1554480" y="3101655"/>
            <a:ext cx="3063240" cy="197490"/>
          </a:xfrm>
          <a:prstGeom prst="rect">
            <a:avLst/>
          </a:prstGeom>
          <a:noFill/>
        </p:spPr>
        <p:txBody>
          <a:bodyPr wrap="square" lIns="50800" tIns="25400" rIns="50800" bIns="25400" anchor="ctr">
            <a:spAutoFit/>
          </a:bodyPr>
          <a:lstStyle/>
          <a:p>
            <a:pPr algn="l"/>
            <a:r>
              <a:rPr sz="950" b="0">
                <a:solidFill>
                  <a:srgbClr val="4B5563"/>
                </a:solidFill>
                <a:latin typeface="Times New Roman" panose="02020603050405020304" pitchFamily="18" charset="0"/>
                <a:cs typeface="Times New Roman" panose="02020603050405020304" pitchFamily="18" charset="0"/>
              </a:rPr>
              <a:t>What is difficult today</a:t>
            </a:r>
          </a:p>
        </p:txBody>
      </p:sp>
      <p:sp>
        <p:nvSpPr>
          <p:cNvPr id="23" name="Rounded Rectangle 22"/>
          <p:cNvSpPr/>
          <p:nvPr/>
        </p:nvSpPr>
        <p:spPr>
          <a:xfrm>
            <a:off x="868680" y="3584448"/>
            <a:ext cx="3977639" cy="621792"/>
          </a:xfrm>
          <a:prstGeom prst="roundRect">
            <a:avLst/>
          </a:prstGeom>
          <a:solidFill>
            <a:srgbClr val="F6F8FC"/>
          </a:solidFill>
          <a:ln w="1016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Oval 23"/>
          <p:cNvSpPr/>
          <p:nvPr/>
        </p:nvSpPr>
        <p:spPr>
          <a:xfrm>
            <a:off x="978407" y="3694176"/>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4</a:t>
            </a:r>
          </a:p>
        </p:txBody>
      </p:sp>
      <p:sp>
        <p:nvSpPr>
          <p:cNvPr id="25" name="TextBox 24"/>
          <p:cNvSpPr txBox="1"/>
          <p:nvPr/>
        </p:nvSpPr>
        <p:spPr>
          <a:xfrm>
            <a:off x="1434082" y="3667485"/>
            <a:ext cx="3300983" cy="266740"/>
          </a:xfrm>
          <a:prstGeom prst="rect">
            <a:avLst/>
          </a:prstGeom>
          <a:noFill/>
        </p:spPr>
        <p:txBody>
          <a:bodyPr wrap="square" lIns="50800" tIns="25400" rIns="50800" bIns="25400" anchor="ctr">
            <a:spAutoFit/>
          </a:bodyPr>
          <a:lstStyle/>
          <a:p>
            <a:pPr algn="l"/>
            <a:r>
              <a:rPr sz="1400" b="1" dirty="0">
                <a:solidFill>
                  <a:srgbClr val="1F3168"/>
                </a:solidFill>
                <a:latin typeface="Times New Roman" panose="02020603050405020304" pitchFamily="18" charset="0"/>
                <a:cs typeface="Times New Roman" panose="02020603050405020304" pitchFamily="18" charset="0"/>
              </a:rPr>
              <a:t>Proposed Approach</a:t>
            </a:r>
          </a:p>
        </p:txBody>
      </p:sp>
      <p:sp>
        <p:nvSpPr>
          <p:cNvPr id="26" name="TextBox 25"/>
          <p:cNvSpPr txBox="1"/>
          <p:nvPr/>
        </p:nvSpPr>
        <p:spPr>
          <a:xfrm>
            <a:off x="1554480" y="3906327"/>
            <a:ext cx="3063240" cy="197490"/>
          </a:xfrm>
          <a:prstGeom prst="rect">
            <a:avLst/>
          </a:prstGeom>
          <a:noFill/>
        </p:spPr>
        <p:txBody>
          <a:bodyPr wrap="square" lIns="50800" tIns="25400" rIns="50800" bIns="25400" anchor="ctr">
            <a:spAutoFit/>
          </a:bodyPr>
          <a:lstStyle/>
          <a:p>
            <a:pPr algn="l"/>
            <a:r>
              <a:rPr sz="950" b="0">
                <a:solidFill>
                  <a:srgbClr val="4B5563"/>
                </a:solidFill>
                <a:latin typeface="Times New Roman" panose="02020603050405020304" pitchFamily="18" charset="0"/>
                <a:cs typeface="Times New Roman" panose="02020603050405020304" pitchFamily="18" charset="0"/>
              </a:rPr>
              <a:t>Our analysis plan</a:t>
            </a:r>
          </a:p>
        </p:txBody>
      </p:sp>
      <p:sp>
        <p:nvSpPr>
          <p:cNvPr id="27" name="Rounded Rectangle 26"/>
          <p:cNvSpPr/>
          <p:nvPr/>
        </p:nvSpPr>
        <p:spPr>
          <a:xfrm>
            <a:off x="868680" y="4389120"/>
            <a:ext cx="3977639" cy="621792"/>
          </a:xfrm>
          <a:prstGeom prst="roundRect">
            <a:avLst/>
          </a:prstGeom>
          <a:solidFill>
            <a:srgbClr val="F6F8FC"/>
          </a:solidFill>
          <a:ln w="1016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8" name="Oval 27"/>
          <p:cNvSpPr/>
          <p:nvPr/>
        </p:nvSpPr>
        <p:spPr>
          <a:xfrm>
            <a:off x="978407" y="4498848"/>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5</a:t>
            </a:r>
          </a:p>
        </p:txBody>
      </p:sp>
      <p:sp>
        <p:nvSpPr>
          <p:cNvPr id="29" name="TextBox 28"/>
          <p:cNvSpPr txBox="1"/>
          <p:nvPr/>
        </p:nvSpPr>
        <p:spPr>
          <a:xfrm>
            <a:off x="1432468" y="4499589"/>
            <a:ext cx="3300983" cy="266740"/>
          </a:xfrm>
          <a:prstGeom prst="rect">
            <a:avLst/>
          </a:prstGeom>
          <a:noFill/>
        </p:spPr>
        <p:txBody>
          <a:bodyPr wrap="square" lIns="50800" tIns="25400" rIns="50800" bIns="25400" anchor="ctr">
            <a:spAutoFit/>
          </a:bodyPr>
          <a:lstStyle/>
          <a:p>
            <a:pPr algn="l"/>
            <a:r>
              <a:rPr sz="1400" b="1" dirty="0">
                <a:solidFill>
                  <a:srgbClr val="1F3168"/>
                </a:solidFill>
                <a:latin typeface="Times New Roman" panose="02020603050405020304" pitchFamily="18" charset="0"/>
                <a:cs typeface="Times New Roman" panose="02020603050405020304" pitchFamily="18" charset="0"/>
              </a:rPr>
              <a:t>Dataset Description</a:t>
            </a:r>
          </a:p>
        </p:txBody>
      </p:sp>
      <p:sp>
        <p:nvSpPr>
          <p:cNvPr id="30" name="TextBox 29"/>
          <p:cNvSpPr txBox="1"/>
          <p:nvPr/>
        </p:nvSpPr>
        <p:spPr>
          <a:xfrm>
            <a:off x="1554480" y="4710999"/>
            <a:ext cx="3063240" cy="197490"/>
          </a:xfrm>
          <a:prstGeom prst="rect">
            <a:avLst/>
          </a:prstGeom>
          <a:noFill/>
        </p:spPr>
        <p:txBody>
          <a:bodyPr wrap="square" lIns="50800" tIns="25400" rIns="50800" bIns="25400" anchor="ctr">
            <a:spAutoFit/>
          </a:bodyPr>
          <a:lstStyle/>
          <a:p>
            <a:pPr algn="l"/>
            <a:r>
              <a:rPr sz="950" b="0">
                <a:solidFill>
                  <a:srgbClr val="4B5563"/>
                </a:solidFill>
                <a:latin typeface="Times New Roman" panose="02020603050405020304" pitchFamily="18" charset="0"/>
                <a:cs typeface="Times New Roman" panose="02020603050405020304" pitchFamily="18" charset="0"/>
              </a:rPr>
              <a:t>Data used</a:t>
            </a:r>
          </a:p>
        </p:txBody>
      </p:sp>
      <p:sp>
        <p:nvSpPr>
          <p:cNvPr id="31" name="Rounded Rectangle 30"/>
          <p:cNvSpPr/>
          <p:nvPr/>
        </p:nvSpPr>
        <p:spPr>
          <a:xfrm>
            <a:off x="868680" y="5193792"/>
            <a:ext cx="3977639" cy="621792"/>
          </a:xfrm>
          <a:prstGeom prst="roundRect">
            <a:avLst/>
          </a:prstGeom>
          <a:solidFill>
            <a:srgbClr val="F6F8FC"/>
          </a:solidFill>
          <a:ln w="1016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Oval 31"/>
          <p:cNvSpPr/>
          <p:nvPr/>
        </p:nvSpPr>
        <p:spPr>
          <a:xfrm>
            <a:off x="978407" y="5303520"/>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6</a:t>
            </a:r>
          </a:p>
        </p:txBody>
      </p:sp>
      <p:sp>
        <p:nvSpPr>
          <p:cNvPr id="33" name="TextBox 32"/>
          <p:cNvSpPr txBox="1"/>
          <p:nvPr/>
        </p:nvSpPr>
        <p:spPr>
          <a:xfrm>
            <a:off x="1428661" y="5279878"/>
            <a:ext cx="3300983" cy="266740"/>
          </a:xfrm>
          <a:prstGeom prst="rect">
            <a:avLst/>
          </a:prstGeom>
          <a:noFill/>
        </p:spPr>
        <p:txBody>
          <a:bodyPr wrap="square" lIns="50800" tIns="25400" rIns="50800" bIns="25400" anchor="ctr">
            <a:spAutoFit/>
          </a:bodyPr>
          <a:lstStyle/>
          <a:p>
            <a:pPr algn="l"/>
            <a:r>
              <a:rPr lang="en-US" sz="1400" b="1" dirty="0">
                <a:solidFill>
                  <a:srgbClr val="1F3168"/>
                </a:solidFill>
                <a:latin typeface="Times New Roman" panose="02020603050405020304" pitchFamily="18" charset="0"/>
                <a:cs typeface="Times New Roman" panose="02020603050405020304" pitchFamily="18" charset="0"/>
              </a:rPr>
              <a:t>Code Snippets</a:t>
            </a:r>
            <a:endParaRPr sz="1400" b="1" dirty="0">
              <a:solidFill>
                <a:srgbClr val="1F3168"/>
              </a:solidFill>
              <a:latin typeface="Times New Roman" panose="02020603050405020304" pitchFamily="18" charset="0"/>
              <a:cs typeface="Times New Roman" panose="02020603050405020304" pitchFamily="18" charset="0"/>
            </a:endParaRPr>
          </a:p>
        </p:txBody>
      </p:sp>
      <p:sp>
        <p:nvSpPr>
          <p:cNvPr id="34" name="TextBox 33"/>
          <p:cNvSpPr txBox="1"/>
          <p:nvPr/>
        </p:nvSpPr>
        <p:spPr>
          <a:xfrm>
            <a:off x="1554480" y="5515671"/>
            <a:ext cx="3063240" cy="197490"/>
          </a:xfrm>
          <a:prstGeom prst="rect">
            <a:avLst/>
          </a:prstGeom>
          <a:noFill/>
        </p:spPr>
        <p:txBody>
          <a:bodyPr wrap="square" lIns="50800" tIns="25400" rIns="50800" bIns="25400" anchor="ctr">
            <a:spAutoFit/>
          </a:bodyPr>
          <a:lstStyle/>
          <a:p>
            <a:pPr algn="l"/>
            <a:r>
              <a:rPr sz="950" b="0" dirty="0">
                <a:solidFill>
                  <a:srgbClr val="4B5563"/>
                </a:solidFill>
                <a:latin typeface="Times New Roman" panose="02020603050405020304" pitchFamily="18" charset="0"/>
                <a:cs typeface="Times New Roman" panose="02020603050405020304" pitchFamily="18" charset="0"/>
              </a:rPr>
              <a:t>Tools and setup</a:t>
            </a:r>
          </a:p>
        </p:txBody>
      </p:sp>
      <p:sp>
        <p:nvSpPr>
          <p:cNvPr id="35" name="Rounded Rectangle 34"/>
          <p:cNvSpPr/>
          <p:nvPr/>
        </p:nvSpPr>
        <p:spPr>
          <a:xfrm>
            <a:off x="5303520" y="1170432"/>
            <a:ext cx="3977639" cy="621792"/>
          </a:xfrm>
          <a:prstGeom prst="roundRect">
            <a:avLst/>
          </a:prstGeom>
          <a:solidFill>
            <a:srgbClr val="F6F8FC"/>
          </a:solidFill>
          <a:ln w="1016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Oval 35"/>
          <p:cNvSpPr/>
          <p:nvPr/>
        </p:nvSpPr>
        <p:spPr>
          <a:xfrm>
            <a:off x="5413248" y="1280160"/>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7</a:t>
            </a:r>
          </a:p>
        </p:txBody>
      </p:sp>
      <p:sp>
        <p:nvSpPr>
          <p:cNvPr id="37" name="TextBox 36"/>
          <p:cNvSpPr txBox="1"/>
          <p:nvPr/>
        </p:nvSpPr>
        <p:spPr>
          <a:xfrm>
            <a:off x="5879592" y="1264340"/>
            <a:ext cx="3300983" cy="266740"/>
          </a:xfrm>
          <a:prstGeom prst="rect">
            <a:avLst/>
          </a:prstGeom>
          <a:noFill/>
        </p:spPr>
        <p:txBody>
          <a:bodyPr wrap="square" lIns="50800" tIns="25400" rIns="50800" bIns="25400" anchor="ctr">
            <a:spAutoFit/>
          </a:bodyPr>
          <a:lstStyle/>
          <a:p>
            <a:pPr algn="l"/>
            <a:r>
              <a:rPr sz="1400" b="1" dirty="0">
                <a:solidFill>
                  <a:srgbClr val="1F3168"/>
                </a:solidFill>
                <a:latin typeface="Times New Roman" panose="02020603050405020304" pitchFamily="18" charset="0"/>
                <a:cs typeface="Times New Roman" panose="02020603050405020304" pitchFamily="18" charset="0"/>
              </a:rPr>
              <a:t>Methodology</a:t>
            </a:r>
          </a:p>
        </p:txBody>
      </p:sp>
      <p:sp>
        <p:nvSpPr>
          <p:cNvPr id="38" name="TextBox 37"/>
          <p:cNvSpPr txBox="1"/>
          <p:nvPr/>
        </p:nvSpPr>
        <p:spPr>
          <a:xfrm>
            <a:off x="5989320" y="1492311"/>
            <a:ext cx="3063240" cy="197490"/>
          </a:xfrm>
          <a:prstGeom prst="rect">
            <a:avLst/>
          </a:prstGeom>
          <a:noFill/>
        </p:spPr>
        <p:txBody>
          <a:bodyPr wrap="square" lIns="50800" tIns="25400" rIns="50800" bIns="25400" anchor="ctr">
            <a:spAutoFit/>
          </a:bodyPr>
          <a:lstStyle/>
          <a:p>
            <a:pPr algn="l"/>
            <a:r>
              <a:rPr sz="950" b="0">
                <a:solidFill>
                  <a:srgbClr val="4B5563"/>
                </a:solidFill>
                <a:latin typeface="Times New Roman" panose="02020603050405020304" pitchFamily="18" charset="0"/>
                <a:cs typeface="Times New Roman" panose="02020603050405020304" pitchFamily="18" charset="0"/>
              </a:rPr>
              <a:t>Step-by-step process</a:t>
            </a:r>
          </a:p>
        </p:txBody>
      </p:sp>
      <p:sp>
        <p:nvSpPr>
          <p:cNvPr id="39" name="Rounded Rectangle 38"/>
          <p:cNvSpPr/>
          <p:nvPr/>
        </p:nvSpPr>
        <p:spPr>
          <a:xfrm>
            <a:off x="5303520" y="1975104"/>
            <a:ext cx="3977639" cy="621792"/>
          </a:xfrm>
          <a:prstGeom prst="roundRect">
            <a:avLst/>
          </a:prstGeom>
          <a:solidFill>
            <a:srgbClr val="F6F8FC"/>
          </a:solidFill>
          <a:ln w="1016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0" name="Oval 39"/>
          <p:cNvSpPr/>
          <p:nvPr/>
        </p:nvSpPr>
        <p:spPr>
          <a:xfrm>
            <a:off x="5413248" y="2084832"/>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8</a:t>
            </a:r>
          </a:p>
        </p:txBody>
      </p:sp>
      <p:sp>
        <p:nvSpPr>
          <p:cNvPr id="41" name="TextBox 40"/>
          <p:cNvSpPr txBox="1"/>
          <p:nvPr/>
        </p:nvSpPr>
        <p:spPr>
          <a:xfrm>
            <a:off x="5888737" y="2079478"/>
            <a:ext cx="3300983" cy="266740"/>
          </a:xfrm>
          <a:prstGeom prst="rect">
            <a:avLst/>
          </a:prstGeom>
          <a:noFill/>
        </p:spPr>
        <p:txBody>
          <a:bodyPr wrap="square" lIns="50800" tIns="25400" rIns="50800" bIns="25400" anchor="ctr">
            <a:spAutoFit/>
          </a:bodyPr>
          <a:lstStyle/>
          <a:p>
            <a:pPr algn="l"/>
            <a:r>
              <a:rPr sz="1400" b="1" dirty="0">
                <a:solidFill>
                  <a:srgbClr val="1F3168"/>
                </a:solidFill>
                <a:latin typeface="Times New Roman" panose="02020603050405020304" pitchFamily="18" charset="0"/>
                <a:cs typeface="Times New Roman" panose="02020603050405020304" pitchFamily="18" charset="0"/>
              </a:rPr>
              <a:t>Data Visualization</a:t>
            </a:r>
          </a:p>
        </p:txBody>
      </p:sp>
      <p:sp>
        <p:nvSpPr>
          <p:cNvPr id="42" name="TextBox 41"/>
          <p:cNvSpPr txBox="1"/>
          <p:nvPr/>
        </p:nvSpPr>
        <p:spPr>
          <a:xfrm>
            <a:off x="5989320" y="2296983"/>
            <a:ext cx="3063240" cy="197490"/>
          </a:xfrm>
          <a:prstGeom prst="rect">
            <a:avLst/>
          </a:prstGeom>
          <a:noFill/>
        </p:spPr>
        <p:txBody>
          <a:bodyPr wrap="square" lIns="50800" tIns="25400" rIns="50800" bIns="25400" anchor="ctr">
            <a:spAutoFit/>
          </a:bodyPr>
          <a:lstStyle/>
          <a:p>
            <a:pPr algn="l"/>
            <a:r>
              <a:rPr sz="950" b="0">
                <a:solidFill>
                  <a:srgbClr val="4B5563"/>
                </a:solidFill>
                <a:latin typeface="Times New Roman" panose="02020603050405020304" pitchFamily="18" charset="0"/>
                <a:cs typeface="Times New Roman" panose="02020603050405020304" pitchFamily="18" charset="0"/>
              </a:rPr>
              <a:t>Charts and comparisons</a:t>
            </a:r>
          </a:p>
        </p:txBody>
      </p:sp>
      <p:sp>
        <p:nvSpPr>
          <p:cNvPr id="43" name="Rounded Rectangle 42"/>
          <p:cNvSpPr/>
          <p:nvPr/>
        </p:nvSpPr>
        <p:spPr>
          <a:xfrm>
            <a:off x="5303520" y="2779776"/>
            <a:ext cx="3977639" cy="621792"/>
          </a:xfrm>
          <a:prstGeom prst="roundRect">
            <a:avLst/>
          </a:prstGeom>
          <a:solidFill>
            <a:srgbClr val="F6F8FC"/>
          </a:solidFill>
          <a:ln w="1016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4" name="Oval 43"/>
          <p:cNvSpPr/>
          <p:nvPr/>
        </p:nvSpPr>
        <p:spPr>
          <a:xfrm>
            <a:off x="5413248" y="2889504"/>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9</a:t>
            </a:r>
          </a:p>
        </p:txBody>
      </p:sp>
      <p:sp>
        <p:nvSpPr>
          <p:cNvPr id="45" name="TextBox 44"/>
          <p:cNvSpPr txBox="1"/>
          <p:nvPr/>
        </p:nvSpPr>
        <p:spPr>
          <a:xfrm>
            <a:off x="5888737" y="2847574"/>
            <a:ext cx="3300983" cy="266740"/>
          </a:xfrm>
          <a:prstGeom prst="rect">
            <a:avLst/>
          </a:prstGeom>
          <a:noFill/>
        </p:spPr>
        <p:txBody>
          <a:bodyPr wrap="square" lIns="50800" tIns="25400" rIns="50800" bIns="25400" anchor="ctr">
            <a:spAutoFit/>
          </a:bodyPr>
          <a:lstStyle/>
          <a:p>
            <a:pPr algn="l"/>
            <a:r>
              <a:rPr sz="1400" b="1">
                <a:solidFill>
                  <a:srgbClr val="1F3168"/>
                </a:solidFill>
                <a:latin typeface="Times New Roman" panose="02020603050405020304" pitchFamily="18" charset="0"/>
                <a:cs typeface="Times New Roman" panose="02020603050405020304" pitchFamily="18" charset="0"/>
              </a:rPr>
              <a:t>Key Insights &amp; Analysis</a:t>
            </a:r>
          </a:p>
        </p:txBody>
      </p:sp>
      <p:sp>
        <p:nvSpPr>
          <p:cNvPr id="46" name="TextBox 45"/>
          <p:cNvSpPr txBox="1"/>
          <p:nvPr/>
        </p:nvSpPr>
        <p:spPr>
          <a:xfrm>
            <a:off x="5989320" y="3101655"/>
            <a:ext cx="3063240" cy="197490"/>
          </a:xfrm>
          <a:prstGeom prst="rect">
            <a:avLst/>
          </a:prstGeom>
          <a:noFill/>
        </p:spPr>
        <p:txBody>
          <a:bodyPr wrap="square" lIns="50800" tIns="25400" rIns="50800" bIns="25400" anchor="ctr">
            <a:spAutoFit/>
          </a:bodyPr>
          <a:lstStyle/>
          <a:p>
            <a:pPr algn="l"/>
            <a:r>
              <a:rPr sz="950" b="0">
                <a:solidFill>
                  <a:srgbClr val="4B5563"/>
                </a:solidFill>
                <a:latin typeface="Times New Roman" panose="02020603050405020304" pitchFamily="18" charset="0"/>
                <a:cs typeface="Times New Roman" panose="02020603050405020304" pitchFamily="18" charset="0"/>
              </a:rPr>
              <a:t>Findings</a:t>
            </a:r>
          </a:p>
        </p:txBody>
      </p:sp>
      <p:sp>
        <p:nvSpPr>
          <p:cNvPr id="47" name="Rounded Rectangle 46"/>
          <p:cNvSpPr/>
          <p:nvPr/>
        </p:nvSpPr>
        <p:spPr>
          <a:xfrm>
            <a:off x="5303520" y="3584448"/>
            <a:ext cx="3977639" cy="621792"/>
          </a:xfrm>
          <a:prstGeom prst="roundRect">
            <a:avLst/>
          </a:prstGeom>
          <a:solidFill>
            <a:srgbClr val="F6F8FC"/>
          </a:solidFill>
          <a:ln w="1016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8" name="Oval 47"/>
          <p:cNvSpPr/>
          <p:nvPr/>
        </p:nvSpPr>
        <p:spPr>
          <a:xfrm>
            <a:off x="5413248" y="3694176"/>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10</a:t>
            </a:r>
          </a:p>
        </p:txBody>
      </p:sp>
      <p:sp>
        <p:nvSpPr>
          <p:cNvPr id="49" name="TextBox 48"/>
          <p:cNvSpPr txBox="1"/>
          <p:nvPr/>
        </p:nvSpPr>
        <p:spPr>
          <a:xfrm>
            <a:off x="5870447" y="3667485"/>
            <a:ext cx="3300983" cy="266740"/>
          </a:xfrm>
          <a:prstGeom prst="rect">
            <a:avLst/>
          </a:prstGeom>
          <a:noFill/>
        </p:spPr>
        <p:txBody>
          <a:bodyPr wrap="square" lIns="50800" tIns="25400" rIns="50800" bIns="25400" anchor="ctr">
            <a:spAutoFit/>
          </a:bodyPr>
          <a:lstStyle/>
          <a:p>
            <a:pPr algn="l"/>
            <a:r>
              <a:rPr sz="1400" b="1" dirty="0">
                <a:solidFill>
                  <a:srgbClr val="1F3168"/>
                </a:solidFill>
                <a:latin typeface="Times New Roman" panose="02020603050405020304" pitchFamily="18" charset="0"/>
                <a:cs typeface="Times New Roman" panose="02020603050405020304" pitchFamily="18" charset="0"/>
              </a:rPr>
              <a:t>Implementation Workflow</a:t>
            </a:r>
          </a:p>
        </p:txBody>
      </p:sp>
      <p:sp>
        <p:nvSpPr>
          <p:cNvPr id="50" name="TextBox 49"/>
          <p:cNvSpPr txBox="1"/>
          <p:nvPr/>
        </p:nvSpPr>
        <p:spPr>
          <a:xfrm>
            <a:off x="5989320" y="3906327"/>
            <a:ext cx="3063240" cy="197490"/>
          </a:xfrm>
          <a:prstGeom prst="rect">
            <a:avLst/>
          </a:prstGeom>
          <a:noFill/>
        </p:spPr>
        <p:txBody>
          <a:bodyPr wrap="square" lIns="50800" tIns="25400" rIns="50800" bIns="25400" anchor="ctr">
            <a:spAutoFit/>
          </a:bodyPr>
          <a:lstStyle/>
          <a:p>
            <a:pPr algn="l"/>
            <a:r>
              <a:rPr sz="950" b="0">
                <a:solidFill>
                  <a:srgbClr val="4B5563"/>
                </a:solidFill>
                <a:latin typeface="Times New Roman" panose="02020603050405020304" pitchFamily="18" charset="0"/>
                <a:cs typeface="Times New Roman" panose="02020603050405020304" pitchFamily="18" charset="0"/>
              </a:rPr>
              <a:t>Project stages</a:t>
            </a:r>
          </a:p>
        </p:txBody>
      </p:sp>
      <p:sp>
        <p:nvSpPr>
          <p:cNvPr id="51" name="Rounded Rectangle 50"/>
          <p:cNvSpPr/>
          <p:nvPr/>
        </p:nvSpPr>
        <p:spPr>
          <a:xfrm>
            <a:off x="5303520" y="4389120"/>
            <a:ext cx="3977639" cy="621792"/>
          </a:xfrm>
          <a:prstGeom prst="roundRect">
            <a:avLst/>
          </a:prstGeom>
          <a:solidFill>
            <a:srgbClr val="F6F8FC"/>
          </a:solidFill>
          <a:ln w="1016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2" name="Oval 51"/>
          <p:cNvSpPr/>
          <p:nvPr/>
        </p:nvSpPr>
        <p:spPr>
          <a:xfrm>
            <a:off x="5413248" y="4498848"/>
            <a:ext cx="365760" cy="36576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11</a:t>
            </a:r>
          </a:p>
        </p:txBody>
      </p:sp>
      <p:sp>
        <p:nvSpPr>
          <p:cNvPr id="53" name="TextBox 52"/>
          <p:cNvSpPr txBox="1"/>
          <p:nvPr/>
        </p:nvSpPr>
        <p:spPr>
          <a:xfrm>
            <a:off x="5879592" y="4493494"/>
            <a:ext cx="3300983" cy="266740"/>
          </a:xfrm>
          <a:prstGeom prst="rect">
            <a:avLst/>
          </a:prstGeom>
          <a:noFill/>
        </p:spPr>
        <p:txBody>
          <a:bodyPr wrap="square" lIns="50800" tIns="25400" rIns="50800" bIns="25400" anchor="ctr">
            <a:spAutoFit/>
          </a:bodyPr>
          <a:lstStyle/>
          <a:p>
            <a:pPr algn="l"/>
            <a:r>
              <a:rPr sz="1400" b="1">
                <a:solidFill>
                  <a:srgbClr val="1F3168"/>
                </a:solidFill>
                <a:latin typeface="Times New Roman" panose="02020603050405020304" pitchFamily="18" charset="0"/>
                <a:cs typeface="Times New Roman" panose="02020603050405020304" pitchFamily="18" charset="0"/>
              </a:rPr>
              <a:t>Conclusion</a:t>
            </a:r>
          </a:p>
        </p:txBody>
      </p:sp>
      <p:sp>
        <p:nvSpPr>
          <p:cNvPr id="54" name="TextBox 53"/>
          <p:cNvSpPr txBox="1"/>
          <p:nvPr/>
        </p:nvSpPr>
        <p:spPr>
          <a:xfrm>
            <a:off x="5989320" y="4710999"/>
            <a:ext cx="3063240" cy="197490"/>
          </a:xfrm>
          <a:prstGeom prst="rect">
            <a:avLst/>
          </a:prstGeom>
          <a:noFill/>
        </p:spPr>
        <p:txBody>
          <a:bodyPr wrap="square" lIns="50800" tIns="25400" rIns="50800" bIns="25400" anchor="ctr">
            <a:spAutoFit/>
          </a:bodyPr>
          <a:lstStyle/>
          <a:p>
            <a:pPr algn="l"/>
            <a:r>
              <a:rPr sz="950" b="0">
                <a:solidFill>
                  <a:srgbClr val="4B5563"/>
                </a:solidFill>
                <a:latin typeface="Times New Roman" panose="02020603050405020304" pitchFamily="18" charset="0"/>
                <a:cs typeface="Times New Roman" panose="02020603050405020304" pitchFamily="18" charset="0"/>
              </a:rPr>
              <a:t>Summary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2667000" y="304800"/>
            <a:ext cx="5120640" cy="430887"/>
          </a:xfrm>
          <a:prstGeom prst="rect">
            <a:avLst/>
          </a:prstGeom>
          <a:noFill/>
        </p:spPr>
        <p:txBody>
          <a:bodyPr wrap="square" lIns="50800" tIns="25400" rIns="50800" bIns="25400">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PROBLEM UNDERSTANDING</a:t>
            </a:r>
          </a:p>
        </p:txBody>
      </p:sp>
      <p:sp>
        <p:nvSpPr>
          <p:cNvPr id="8" name="TextBox 7">
            <a:extLst>
              <a:ext uri="{FF2B5EF4-FFF2-40B4-BE49-F238E27FC236}">
                <a16:creationId xmlns:a16="http://schemas.microsoft.com/office/drawing/2014/main" id="{1620D87B-B677-5022-B21D-FC745DADC2AC}"/>
              </a:ext>
            </a:extLst>
          </p:cNvPr>
          <p:cNvSpPr txBox="1"/>
          <p:nvPr/>
        </p:nvSpPr>
        <p:spPr>
          <a:xfrm>
            <a:off x="758208" y="1267367"/>
            <a:ext cx="8766791" cy="4993931"/>
          </a:xfrm>
          <a:prstGeom prst="rect">
            <a:avLst/>
          </a:prstGeom>
          <a:noFill/>
        </p:spPr>
        <p:txBody>
          <a:bodyPr wrap="square">
            <a:spAutoFit/>
          </a:bodyPr>
          <a:lstStyle/>
          <a:p>
            <a:pPr>
              <a:lnSpc>
                <a:spcPct val="200000"/>
              </a:lnSpc>
              <a:buNone/>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IPL Player Performance Analysis</a:t>
            </a:r>
            <a:r>
              <a:rPr lang="en-IN" dirty="0">
                <a:latin typeface="Times New Roman" panose="02020603050405020304" pitchFamily="18" charset="0"/>
                <a:cs typeface="Times New Roman" panose="02020603050405020304" pitchFamily="18" charset="0"/>
              </a:rPr>
              <a:t> project focuses on handling large amounts of match-level and ball-by-ball data collected across multiple IPL seasons. The project aims to reduce the effort required for manual comparison of players and teams by using Python and data analysis techniques. Important performance metrics such as runs, wickets, batting performance, bowling performance, and match results can be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systematically. The data is validated and cleaned before analysis to improve the reliability of the results. Different player and team statistics can then be compared to identify performance patterns and trends. The final results are presented through tables and visualizations, making the analysis easier to understand and interpret.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0"/>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468880" y="216336"/>
            <a:ext cx="5120640" cy="389850"/>
          </a:xfrm>
          <a:prstGeom prst="rect">
            <a:avLst/>
          </a:prstGeom>
          <a:noFill/>
        </p:spPr>
        <p:txBody>
          <a:bodyPr wrap="square" lIns="50800" tIns="25400" rIns="50800" bIns="25400">
            <a:spAutoFit/>
          </a:bodyPr>
          <a:lstStyle/>
          <a:p>
            <a:pPr algn="ctr">
              <a:spcAft>
                <a:spcPts val="700"/>
              </a:spcAft>
              <a:defRPr sz="2200" b="1">
                <a:solidFill>
                  <a:srgbClr val="233464"/>
                </a:solidFill>
                <a:latin typeface="Aptos"/>
              </a:defRPr>
            </a:pPr>
            <a:r>
              <a:rPr dirty="0">
                <a:solidFill>
                  <a:schemeClr val="bg1"/>
                </a:solidFill>
                <a:latin typeface="Times New Roman" panose="02020603050405020304" pitchFamily="18" charset="0"/>
                <a:cs typeface="Times New Roman" pitchFamily="18" charset="0"/>
              </a:rPr>
              <a:t>Introduction</a:t>
            </a:r>
          </a:p>
        </p:txBody>
      </p:sp>
      <p:sp>
        <p:nvSpPr>
          <p:cNvPr id="19" name="Rounded Rectangle 18"/>
          <p:cNvSpPr/>
          <p:nvPr/>
        </p:nvSpPr>
        <p:spPr>
          <a:xfrm>
            <a:off x="658368" y="1417320"/>
            <a:ext cx="4160520" cy="1874519"/>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Rounded Rectangle 19"/>
          <p:cNvSpPr/>
          <p:nvPr/>
        </p:nvSpPr>
        <p:spPr>
          <a:xfrm>
            <a:off x="676656" y="1508760"/>
            <a:ext cx="82296" cy="1691639"/>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Oval 20"/>
          <p:cNvSpPr/>
          <p:nvPr/>
        </p:nvSpPr>
        <p:spPr>
          <a:xfrm>
            <a:off x="914400" y="1581912"/>
            <a:ext cx="347472" cy="347472"/>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dirty="0">
                <a:solidFill>
                  <a:srgbClr val="FFFFFF"/>
                </a:solidFill>
                <a:latin typeface="Times New Roman" panose="02020603050405020304" pitchFamily="18" charset="0"/>
                <a:cs typeface="Times New Roman" panose="02020603050405020304" pitchFamily="18" charset="0"/>
              </a:rPr>
              <a:t>1</a:t>
            </a:r>
          </a:p>
        </p:txBody>
      </p:sp>
      <p:sp>
        <p:nvSpPr>
          <p:cNvPr id="22" name="TextBox 21"/>
          <p:cNvSpPr txBox="1"/>
          <p:nvPr/>
        </p:nvSpPr>
        <p:spPr>
          <a:xfrm>
            <a:off x="1298448" y="1616033"/>
            <a:ext cx="3355848" cy="297517"/>
          </a:xfrm>
          <a:prstGeom prst="rect">
            <a:avLst/>
          </a:prstGeom>
          <a:noFill/>
        </p:spPr>
        <p:txBody>
          <a:bodyPr wrap="square" lIns="50800" tIns="25400" rIns="50800" bIns="25400" anchor="ctr">
            <a:spAutoFit/>
          </a:bodyPr>
          <a:lstStyle/>
          <a:p>
            <a:pPr algn="l"/>
            <a:r>
              <a:rPr sz="1600" b="1">
                <a:solidFill>
                  <a:srgbClr val="1F3168"/>
                </a:solidFill>
                <a:latin typeface="Times New Roman" panose="02020603050405020304" pitchFamily="18" charset="0"/>
                <a:cs typeface="Times New Roman" panose="02020603050405020304" pitchFamily="18" charset="0"/>
              </a:rPr>
              <a:t>Rich Match Data</a:t>
            </a:r>
          </a:p>
        </p:txBody>
      </p:sp>
      <p:sp>
        <p:nvSpPr>
          <p:cNvPr id="23" name="TextBox 22"/>
          <p:cNvSpPr txBox="1"/>
          <p:nvPr/>
        </p:nvSpPr>
        <p:spPr>
          <a:xfrm>
            <a:off x="877824" y="2412341"/>
            <a:ext cx="3721608" cy="451406"/>
          </a:xfrm>
          <a:prstGeom prst="rect">
            <a:avLst/>
          </a:prstGeom>
          <a:noFill/>
        </p:spPr>
        <p:txBody>
          <a:bodyPr wrap="square" lIns="50800" tIns="25400" rIns="50800" bIns="25400" anchor="ctr">
            <a:spAutoFit/>
          </a:bodyPr>
          <a:lstStyle/>
          <a:p>
            <a:pPr algn="l"/>
            <a:r>
              <a:rPr sz="1300" b="0">
                <a:solidFill>
                  <a:srgbClr val="2D333E"/>
                </a:solidFill>
                <a:latin typeface="Times New Roman" panose="02020603050405020304" pitchFamily="18" charset="0"/>
                <a:cs typeface="Times New Roman" panose="02020603050405020304" pitchFamily="18" charset="0"/>
              </a:rPr>
              <a:t>The IPL dataset includes match details and ball-by-ball events across seasons.</a:t>
            </a:r>
          </a:p>
        </p:txBody>
      </p:sp>
      <p:sp>
        <p:nvSpPr>
          <p:cNvPr id="24" name="Rounded Rectangle 23"/>
          <p:cNvSpPr/>
          <p:nvPr/>
        </p:nvSpPr>
        <p:spPr>
          <a:xfrm>
            <a:off x="4956048" y="1417320"/>
            <a:ext cx="4160520" cy="1874519"/>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Rounded Rectangle 24"/>
          <p:cNvSpPr/>
          <p:nvPr/>
        </p:nvSpPr>
        <p:spPr>
          <a:xfrm>
            <a:off x="4974336" y="1508760"/>
            <a:ext cx="82296" cy="1691639"/>
          </a:xfrm>
          <a:prstGeom prst="roundRect">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Oval 25"/>
          <p:cNvSpPr/>
          <p:nvPr/>
        </p:nvSpPr>
        <p:spPr>
          <a:xfrm>
            <a:off x="5157216" y="1581912"/>
            <a:ext cx="347472" cy="347472"/>
          </a:xfrm>
          <a:prstGeom prst="ellipse">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dirty="0">
                <a:solidFill>
                  <a:srgbClr val="FFFFFF"/>
                </a:solidFill>
                <a:latin typeface="Times New Roman" panose="02020603050405020304" pitchFamily="18" charset="0"/>
                <a:cs typeface="Times New Roman" panose="02020603050405020304" pitchFamily="18" charset="0"/>
              </a:rPr>
              <a:t>2</a:t>
            </a:r>
          </a:p>
        </p:txBody>
      </p:sp>
      <p:sp>
        <p:nvSpPr>
          <p:cNvPr id="27" name="TextBox 26"/>
          <p:cNvSpPr txBox="1"/>
          <p:nvPr/>
        </p:nvSpPr>
        <p:spPr>
          <a:xfrm>
            <a:off x="5596128" y="1616033"/>
            <a:ext cx="3355848" cy="297517"/>
          </a:xfrm>
          <a:prstGeom prst="rect">
            <a:avLst/>
          </a:prstGeom>
          <a:noFill/>
        </p:spPr>
        <p:txBody>
          <a:bodyPr wrap="square" lIns="50800" tIns="25400" rIns="50800" bIns="25400" anchor="ctr">
            <a:spAutoFit/>
          </a:bodyPr>
          <a:lstStyle/>
          <a:p>
            <a:pPr algn="l"/>
            <a:r>
              <a:rPr sz="1600" b="1">
                <a:solidFill>
                  <a:srgbClr val="1F3168"/>
                </a:solidFill>
                <a:latin typeface="Times New Roman" panose="02020603050405020304" pitchFamily="18" charset="0"/>
                <a:cs typeface="Times New Roman" panose="02020603050405020304" pitchFamily="18" charset="0"/>
              </a:rPr>
              <a:t>Multiple Influences</a:t>
            </a:r>
          </a:p>
        </p:txBody>
      </p:sp>
      <p:sp>
        <p:nvSpPr>
          <p:cNvPr id="28" name="TextBox 27"/>
          <p:cNvSpPr txBox="1"/>
          <p:nvPr/>
        </p:nvSpPr>
        <p:spPr>
          <a:xfrm>
            <a:off x="5175504" y="2412341"/>
            <a:ext cx="3721608" cy="451406"/>
          </a:xfrm>
          <a:prstGeom prst="rect">
            <a:avLst/>
          </a:prstGeom>
          <a:noFill/>
        </p:spPr>
        <p:txBody>
          <a:bodyPr wrap="square" lIns="50800" tIns="25400" rIns="50800" bIns="25400" anchor="ctr">
            <a:spAutoFit/>
          </a:bodyPr>
          <a:lstStyle/>
          <a:p>
            <a:pPr algn="l"/>
            <a:r>
              <a:rPr sz="1300" b="0">
                <a:solidFill>
                  <a:srgbClr val="2D333E"/>
                </a:solidFill>
                <a:latin typeface="Times New Roman" panose="02020603050405020304" pitchFamily="18" charset="0"/>
                <a:cs typeface="Times New Roman" panose="02020603050405020304" pitchFamily="18" charset="0"/>
              </a:rPr>
              <a:t>Batting, bowling, team context, and match conditions all affect performance.</a:t>
            </a:r>
          </a:p>
        </p:txBody>
      </p:sp>
      <p:sp>
        <p:nvSpPr>
          <p:cNvPr id="29" name="Rounded Rectangle 28"/>
          <p:cNvSpPr/>
          <p:nvPr/>
        </p:nvSpPr>
        <p:spPr>
          <a:xfrm>
            <a:off x="658368" y="3584448"/>
            <a:ext cx="4160520" cy="1874519"/>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Rounded Rectangle 29"/>
          <p:cNvSpPr/>
          <p:nvPr/>
        </p:nvSpPr>
        <p:spPr>
          <a:xfrm>
            <a:off x="676656" y="3675887"/>
            <a:ext cx="82296" cy="1691639"/>
          </a:xfrm>
          <a:prstGeom prst="roundRect">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Oval 30"/>
          <p:cNvSpPr/>
          <p:nvPr/>
        </p:nvSpPr>
        <p:spPr>
          <a:xfrm>
            <a:off x="859536" y="3749039"/>
            <a:ext cx="347472" cy="347472"/>
          </a:xfrm>
          <a:prstGeom prst="ellipse">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dirty="0">
                <a:solidFill>
                  <a:srgbClr val="FFFFFF"/>
                </a:solidFill>
                <a:latin typeface="Times New Roman" panose="02020603050405020304" pitchFamily="18" charset="0"/>
                <a:cs typeface="Times New Roman" panose="02020603050405020304" pitchFamily="18" charset="0"/>
              </a:rPr>
              <a:t>3</a:t>
            </a:r>
          </a:p>
        </p:txBody>
      </p:sp>
      <p:sp>
        <p:nvSpPr>
          <p:cNvPr id="32" name="TextBox 31"/>
          <p:cNvSpPr txBox="1"/>
          <p:nvPr/>
        </p:nvSpPr>
        <p:spPr>
          <a:xfrm>
            <a:off x="1298448" y="3783160"/>
            <a:ext cx="3355848" cy="297517"/>
          </a:xfrm>
          <a:prstGeom prst="rect">
            <a:avLst/>
          </a:prstGeom>
          <a:noFill/>
        </p:spPr>
        <p:txBody>
          <a:bodyPr wrap="square" lIns="50800" tIns="25400" rIns="50800" bIns="25400" anchor="ctr">
            <a:spAutoFit/>
          </a:bodyPr>
          <a:lstStyle/>
          <a:p>
            <a:pPr algn="l"/>
            <a:r>
              <a:rPr sz="1600" b="1">
                <a:solidFill>
                  <a:srgbClr val="1F3168"/>
                </a:solidFill>
                <a:latin typeface="Times New Roman" panose="02020603050405020304" pitchFamily="18" charset="0"/>
                <a:cs typeface="Times New Roman" panose="02020603050405020304" pitchFamily="18" charset="0"/>
              </a:rPr>
              <a:t>Organize First</a:t>
            </a:r>
          </a:p>
        </p:txBody>
      </p:sp>
      <p:sp>
        <p:nvSpPr>
          <p:cNvPr id="33" name="TextBox 32"/>
          <p:cNvSpPr txBox="1"/>
          <p:nvPr/>
        </p:nvSpPr>
        <p:spPr>
          <a:xfrm>
            <a:off x="877824" y="4579469"/>
            <a:ext cx="3721608" cy="451406"/>
          </a:xfrm>
          <a:prstGeom prst="rect">
            <a:avLst/>
          </a:prstGeom>
          <a:noFill/>
        </p:spPr>
        <p:txBody>
          <a:bodyPr wrap="square" lIns="50800" tIns="25400" rIns="50800" bIns="25400" anchor="ctr">
            <a:spAutoFit/>
          </a:bodyPr>
          <a:lstStyle/>
          <a:p>
            <a:pPr algn="l"/>
            <a:r>
              <a:rPr sz="1300" b="0">
                <a:solidFill>
                  <a:srgbClr val="2D333E"/>
                </a:solidFill>
                <a:latin typeface="Times New Roman" panose="02020603050405020304" pitchFamily="18" charset="0"/>
                <a:cs typeface="Times New Roman" panose="02020603050405020304" pitchFamily="18" charset="0"/>
              </a:rPr>
              <a:t>Raw records need cleaning and consistent labels before meaningful comparison.</a:t>
            </a:r>
          </a:p>
        </p:txBody>
      </p:sp>
      <p:sp>
        <p:nvSpPr>
          <p:cNvPr id="34" name="Rounded Rectangle 33"/>
          <p:cNvSpPr/>
          <p:nvPr/>
        </p:nvSpPr>
        <p:spPr>
          <a:xfrm>
            <a:off x="4956048" y="3584448"/>
            <a:ext cx="4160520" cy="1874519"/>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Rounded Rectangle 34"/>
          <p:cNvSpPr/>
          <p:nvPr/>
        </p:nvSpPr>
        <p:spPr>
          <a:xfrm>
            <a:off x="4974336" y="3675887"/>
            <a:ext cx="82296" cy="1691639"/>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Oval 35"/>
          <p:cNvSpPr/>
          <p:nvPr/>
        </p:nvSpPr>
        <p:spPr>
          <a:xfrm>
            <a:off x="5157216" y="3749039"/>
            <a:ext cx="347472" cy="347472"/>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dirty="0">
                <a:solidFill>
                  <a:srgbClr val="FFFFFF"/>
                </a:solidFill>
                <a:latin typeface="Times New Roman" panose="02020603050405020304" pitchFamily="18" charset="0"/>
                <a:cs typeface="Times New Roman" panose="02020603050405020304" pitchFamily="18" charset="0"/>
              </a:rPr>
              <a:t>4</a:t>
            </a:r>
          </a:p>
        </p:txBody>
      </p:sp>
      <p:sp>
        <p:nvSpPr>
          <p:cNvPr id="37" name="TextBox 36"/>
          <p:cNvSpPr txBox="1"/>
          <p:nvPr/>
        </p:nvSpPr>
        <p:spPr>
          <a:xfrm>
            <a:off x="5596128" y="3783160"/>
            <a:ext cx="3355848" cy="297517"/>
          </a:xfrm>
          <a:prstGeom prst="rect">
            <a:avLst/>
          </a:prstGeom>
          <a:noFill/>
        </p:spPr>
        <p:txBody>
          <a:bodyPr wrap="square" lIns="50800" tIns="25400" rIns="50800" bIns="25400" anchor="ctr">
            <a:spAutoFit/>
          </a:bodyPr>
          <a:lstStyle/>
          <a:p>
            <a:pPr algn="l"/>
            <a:r>
              <a:rPr sz="1600" b="1">
                <a:solidFill>
                  <a:srgbClr val="1F3168"/>
                </a:solidFill>
                <a:latin typeface="Times New Roman" panose="02020603050405020304" pitchFamily="18" charset="0"/>
                <a:cs typeface="Times New Roman" panose="02020603050405020304" pitchFamily="18" charset="0"/>
              </a:rPr>
              <a:t>Explore Visually</a:t>
            </a:r>
          </a:p>
        </p:txBody>
      </p:sp>
      <p:sp>
        <p:nvSpPr>
          <p:cNvPr id="38" name="TextBox 37"/>
          <p:cNvSpPr txBox="1"/>
          <p:nvPr/>
        </p:nvSpPr>
        <p:spPr>
          <a:xfrm>
            <a:off x="5175504" y="4579469"/>
            <a:ext cx="3721608" cy="451406"/>
          </a:xfrm>
          <a:prstGeom prst="rect">
            <a:avLst/>
          </a:prstGeom>
          <a:noFill/>
        </p:spPr>
        <p:txBody>
          <a:bodyPr wrap="square" lIns="50800" tIns="25400" rIns="50800" bIns="25400" anchor="ctr">
            <a:spAutoFit/>
          </a:bodyPr>
          <a:lstStyle/>
          <a:p>
            <a:pPr algn="l"/>
            <a:r>
              <a:rPr sz="1300" b="0">
                <a:solidFill>
                  <a:srgbClr val="2D333E"/>
                </a:solidFill>
                <a:latin typeface="Times New Roman" panose="02020603050405020304" pitchFamily="18" charset="0"/>
                <a:cs typeface="Times New Roman" panose="02020603050405020304" pitchFamily="18" charset="0"/>
              </a:rPr>
              <a:t>Charts help communicate player, team, and match trends clearly.</a:t>
            </a: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667000" y="304800"/>
            <a:ext cx="5181600" cy="389850"/>
          </a:xfrm>
          <a:prstGeom prst="rect">
            <a:avLst/>
          </a:prstGeom>
          <a:noFill/>
        </p:spPr>
        <p:txBody>
          <a:bodyPr wrap="square" lIns="50800" tIns="25400" rIns="50800" bIns="25400">
            <a:spAutoFit/>
          </a:bodyPr>
          <a:lstStyle/>
          <a:p>
            <a:pPr algn="ctr">
              <a:spcAft>
                <a:spcPts val="700"/>
              </a:spcAft>
              <a:defRPr sz="2200" b="1">
                <a:solidFill>
                  <a:srgbClr val="233464"/>
                </a:solidFill>
                <a:latin typeface="Aptos"/>
              </a:defRPr>
            </a:pPr>
            <a:r>
              <a:rPr dirty="0">
                <a:solidFill>
                  <a:schemeClr val="bg1"/>
                </a:solidFill>
                <a:latin typeface="Times New Roman" panose="02020603050405020304" pitchFamily="18" charset="0"/>
                <a:cs typeface="Times New Roman" pitchFamily="18" charset="0"/>
              </a:rPr>
              <a:t>Current / Manual Approach</a:t>
            </a:r>
          </a:p>
        </p:txBody>
      </p:sp>
      <p:sp>
        <p:nvSpPr>
          <p:cNvPr id="19" name="Rounded Rectangle 18"/>
          <p:cNvSpPr/>
          <p:nvPr/>
        </p:nvSpPr>
        <p:spPr>
          <a:xfrm>
            <a:off x="658368" y="1417320"/>
            <a:ext cx="4160520" cy="1874519"/>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Rounded Rectangle 19"/>
          <p:cNvSpPr/>
          <p:nvPr/>
        </p:nvSpPr>
        <p:spPr>
          <a:xfrm>
            <a:off x="676656" y="1508760"/>
            <a:ext cx="82296" cy="1691639"/>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Oval 20"/>
          <p:cNvSpPr/>
          <p:nvPr/>
        </p:nvSpPr>
        <p:spPr>
          <a:xfrm>
            <a:off x="859536" y="1581912"/>
            <a:ext cx="347472" cy="347472"/>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dirty="0">
                <a:solidFill>
                  <a:srgbClr val="FFFFFF"/>
                </a:solidFill>
                <a:latin typeface="Times New Roman" panose="02020603050405020304" pitchFamily="18" charset="0"/>
                <a:cs typeface="Times New Roman" panose="02020603050405020304" pitchFamily="18" charset="0"/>
              </a:rPr>
              <a:t>1</a:t>
            </a:r>
          </a:p>
        </p:txBody>
      </p:sp>
      <p:sp>
        <p:nvSpPr>
          <p:cNvPr id="22" name="TextBox 21"/>
          <p:cNvSpPr txBox="1"/>
          <p:nvPr/>
        </p:nvSpPr>
        <p:spPr>
          <a:xfrm>
            <a:off x="1298448" y="1616033"/>
            <a:ext cx="3355848" cy="297517"/>
          </a:xfrm>
          <a:prstGeom prst="rect">
            <a:avLst/>
          </a:prstGeom>
          <a:noFill/>
        </p:spPr>
        <p:txBody>
          <a:bodyPr wrap="square" lIns="50800" tIns="25400" rIns="50800" bIns="25400" anchor="ctr">
            <a:spAutoFit/>
          </a:bodyPr>
          <a:lstStyle/>
          <a:p>
            <a:pPr algn="l"/>
            <a:r>
              <a:rPr sz="1600" b="1">
                <a:solidFill>
                  <a:srgbClr val="1F3168"/>
                </a:solidFill>
                <a:latin typeface="Times New Roman" panose="02020603050405020304" pitchFamily="18" charset="0"/>
                <a:cs typeface="Times New Roman" panose="02020603050405020304" pitchFamily="18" charset="0"/>
              </a:rPr>
              <a:t>Scattered Files</a:t>
            </a:r>
          </a:p>
        </p:txBody>
      </p:sp>
      <p:sp>
        <p:nvSpPr>
          <p:cNvPr id="23" name="TextBox 22"/>
          <p:cNvSpPr txBox="1"/>
          <p:nvPr/>
        </p:nvSpPr>
        <p:spPr>
          <a:xfrm>
            <a:off x="877824" y="2412341"/>
            <a:ext cx="3721608" cy="451406"/>
          </a:xfrm>
          <a:prstGeom prst="rect">
            <a:avLst/>
          </a:prstGeom>
          <a:noFill/>
        </p:spPr>
        <p:txBody>
          <a:bodyPr wrap="square" lIns="50800" tIns="25400" rIns="50800" bIns="25400" anchor="ctr">
            <a:spAutoFit/>
          </a:bodyPr>
          <a:lstStyle/>
          <a:p>
            <a:pPr algn="l"/>
            <a:r>
              <a:rPr sz="1300" b="0">
                <a:solidFill>
                  <a:srgbClr val="2D333E"/>
                </a:solidFill>
                <a:latin typeface="Times New Roman" panose="02020603050405020304" pitchFamily="18" charset="0"/>
                <a:cs typeface="Times New Roman" panose="02020603050405020304" pitchFamily="18" charset="0"/>
              </a:rPr>
              <a:t>Statistics are spread across match, delivery, player, and team data files.</a:t>
            </a:r>
          </a:p>
        </p:txBody>
      </p:sp>
      <p:sp>
        <p:nvSpPr>
          <p:cNvPr id="24" name="Rounded Rectangle 23"/>
          <p:cNvSpPr/>
          <p:nvPr/>
        </p:nvSpPr>
        <p:spPr>
          <a:xfrm>
            <a:off x="4956048" y="1417320"/>
            <a:ext cx="4160520" cy="1874519"/>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Rounded Rectangle 24"/>
          <p:cNvSpPr/>
          <p:nvPr/>
        </p:nvSpPr>
        <p:spPr>
          <a:xfrm>
            <a:off x="4974336" y="1508760"/>
            <a:ext cx="82296" cy="1691639"/>
          </a:xfrm>
          <a:prstGeom prst="roundRect">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Oval 25"/>
          <p:cNvSpPr/>
          <p:nvPr/>
        </p:nvSpPr>
        <p:spPr>
          <a:xfrm>
            <a:off x="5157216" y="1581912"/>
            <a:ext cx="347472" cy="347472"/>
          </a:xfrm>
          <a:prstGeom prst="ellipse">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dirty="0">
                <a:solidFill>
                  <a:srgbClr val="FFFFFF"/>
                </a:solidFill>
                <a:latin typeface="Times New Roman" panose="02020603050405020304" pitchFamily="18" charset="0"/>
                <a:cs typeface="Times New Roman" panose="02020603050405020304" pitchFamily="18" charset="0"/>
              </a:rPr>
              <a:t>2</a:t>
            </a:r>
          </a:p>
        </p:txBody>
      </p:sp>
      <p:sp>
        <p:nvSpPr>
          <p:cNvPr id="27" name="TextBox 26"/>
          <p:cNvSpPr txBox="1"/>
          <p:nvPr/>
        </p:nvSpPr>
        <p:spPr>
          <a:xfrm>
            <a:off x="5596128" y="1616033"/>
            <a:ext cx="3355848" cy="297517"/>
          </a:xfrm>
          <a:prstGeom prst="rect">
            <a:avLst/>
          </a:prstGeom>
          <a:noFill/>
        </p:spPr>
        <p:txBody>
          <a:bodyPr wrap="square" lIns="50800" tIns="25400" rIns="50800" bIns="25400" anchor="ctr">
            <a:spAutoFit/>
          </a:bodyPr>
          <a:lstStyle/>
          <a:p>
            <a:pPr algn="l"/>
            <a:r>
              <a:rPr sz="1600" b="1">
                <a:solidFill>
                  <a:srgbClr val="1F3168"/>
                </a:solidFill>
                <a:latin typeface="Times New Roman" panose="02020603050405020304" pitchFamily="18" charset="0"/>
                <a:cs typeface="Times New Roman" panose="02020603050405020304" pitchFamily="18" charset="0"/>
              </a:rPr>
              <a:t>Time-Consuming Review</a:t>
            </a:r>
          </a:p>
        </p:txBody>
      </p:sp>
      <p:sp>
        <p:nvSpPr>
          <p:cNvPr id="28" name="TextBox 27"/>
          <p:cNvSpPr txBox="1"/>
          <p:nvPr/>
        </p:nvSpPr>
        <p:spPr>
          <a:xfrm>
            <a:off x="5175504" y="2412341"/>
            <a:ext cx="3721608" cy="451406"/>
          </a:xfrm>
          <a:prstGeom prst="rect">
            <a:avLst/>
          </a:prstGeom>
          <a:noFill/>
        </p:spPr>
        <p:txBody>
          <a:bodyPr wrap="square" lIns="50800" tIns="25400" rIns="50800" bIns="25400" anchor="ctr">
            <a:spAutoFit/>
          </a:bodyPr>
          <a:lstStyle/>
          <a:p>
            <a:pPr algn="l"/>
            <a:r>
              <a:rPr sz="1300" b="0">
                <a:solidFill>
                  <a:srgbClr val="2D333E"/>
                </a:solidFill>
                <a:latin typeface="Times New Roman" panose="02020603050405020304" pitchFamily="18" charset="0"/>
                <a:cs typeface="Times New Roman" panose="02020603050405020304" pitchFamily="18" charset="0"/>
              </a:rPr>
              <a:t>Inspecting hundreds of thousands of deliveries manually is slow.</a:t>
            </a:r>
          </a:p>
        </p:txBody>
      </p:sp>
      <p:sp>
        <p:nvSpPr>
          <p:cNvPr id="29" name="Rounded Rectangle 28"/>
          <p:cNvSpPr/>
          <p:nvPr/>
        </p:nvSpPr>
        <p:spPr>
          <a:xfrm>
            <a:off x="658368" y="3584448"/>
            <a:ext cx="4160520" cy="1874519"/>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Rounded Rectangle 29"/>
          <p:cNvSpPr/>
          <p:nvPr/>
        </p:nvSpPr>
        <p:spPr>
          <a:xfrm>
            <a:off x="676656" y="3675887"/>
            <a:ext cx="82296" cy="1691639"/>
          </a:xfrm>
          <a:prstGeom prst="roundRect">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Oval 30"/>
          <p:cNvSpPr/>
          <p:nvPr/>
        </p:nvSpPr>
        <p:spPr>
          <a:xfrm>
            <a:off x="859536" y="3749039"/>
            <a:ext cx="347472" cy="347472"/>
          </a:xfrm>
          <a:prstGeom prst="ellipse">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dirty="0">
                <a:solidFill>
                  <a:srgbClr val="FFFFFF"/>
                </a:solidFill>
                <a:latin typeface="Times New Roman" panose="02020603050405020304" pitchFamily="18" charset="0"/>
                <a:cs typeface="Times New Roman" panose="02020603050405020304" pitchFamily="18" charset="0"/>
              </a:rPr>
              <a:t>3</a:t>
            </a:r>
          </a:p>
        </p:txBody>
      </p:sp>
      <p:sp>
        <p:nvSpPr>
          <p:cNvPr id="32" name="TextBox 31"/>
          <p:cNvSpPr txBox="1"/>
          <p:nvPr/>
        </p:nvSpPr>
        <p:spPr>
          <a:xfrm>
            <a:off x="1298448" y="3783160"/>
            <a:ext cx="3355848" cy="297517"/>
          </a:xfrm>
          <a:prstGeom prst="rect">
            <a:avLst/>
          </a:prstGeom>
          <a:noFill/>
        </p:spPr>
        <p:txBody>
          <a:bodyPr wrap="square" lIns="50800" tIns="25400" rIns="50800" bIns="25400" anchor="ctr">
            <a:spAutoFit/>
          </a:bodyPr>
          <a:lstStyle/>
          <a:p>
            <a:pPr algn="l"/>
            <a:r>
              <a:rPr sz="1600" b="1">
                <a:solidFill>
                  <a:srgbClr val="1F3168"/>
                </a:solidFill>
                <a:latin typeface="Times New Roman" panose="02020603050405020304" pitchFamily="18" charset="0"/>
                <a:cs typeface="Times New Roman" panose="02020603050405020304" pitchFamily="18" charset="0"/>
              </a:rPr>
              <a:t>Difficult Comparisons</a:t>
            </a:r>
          </a:p>
        </p:txBody>
      </p:sp>
      <p:sp>
        <p:nvSpPr>
          <p:cNvPr id="33" name="TextBox 32"/>
          <p:cNvSpPr txBox="1"/>
          <p:nvPr/>
        </p:nvSpPr>
        <p:spPr>
          <a:xfrm>
            <a:off x="877824" y="4579469"/>
            <a:ext cx="3721608" cy="451406"/>
          </a:xfrm>
          <a:prstGeom prst="rect">
            <a:avLst/>
          </a:prstGeom>
          <a:noFill/>
        </p:spPr>
        <p:txBody>
          <a:bodyPr wrap="square" lIns="50800" tIns="25400" rIns="50800" bIns="25400" anchor="ctr">
            <a:spAutoFit/>
          </a:bodyPr>
          <a:lstStyle/>
          <a:p>
            <a:pPr algn="l"/>
            <a:r>
              <a:rPr sz="1300" b="0">
                <a:solidFill>
                  <a:srgbClr val="2D333E"/>
                </a:solidFill>
                <a:latin typeface="Times New Roman" panose="02020603050405020304" pitchFamily="18" charset="0"/>
                <a:cs typeface="Times New Roman" panose="02020603050405020304" pitchFamily="18" charset="0"/>
              </a:rPr>
              <a:t>Season-by-season comparisons require repeated filtering and calculations.</a:t>
            </a:r>
          </a:p>
        </p:txBody>
      </p:sp>
      <p:sp>
        <p:nvSpPr>
          <p:cNvPr id="34" name="Rounded Rectangle 33"/>
          <p:cNvSpPr/>
          <p:nvPr/>
        </p:nvSpPr>
        <p:spPr>
          <a:xfrm>
            <a:off x="4956048" y="3584448"/>
            <a:ext cx="4160520" cy="1874519"/>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Rounded Rectangle 34"/>
          <p:cNvSpPr/>
          <p:nvPr/>
        </p:nvSpPr>
        <p:spPr>
          <a:xfrm>
            <a:off x="4974336" y="3675887"/>
            <a:ext cx="82296" cy="1691639"/>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Oval 35"/>
          <p:cNvSpPr/>
          <p:nvPr/>
        </p:nvSpPr>
        <p:spPr>
          <a:xfrm>
            <a:off x="5157216" y="3749039"/>
            <a:ext cx="347472" cy="347472"/>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dirty="0">
                <a:solidFill>
                  <a:srgbClr val="FFFFFF"/>
                </a:solidFill>
                <a:latin typeface="Times New Roman" panose="02020603050405020304" pitchFamily="18" charset="0"/>
                <a:cs typeface="Times New Roman" panose="02020603050405020304" pitchFamily="18" charset="0"/>
              </a:rPr>
              <a:t>4</a:t>
            </a:r>
          </a:p>
        </p:txBody>
      </p:sp>
      <p:sp>
        <p:nvSpPr>
          <p:cNvPr id="37" name="TextBox 36"/>
          <p:cNvSpPr txBox="1"/>
          <p:nvPr/>
        </p:nvSpPr>
        <p:spPr>
          <a:xfrm>
            <a:off x="5596128" y="3783160"/>
            <a:ext cx="3355848" cy="297517"/>
          </a:xfrm>
          <a:prstGeom prst="rect">
            <a:avLst/>
          </a:prstGeom>
          <a:noFill/>
        </p:spPr>
        <p:txBody>
          <a:bodyPr wrap="square" lIns="50800" tIns="25400" rIns="50800" bIns="25400" anchor="ctr">
            <a:spAutoFit/>
          </a:bodyPr>
          <a:lstStyle/>
          <a:p>
            <a:pPr algn="l"/>
            <a:r>
              <a:rPr sz="1600" b="1">
                <a:solidFill>
                  <a:srgbClr val="1F3168"/>
                </a:solidFill>
                <a:latin typeface="Times New Roman" panose="02020603050405020304" pitchFamily="18" charset="0"/>
                <a:cs typeface="Times New Roman" panose="02020603050405020304" pitchFamily="18" charset="0"/>
              </a:rPr>
              <a:t>Limited Overview</a:t>
            </a:r>
          </a:p>
        </p:txBody>
      </p:sp>
      <p:sp>
        <p:nvSpPr>
          <p:cNvPr id="38" name="TextBox 37"/>
          <p:cNvSpPr txBox="1"/>
          <p:nvPr/>
        </p:nvSpPr>
        <p:spPr>
          <a:xfrm>
            <a:off x="5175504" y="4579469"/>
            <a:ext cx="3721608" cy="451406"/>
          </a:xfrm>
          <a:prstGeom prst="rect">
            <a:avLst/>
          </a:prstGeom>
          <a:noFill/>
        </p:spPr>
        <p:txBody>
          <a:bodyPr wrap="square" lIns="50800" tIns="25400" rIns="50800" bIns="25400" anchor="ctr">
            <a:spAutoFit/>
          </a:bodyPr>
          <a:lstStyle/>
          <a:p>
            <a:pPr algn="l"/>
            <a:r>
              <a:rPr sz="1300" b="0">
                <a:solidFill>
                  <a:srgbClr val="2D333E"/>
                </a:solidFill>
                <a:latin typeface="Times New Roman" panose="02020603050405020304" pitchFamily="18" charset="0"/>
                <a:cs typeface="Times New Roman" panose="02020603050405020304" pitchFamily="18" charset="0"/>
              </a:rPr>
              <a:t>Raw tables make patterns and unusual performances harder to spot.</a:t>
            </a:r>
          </a:p>
        </p:txBody>
      </p:sp>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5B758792-840A-895D-A2CD-A09955CC1720}"/>
              </a:ext>
            </a:extLst>
          </p:cNvPr>
          <p:cNvGrpSpPr/>
          <p:nvPr/>
        </p:nvGrpSpPr>
        <p:grpSpPr>
          <a:xfrm>
            <a:off x="2743200" y="0"/>
            <a:ext cx="5103904" cy="1198311"/>
            <a:chOff x="2648188" y="47148"/>
            <a:chExt cx="5103904" cy="1198311"/>
          </a:xfrm>
        </p:grpSpPr>
        <p:pic>
          <p:nvPicPr>
            <p:cNvPr id="3" name="object 4">
              <a:extLst>
                <a:ext uri="{FF2B5EF4-FFF2-40B4-BE49-F238E27FC236}">
                  <a16:creationId xmlns:a16="http://schemas.microsoft.com/office/drawing/2014/main" id="{E290B6E4-4C6A-D92F-FFFC-B388B7843517}"/>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7F4EE37-279F-308C-F87F-6E638DA19370}"/>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8ED23BED-35EB-2EF2-62D6-17D1E3CB000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2F06FBF5-D468-2472-2E09-3659EB0BF5E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18" name="TextBox 17"/>
          <p:cNvSpPr txBox="1"/>
          <p:nvPr/>
        </p:nvSpPr>
        <p:spPr>
          <a:xfrm>
            <a:off x="2743200" y="256032"/>
            <a:ext cx="5120640" cy="389850"/>
          </a:xfrm>
          <a:prstGeom prst="rect">
            <a:avLst/>
          </a:prstGeom>
          <a:noFill/>
        </p:spPr>
        <p:txBody>
          <a:bodyPr wrap="square" lIns="50800" tIns="25400" rIns="50800" bIns="25400">
            <a:spAutoFit/>
          </a:bodyPr>
          <a:lstStyle/>
          <a:p>
            <a:pPr algn="ctr">
              <a:spcAft>
                <a:spcPts val="700"/>
              </a:spcAft>
              <a:defRPr sz="2200" b="1">
                <a:solidFill>
                  <a:srgbClr val="233464"/>
                </a:solidFill>
                <a:latin typeface="Aptos"/>
              </a:defRPr>
            </a:pPr>
            <a:r>
              <a:rPr dirty="0">
                <a:solidFill>
                  <a:schemeClr val="bg1"/>
                </a:solidFill>
                <a:latin typeface="Times New Roman" panose="02020603050405020304" pitchFamily="18" charset="0"/>
                <a:cs typeface="Times New Roman" pitchFamily="18" charset="0"/>
              </a:rPr>
              <a:t>Limitations of Manual Analysis</a:t>
            </a:r>
          </a:p>
        </p:txBody>
      </p:sp>
      <p:sp>
        <p:nvSpPr>
          <p:cNvPr id="19" name="Rounded Rectangle 18"/>
          <p:cNvSpPr/>
          <p:nvPr/>
        </p:nvSpPr>
        <p:spPr>
          <a:xfrm>
            <a:off x="658368" y="1353312"/>
            <a:ext cx="2761488" cy="1874519"/>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Rounded Rectangle 19"/>
          <p:cNvSpPr/>
          <p:nvPr/>
        </p:nvSpPr>
        <p:spPr>
          <a:xfrm>
            <a:off x="676656" y="1444752"/>
            <a:ext cx="82296" cy="1691639"/>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Oval 20"/>
          <p:cNvSpPr/>
          <p:nvPr/>
        </p:nvSpPr>
        <p:spPr>
          <a:xfrm>
            <a:off x="859536" y="1517904"/>
            <a:ext cx="347472" cy="347472"/>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dirty="0">
                <a:solidFill>
                  <a:srgbClr val="FFFFFF"/>
                </a:solidFill>
                <a:latin typeface="Times New Roman" panose="02020603050405020304" pitchFamily="18" charset="0"/>
                <a:cs typeface="Times New Roman" panose="02020603050405020304" pitchFamily="18" charset="0"/>
              </a:rPr>
              <a:t>1</a:t>
            </a:r>
          </a:p>
        </p:txBody>
      </p:sp>
      <p:sp>
        <p:nvSpPr>
          <p:cNvPr id="22" name="TextBox 21"/>
          <p:cNvSpPr txBox="1"/>
          <p:nvPr/>
        </p:nvSpPr>
        <p:spPr>
          <a:xfrm>
            <a:off x="1298448" y="1559719"/>
            <a:ext cx="1956816" cy="282129"/>
          </a:xfrm>
          <a:prstGeom prst="rect">
            <a:avLst/>
          </a:prstGeom>
          <a:noFill/>
        </p:spPr>
        <p:txBody>
          <a:bodyPr wrap="square" lIns="50800" tIns="25400" rIns="50800" bIns="25400" anchor="ctr">
            <a:spAutoFit/>
          </a:bodyPr>
          <a:lstStyle/>
          <a:p>
            <a:pPr algn="l"/>
            <a:r>
              <a:rPr sz="1500" b="1">
                <a:solidFill>
                  <a:srgbClr val="1F3168"/>
                </a:solidFill>
                <a:latin typeface="Times New Roman" panose="02020603050405020304" pitchFamily="18" charset="0"/>
                <a:cs typeface="Times New Roman" panose="02020603050405020304" pitchFamily="18" charset="0"/>
              </a:rPr>
              <a:t>Scale</a:t>
            </a:r>
          </a:p>
        </p:txBody>
      </p:sp>
      <p:sp>
        <p:nvSpPr>
          <p:cNvPr id="23" name="TextBox 22"/>
          <p:cNvSpPr txBox="1"/>
          <p:nvPr/>
        </p:nvSpPr>
        <p:spPr>
          <a:xfrm>
            <a:off x="877824" y="2337208"/>
            <a:ext cx="2322576" cy="473656"/>
          </a:xfrm>
          <a:prstGeom prst="rect">
            <a:avLst/>
          </a:prstGeom>
          <a:noFill/>
        </p:spPr>
        <p:txBody>
          <a:bodyPr wrap="square" lIns="50800" tIns="25400" rIns="50800" bIns="25400" anchor="ctr">
            <a:spAutoFit/>
          </a:bodyPr>
          <a:lstStyle/>
          <a:p>
            <a:pPr algn="l">
              <a:lnSpc>
                <a:spcPct val="105000"/>
              </a:lnSpc>
              <a:spcAft>
                <a:spcPts val="600"/>
              </a:spcAft>
            </a:pPr>
            <a:r>
              <a:rPr sz="1350" b="0">
                <a:solidFill>
                  <a:srgbClr val="4B5563"/>
                </a:solidFill>
                <a:latin typeface="Times New Roman" panose="02020603050405020304" pitchFamily="18" charset="0"/>
                <a:cs typeface="Times New Roman" panose="02020603050405020304" pitchFamily="18" charset="0"/>
              </a:rPr>
              <a:t>Large ball-by-ball datasets are difficult to review manually.</a:t>
            </a:r>
          </a:p>
        </p:txBody>
      </p:sp>
      <p:sp>
        <p:nvSpPr>
          <p:cNvPr id="24" name="Rounded Rectangle 23"/>
          <p:cNvSpPr/>
          <p:nvPr/>
        </p:nvSpPr>
        <p:spPr>
          <a:xfrm>
            <a:off x="3593592" y="1353312"/>
            <a:ext cx="2761488" cy="1874519"/>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Rounded Rectangle 24"/>
          <p:cNvSpPr/>
          <p:nvPr/>
        </p:nvSpPr>
        <p:spPr>
          <a:xfrm>
            <a:off x="3611880" y="1444752"/>
            <a:ext cx="82296" cy="1691639"/>
          </a:xfrm>
          <a:prstGeom prst="roundRect">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Oval 25"/>
          <p:cNvSpPr/>
          <p:nvPr/>
        </p:nvSpPr>
        <p:spPr>
          <a:xfrm>
            <a:off x="3794760" y="1517904"/>
            <a:ext cx="347472" cy="347472"/>
          </a:xfrm>
          <a:prstGeom prst="ellipse">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dirty="0">
                <a:solidFill>
                  <a:srgbClr val="FFFFFF"/>
                </a:solidFill>
                <a:latin typeface="Times New Roman" panose="02020603050405020304" pitchFamily="18" charset="0"/>
                <a:cs typeface="Times New Roman" panose="02020603050405020304" pitchFamily="18" charset="0"/>
              </a:rPr>
              <a:t>2</a:t>
            </a:r>
          </a:p>
        </p:txBody>
      </p:sp>
      <p:sp>
        <p:nvSpPr>
          <p:cNvPr id="27" name="TextBox 26"/>
          <p:cNvSpPr txBox="1"/>
          <p:nvPr/>
        </p:nvSpPr>
        <p:spPr>
          <a:xfrm>
            <a:off x="4233672" y="1559719"/>
            <a:ext cx="1956816" cy="282129"/>
          </a:xfrm>
          <a:prstGeom prst="rect">
            <a:avLst/>
          </a:prstGeom>
          <a:noFill/>
        </p:spPr>
        <p:txBody>
          <a:bodyPr wrap="square" lIns="50800" tIns="25400" rIns="50800" bIns="25400" anchor="ctr">
            <a:spAutoFit/>
          </a:bodyPr>
          <a:lstStyle/>
          <a:p>
            <a:pPr algn="l"/>
            <a:r>
              <a:rPr sz="1500" b="1">
                <a:solidFill>
                  <a:srgbClr val="1F3168"/>
                </a:solidFill>
                <a:latin typeface="Times New Roman" panose="02020603050405020304" pitchFamily="18" charset="0"/>
                <a:cs typeface="Times New Roman" panose="02020603050405020304" pitchFamily="18" charset="0"/>
              </a:rPr>
              <a:t>Human Error</a:t>
            </a:r>
          </a:p>
        </p:txBody>
      </p:sp>
      <p:sp>
        <p:nvSpPr>
          <p:cNvPr id="28" name="TextBox 27"/>
          <p:cNvSpPr txBox="1"/>
          <p:nvPr/>
        </p:nvSpPr>
        <p:spPr>
          <a:xfrm>
            <a:off x="3813048" y="2337208"/>
            <a:ext cx="2322576" cy="473656"/>
          </a:xfrm>
          <a:prstGeom prst="rect">
            <a:avLst/>
          </a:prstGeom>
          <a:noFill/>
        </p:spPr>
        <p:txBody>
          <a:bodyPr wrap="square" lIns="50800" tIns="25400" rIns="50800" bIns="25400" anchor="ctr">
            <a:spAutoFit/>
          </a:bodyPr>
          <a:lstStyle/>
          <a:p>
            <a:pPr algn="l">
              <a:lnSpc>
                <a:spcPct val="105000"/>
              </a:lnSpc>
              <a:spcAft>
                <a:spcPts val="600"/>
              </a:spcAft>
            </a:pPr>
            <a:r>
              <a:rPr sz="1350" b="0">
                <a:solidFill>
                  <a:srgbClr val="4B5563"/>
                </a:solidFill>
                <a:latin typeface="Times New Roman" panose="02020603050405020304" pitchFamily="18" charset="0"/>
                <a:cs typeface="Times New Roman" panose="02020603050405020304" pitchFamily="18" charset="0"/>
              </a:rPr>
              <a:t>Repeated calculations can introduce mistakes.</a:t>
            </a:r>
          </a:p>
        </p:txBody>
      </p:sp>
      <p:sp>
        <p:nvSpPr>
          <p:cNvPr id="29" name="Rounded Rectangle 28"/>
          <p:cNvSpPr/>
          <p:nvPr/>
        </p:nvSpPr>
        <p:spPr>
          <a:xfrm>
            <a:off x="6528816" y="1353312"/>
            <a:ext cx="2761488" cy="1874519"/>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Rounded Rectangle 29"/>
          <p:cNvSpPr/>
          <p:nvPr/>
        </p:nvSpPr>
        <p:spPr>
          <a:xfrm>
            <a:off x="6547103" y="1444752"/>
            <a:ext cx="82296" cy="1691639"/>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Oval 30"/>
          <p:cNvSpPr/>
          <p:nvPr/>
        </p:nvSpPr>
        <p:spPr>
          <a:xfrm>
            <a:off x="6729983" y="1517904"/>
            <a:ext cx="347472" cy="347472"/>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dirty="0">
                <a:solidFill>
                  <a:srgbClr val="FFFFFF"/>
                </a:solidFill>
                <a:latin typeface="Times New Roman" panose="02020603050405020304" pitchFamily="18" charset="0"/>
                <a:cs typeface="Times New Roman" panose="02020603050405020304" pitchFamily="18" charset="0"/>
              </a:rPr>
              <a:t>3</a:t>
            </a:r>
          </a:p>
        </p:txBody>
      </p:sp>
      <p:sp>
        <p:nvSpPr>
          <p:cNvPr id="32" name="TextBox 31"/>
          <p:cNvSpPr txBox="1"/>
          <p:nvPr/>
        </p:nvSpPr>
        <p:spPr>
          <a:xfrm>
            <a:off x="7168896" y="1559719"/>
            <a:ext cx="1956816" cy="282129"/>
          </a:xfrm>
          <a:prstGeom prst="rect">
            <a:avLst/>
          </a:prstGeom>
          <a:noFill/>
        </p:spPr>
        <p:txBody>
          <a:bodyPr wrap="square" lIns="50800" tIns="25400" rIns="50800" bIns="25400" anchor="ctr">
            <a:spAutoFit/>
          </a:bodyPr>
          <a:lstStyle/>
          <a:p>
            <a:pPr algn="l"/>
            <a:r>
              <a:rPr sz="1500" b="1">
                <a:solidFill>
                  <a:srgbClr val="1F3168"/>
                </a:solidFill>
                <a:latin typeface="Times New Roman" panose="02020603050405020304" pitchFamily="18" charset="0"/>
                <a:cs typeface="Times New Roman" panose="02020603050405020304" pitchFamily="18" charset="0"/>
              </a:rPr>
              <a:t>Inconsistent Names</a:t>
            </a:r>
          </a:p>
        </p:txBody>
      </p:sp>
      <p:sp>
        <p:nvSpPr>
          <p:cNvPr id="33" name="TextBox 32"/>
          <p:cNvSpPr txBox="1"/>
          <p:nvPr/>
        </p:nvSpPr>
        <p:spPr>
          <a:xfrm>
            <a:off x="6748272" y="2337208"/>
            <a:ext cx="2322576" cy="473656"/>
          </a:xfrm>
          <a:prstGeom prst="rect">
            <a:avLst/>
          </a:prstGeom>
          <a:noFill/>
        </p:spPr>
        <p:txBody>
          <a:bodyPr wrap="square" lIns="50800" tIns="25400" rIns="50800" bIns="25400" anchor="ctr">
            <a:spAutoFit/>
          </a:bodyPr>
          <a:lstStyle/>
          <a:p>
            <a:pPr algn="l">
              <a:lnSpc>
                <a:spcPct val="105000"/>
              </a:lnSpc>
              <a:spcAft>
                <a:spcPts val="600"/>
              </a:spcAft>
            </a:pPr>
            <a:r>
              <a:rPr sz="1350" b="0">
                <a:solidFill>
                  <a:srgbClr val="4B5563"/>
                </a:solidFill>
                <a:latin typeface="Times New Roman" panose="02020603050405020304" pitchFamily="18" charset="0"/>
                <a:cs typeface="Times New Roman" panose="02020603050405020304" pitchFamily="18" charset="0"/>
              </a:rPr>
              <a:t>Team aliases can split the same team into separate groups.</a:t>
            </a:r>
          </a:p>
        </p:txBody>
      </p:sp>
      <p:sp>
        <p:nvSpPr>
          <p:cNvPr id="34" name="Rounded Rectangle 33"/>
          <p:cNvSpPr/>
          <p:nvPr/>
        </p:nvSpPr>
        <p:spPr>
          <a:xfrm>
            <a:off x="2103120" y="3547872"/>
            <a:ext cx="3337560" cy="1874519"/>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Rounded Rectangle 34"/>
          <p:cNvSpPr/>
          <p:nvPr/>
        </p:nvSpPr>
        <p:spPr>
          <a:xfrm>
            <a:off x="2121408" y="3639312"/>
            <a:ext cx="82296" cy="1691639"/>
          </a:xfrm>
          <a:prstGeom prst="roundRect">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Oval 35"/>
          <p:cNvSpPr/>
          <p:nvPr/>
        </p:nvSpPr>
        <p:spPr>
          <a:xfrm>
            <a:off x="2304288" y="3712463"/>
            <a:ext cx="347472" cy="347472"/>
          </a:xfrm>
          <a:prstGeom prst="ellipse">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dirty="0">
                <a:solidFill>
                  <a:srgbClr val="FFFFFF"/>
                </a:solidFill>
                <a:latin typeface="Times New Roman" panose="02020603050405020304" pitchFamily="18" charset="0"/>
                <a:cs typeface="Times New Roman" panose="02020603050405020304" pitchFamily="18" charset="0"/>
              </a:rPr>
              <a:t>4</a:t>
            </a:r>
          </a:p>
        </p:txBody>
      </p:sp>
      <p:sp>
        <p:nvSpPr>
          <p:cNvPr id="37" name="TextBox 36"/>
          <p:cNvSpPr txBox="1"/>
          <p:nvPr/>
        </p:nvSpPr>
        <p:spPr>
          <a:xfrm>
            <a:off x="2743200" y="3754278"/>
            <a:ext cx="2532888" cy="282129"/>
          </a:xfrm>
          <a:prstGeom prst="rect">
            <a:avLst/>
          </a:prstGeom>
          <a:noFill/>
        </p:spPr>
        <p:txBody>
          <a:bodyPr wrap="square" lIns="50800" tIns="25400" rIns="50800" bIns="25400" anchor="ctr">
            <a:spAutoFit/>
          </a:bodyPr>
          <a:lstStyle/>
          <a:p>
            <a:pPr algn="l"/>
            <a:r>
              <a:rPr sz="1500" b="1">
                <a:solidFill>
                  <a:srgbClr val="1F3168"/>
                </a:solidFill>
                <a:latin typeface="Times New Roman" panose="02020603050405020304" pitchFamily="18" charset="0"/>
                <a:cs typeface="Times New Roman" panose="02020603050405020304" pitchFamily="18" charset="0"/>
              </a:rPr>
              <a:t>Incomplete Context</a:t>
            </a:r>
          </a:p>
        </p:txBody>
      </p:sp>
      <p:sp>
        <p:nvSpPr>
          <p:cNvPr id="38" name="TextBox 37"/>
          <p:cNvSpPr txBox="1"/>
          <p:nvPr/>
        </p:nvSpPr>
        <p:spPr>
          <a:xfrm>
            <a:off x="2322576" y="4531768"/>
            <a:ext cx="2898648" cy="473656"/>
          </a:xfrm>
          <a:prstGeom prst="rect">
            <a:avLst/>
          </a:prstGeom>
          <a:noFill/>
        </p:spPr>
        <p:txBody>
          <a:bodyPr wrap="square" lIns="50800" tIns="25400" rIns="50800" bIns="25400" anchor="ctr">
            <a:spAutoFit/>
          </a:bodyPr>
          <a:lstStyle/>
          <a:p>
            <a:pPr algn="l">
              <a:lnSpc>
                <a:spcPct val="105000"/>
              </a:lnSpc>
              <a:spcAft>
                <a:spcPts val="600"/>
              </a:spcAft>
            </a:pPr>
            <a:r>
              <a:rPr sz="1350" b="0">
                <a:solidFill>
                  <a:srgbClr val="4B5563"/>
                </a:solidFill>
                <a:latin typeface="Times New Roman" panose="02020603050405020304" pitchFamily="18" charset="0"/>
                <a:cs typeface="Times New Roman" panose="02020603050405020304" pitchFamily="18" charset="0"/>
              </a:rPr>
              <a:t>Raw totals alone may miss match situations and role differences.</a:t>
            </a:r>
          </a:p>
        </p:txBody>
      </p:sp>
      <p:sp>
        <p:nvSpPr>
          <p:cNvPr id="39" name="Rounded Rectangle 38"/>
          <p:cNvSpPr/>
          <p:nvPr/>
        </p:nvSpPr>
        <p:spPr>
          <a:xfrm>
            <a:off x="5623560" y="3547872"/>
            <a:ext cx="3337560" cy="1874519"/>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0" name="Rounded Rectangle 39"/>
          <p:cNvSpPr/>
          <p:nvPr/>
        </p:nvSpPr>
        <p:spPr>
          <a:xfrm>
            <a:off x="5641848" y="3639312"/>
            <a:ext cx="82296" cy="1691639"/>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1" name="Oval 40"/>
          <p:cNvSpPr/>
          <p:nvPr/>
        </p:nvSpPr>
        <p:spPr>
          <a:xfrm>
            <a:off x="5824728" y="3712463"/>
            <a:ext cx="347472" cy="347472"/>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dirty="0">
                <a:solidFill>
                  <a:srgbClr val="FFFFFF"/>
                </a:solidFill>
                <a:latin typeface="Times New Roman" panose="02020603050405020304" pitchFamily="18" charset="0"/>
                <a:cs typeface="Times New Roman" panose="02020603050405020304" pitchFamily="18" charset="0"/>
              </a:rPr>
              <a:t>5</a:t>
            </a:r>
          </a:p>
        </p:txBody>
      </p:sp>
      <p:sp>
        <p:nvSpPr>
          <p:cNvPr id="42" name="TextBox 41"/>
          <p:cNvSpPr txBox="1"/>
          <p:nvPr/>
        </p:nvSpPr>
        <p:spPr>
          <a:xfrm>
            <a:off x="6263640" y="3754278"/>
            <a:ext cx="2532888" cy="282129"/>
          </a:xfrm>
          <a:prstGeom prst="rect">
            <a:avLst/>
          </a:prstGeom>
          <a:noFill/>
        </p:spPr>
        <p:txBody>
          <a:bodyPr wrap="square" lIns="50800" tIns="25400" rIns="50800" bIns="25400" anchor="ctr">
            <a:spAutoFit/>
          </a:bodyPr>
          <a:lstStyle/>
          <a:p>
            <a:pPr algn="l"/>
            <a:r>
              <a:rPr sz="1500" b="1">
                <a:solidFill>
                  <a:srgbClr val="1F3168"/>
                </a:solidFill>
                <a:latin typeface="Times New Roman" panose="02020603050405020304" pitchFamily="18" charset="0"/>
                <a:cs typeface="Times New Roman" panose="02020603050405020304" pitchFamily="18" charset="0"/>
              </a:rPr>
              <a:t>Source Dependence</a:t>
            </a:r>
          </a:p>
        </p:txBody>
      </p:sp>
      <p:sp>
        <p:nvSpPr>
          <p:cNvPr id="43" name="TextBox 42"/>
          <p:cNvSpPr txBox="1"/>
          <p:nvPr/>
        </p:nvSpPr>
        <p:spPr>
          <a:xfrm>
            <a:off x="5843016" y="4531768"/>
            <a:ext cx="2898648" cy="473656"/>
          </a:xfrm>
          <a:prstGeom prst="rect">
            <a:avLst/>
          </a:prstGeom>
          <a:noFill/>
        </p:spPr>
        <p:txBody>
          <a:bodyPr wrap="square" lIns="50800" tIns="25400" rIns="50800" bIns="25400" anchor="ctr">
            <a:spAutoFit/>
          </a:bodyPr>
          <a:lstStyle/>
          <a:p>
            <a:pPr algn="l">
              <a:lnSpc>
                <a:spcPct val="105000"/>
              </a:lnSpc>
              <a:spcAft>
                <a:spcPts val="600"/>
              </a:spcAft>
            </a:pPr>
            <a:r>
              <a:rPr sz="1350" b="0">
                <a:solidFill>
                  <a:srgbClr val="4B5563"/>
                </a:solidFill>
                <a:latin typeface="Times New Roman" panose="02020603050405020304" pitchFamily="18" charset="0"/>
                <a:cs typeface="Times New Roman" panose="02020603050405020304" pitchFamily="18" charset="0"/>
              </a:rPr>
              <a:t>Conclusions depend on complete, consistent, validated data.</a:t>
            </a:r>
          </a:p>
        </p:txBody>
      </p:sp>
    </p:spTree>
    <p:extLst>
      <p:ext uri="{BB962C8B-B14F-4D97-AF65-F5344CB8AC3E}">
        <p14:creationId xmlns:p14="http://schemas.microsoft.com/office/powerpoint/2010/main" val="162633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object 3">
            <a:extLst>
              <a:ext uri="{FF2B5EF4-FFF2-40B4-BE49-F238E27FC236}">
                <a16:creationId xmlns:a16="http://schemas.microsoft.com/office/drawing/2014/main" id="{EED75953-77B8-EB79-983F-0DFB76BE35E9}"/>
              </a:ext>
            </a:extLst>
          </p:cNvPr>
          <p:cNvPicPr/>
          <p:nvPr/>
        </p:nvPicPr>
        <p:blipFill>
          <a:blip r:embed="rId2" cstate="print"/>
          <a:stretch>
            <a:fillRect/>
          </a:stretch>
        </p:blipFill>
        <p:spPr>
          <a:xfrm>
            <a:off x="290750" y="204311"/>
            <a:ext cx="1163002" cy="424338"/>
          </a:xfrm>
          <a:prstGeom prst="rect">
            <a:avLst/>
          </a:prstGeom>
        </p:spPr>
      </p:pic>
      <p:grpSp>
        <p:nvGrpSpPr>
          <p:cNvPr id="3" name="object 3">
            <a:extLst>
              <a:ext uri="{FF2B5EF4-FFF2-40B4-BE49-F238E27FC236}">
                <a16:creationId xmlns:a16="http://schemas.microsoft.com/office/drawing/2014/main" id="{39A132B5-7282-BB0D-41D0-2D605FAF9D2A}"/>
              </a:ext>
            </a:extLst>
          </p:cNvPr>
          <p:cNvGrpSpPr/>
          <p:nvPr/>
        </p:nvGrpSpPr>
        <p:grpSpPr>
          <a:xfrm>
            <a:off x="2743200" y="228600"/>
            <a:ext cx="4997767" cy="1092279"/>
            <a:chOff x="2703195" y="86439"/>
            <a:chExt cx="4997767" cy="1092279"/>
          </a:xfrm>
        </p:grpSpPr>
        <p:pic>
          <p:nvPicPr>
            <p:cNvPr id="5" name="object 5">
              <a:extLst>
                <a:ext uri="{FF2B5EF4-FFF2-40B4-BE49-F238E27FC236}">
                  <a16:creationId xmlns:a16="http://schemas.microsoft.com/office/drawing/2014/main" id="{19E5F2C6-879E-09C8-70D8-F12E4105BA45}"/>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12F6F0F7-7EC3-7119-588E-9CA45688A5E4}"/>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6FF94120-5DAA-BA86-6F61-CE59BF796C6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18" name="TextBox 17"/>
          <p:cNvSpPr txBox="1"/>
          <p:nvPr/>
        </p:nvSpPr>
        <p:spPr>
          <a:xfrm>
            <a:off x="2743200" y="374808"/>
            <a:ext cx="5120640" cy="389850"/>
          </a:xfrm>
          <a:prstGeom prst="rect">
            <a:avLst/>
          </a:prstGeom>
          <a:noFill/>
        </p:spPr>
        <p:txBody>
          <a:bodyPr wrap="square" lIns="50800" tIns="25400" rIns="50800" bIns="25400">
            <a:spAutoFit/>
          </a:bodyPr>
          <a:lstStyle/>
          <a:p>
            <a:pPr algn="ctr">
              <a:spcAft>
                <a:spcPts val="700"/>
              </a:spcAft>
              <a:defRPr sz="2200" b="1">
                <a:solidFill>
                  <a:srgbClr val="233464"/>
                </a:solidFill>
                <a:latin typeface="Aptos"/>
              </a:defRPr>
            </a:pPr>
            <a:r>
              <a:rPr dirty="0">
                <a:solidFill>
                  <a:schemeClr val="bg1"/>
                </a:solidFill>
                <a:latin typeface="Times New Roman" panose="02020603050405020304" pitchFamily="18" charset="0"/>
                <a:cs typeface="Times New Roman" pitchFamily="18" charset="0"/>
              </a:rPr>
              <a:t>Proposed Approach</a:t>
            </a:r>
          </a:p>
        </p:txBody>
      </p:sp>
      <p:sp>
        <p:nvSpPr>
          <p:cNvPr id="19" name="Rounded Rectangle 18"/>
          <p:cNvSpPr/>
          <p:nvPr/>
        </p:nvSpPr>
        <p:spPr>
          <a:xfrm>
            <a:off x="566928" y="1920240"/>
            <a:ext cx="2057400" cy="2514600"/>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Rounded Rectangle 19"/>
          <p:cNvSpPr/>
          <p:nvPr/>
        </p:nvSpPr>
        <p:spPr>
          <a:xfrm>
            <a:off x="585216" y="2011680"/>
            <a:ext cx="82296" cy="233172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Oval 20"/>
          <p:cNvSpPr/>
          <p:nvPr/>
        </p:nvSpPr>
        <p:spPr>
          <a:xfrm>
            <a:off x="768096" y="2084832"/>
            <a:ext cx="347472" cy="347472"/>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1</a:t>
            </a:r>
          </a:p>
        </p:txBody>
      </p:sp>
      <p:sp>
        <p:nvSpPr>
          <p:cNvPr id="22" name="TextBox 21"/>
          <p:cNvSpPr txBox="1"/>
          <p:nvPr/>
        </p:nvSpPr>
        <p:spPr>
          <a:xfrm>
            <a:off x="1207007" y="2134342"/>
            <a:ext cx="1252728" cy="266740"/>
          </a:xfrm>
          <a:prstGeom prst="rect">
            <a:avLst/>
          </a:prstGeom>
          <a:noFill/>
        </p:spPr>
        <p:txBody>
          <a:bodyPr wrap="square" lIns="50800" tIns="25400" rIns="50800" bIns="25400" anchor="ctr">
            <a:spAutoFit/>
          </a:bodyPr>
          <a:lstStyle/>
          <a:p>
            <a:pPr algn="l"/>
            <a:r>
              <a:rPr sz="1400" b="1">
                <a:solidFill>
                  <a:srgbClr val="1F3168"/>
                </a:solidFill>
                <a:latin typeface="Times New Roman" panose="02020603050405020304" pitchFamily="18" charset="0"/>
                <a:cs typeface="Times New Roman" panose="02020603050405020304" pitchFamily="18" charset="0"/>
              </a:rPr>
              <a:t>Load Data</a:t>
            </a:r>
          </a:p>
        </p:txBody>
      </p:sp>
      <p:sp>
        <p:nvSpPr>
          <p:cNvPr id="23" name="TextBox 22"/>
          <p:cNvSpPr txBox="1"/>
          <p:nvPr/>
        </p:nvSpPr>
        <p:spPr>
          <a:xfrm>
            <a:off x="786384" y="3138832"/>
            <a:ext cx="1618488" cy="644344"/>
          </a:xfrm>
          <a:prstGeom prst="rect">
            <a:avLst/>
          </a:prstGeom>
          <a:noFill/>
        </p:spPr>
        <p:txBody>
          <a:bodyPr wrap="square" lIns="50800" tIns="25400" rIns="50800" bIns="25400" anchor="ctr">
            <a:spAutoFit/>
          </a:bodyPr>
          <a:lstStyle/>
          <a:p>
            <a:pPr algn="l">
              <a:lnSpc>
                <a:spcPct val="105000"/>
              </a:lnSpc>
              <a:spcAft>
                <a:spcPts val="500"/>
              </a:spcAft>
            </a:pPr>
            <a:r>
              <a:rPr sz="1250" b="0">
                <a:solidFill>
                  <a:srgbClr val="4B5563"/>
                </a:solidFill>
                <a:latin typeface="Times New Roman" panose="02020603050405020304" pitchFamily="18" charset="0"/>
                <a:cs typeface="Times New Roman" panose="02020603050405020304" pitchFamily="18" charset="0"/>
              </a:rPr>
              <a:t>Import match, delivery, player, and team CSV files.</a:t>
            </a:r>
          </a:p>
        </p:txBody>
      </p:sp>
      <p:sp>
        <p:nvSpPr>
          <p:cNvPr id="24" name="Chevron 23"/>
          <p:cNvSpPr/>
          <p:nvPr/>
        </p:nvSpPr>
        <p:spPr>
          <a:xfrm>
            <a:off x="2651760" y="2907792"/>
            <a:ext cx="182880" cy="384048"/>
          </a:xfrm>
          <a:prstGeom prst="chevron">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Rounded Rectangle 24"/>
          <p:cNvSpPr/>
          <p:nvPr/>
        </p:nvSpPr>
        <p:spPr>
          <a:xfrm>
            <a:off x="2852928" y="1920240"/>
            <a:ext cx="2057400" cy="2514600"/>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Rounded Rectangle 25"/>
          <p:cNvSpPr/>
          <p:nvPr/>
        </p:nvSpPr>
        <p:spPr>
          <a:xfrm>
            <a:off x="2871216" y="2011680"/>
            <a:ext cx="82296" cy="2331720"/>
          </a:xfrm>
          <a:prstGeom prst="roundRect">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Oval 26"/>
          <p:cNvSpPr/>
          <p:nvPr/>
        </p:nvSpPr>
        <p:spPr>
          <a:xfrm>
            <a:off x="3054096" y="2084832"/>
            <a:ext cx="347472" cy="347472"/>
          </a:xfrm>
          <a:prstGeom prst="ellipse">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2</a:t>
            </a:r>
          </a:p>
        </p:txBody>
      </p:sp>
      <p:sp>
        <p:nvSpPr>
          <p:cNvPr id="28" name="TextBox 27"/>
          <p:cNvSpPr txBox="1"/>
          <p:nvPr/>
        </p:nvSpPr>
        <p:spPr>
          <a:xfrm>
            <a:off x="3493008" y="2153578"/>
            <a:ext cx="1252728" cy="228268"/>
          </a:xfrm>
          <a:prstGeom prst="rect">
            <a:avLst/>
          </a:prstGeom>
          <a:noFill/>
        </p:spPr>
        <p:txBody>
          <a:bodyPr wrap="square" lIns="50800" tIns="25400" rIns="50800" bIns="25400" anchor="ctr">
            <a:spAutoFit/>
          </a:bodyPr>
          <a:lstStyle/>
          <a:p>
            <a:pPr algn="l"/>
            <a:r>
              <a:rPr sz="1150" b="1">
                <a:solidFill>
                  <a:srgbClr val="1F3168"/>
                </a:solidFill>
                <a:latin typeface="Times New Roman" panose="02020603050405020304" pitchFamily="18" charset="0"/>
                <a:cs typeface="Times New Roman" panose="02020603050405020304" pitchFamily="18" charset="0"/>
              </a:rPr>
              <a:t>Check &amp; Clean</a:t>
            </a:r>
          </a:p>
        </p:txBody>
      </p:sp>
      <p:sp>
        <p:nvSpPr>
          <p:cNvPr id="29" name="TextBox 28"/>
          <p:cNvSpPr txBox="1"/>
          <p:nvPr/>
        </p:nvSpPr>
        <p:spPr>
          <a:xfrm>
            <a:off x="3072384" y="3138832"/>
            <a:ext cx="1618488" cy="644344"/>
          </a:xfrm>
          <a:prstGeom prst="rect">
            <a:avLst/>
          </a:prstGeom>
          <a:noFill/>
        </p:spPr>
        <p:txBody>
          <a:bodyPr wrap="square" lIns="50800" tIns="25400" rIns="50800" bIns="25400" anchor="ctr">
            <a:spAutoFit/>
          </a:bodyPr>
          <a:lstStyle/>
          <a:p>
            <a:pPr algn="l">
              <a:lnSpc>
                <a:spcPct val="105000"/>
              </a:lnSpc>
              <a:spcAft>
                <a:spcPts val="500"/>
              </a:spcAft>
            </a:pPr>
            <a:r>
              <a:rPr sz="1250" b="0">
                <a:solidFill>
                  <a:srgbClr val="4B5563"/>
                </a:solidFill>
                <a:latin typeface="Times New Roman" panose="02020603050405020304" pitchFamily="18" charset="0"/>
                <a:cs typeface="Times New Roman" panose="02020603050405020304" pitchFamily="18" charset="0"/>
              </a:rPr>
              <a:t>Inspect columns, data types, missing values, duplicates, and aliases.</a:t>
            </a:r>
          </a:p>
        </p:txBody>
      </p:sp>
      <p:sp>
        <p:nvSpPr>
          <p:cNvPr id="30" name="Chevron 29"/>
          <p:cNvSpPr/>
          <p:nvPr/>
        </p:nvSpPr>
        <p:spPr>
          <a:xfrm>
            <a:off x="4937760" y="2907792"/>
            <a:ext cx="182880" cy="384048"/>
          </a:xfrm>
          <a:prstGeom prst="chevron">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Rounded Rectangle 30"/>
          <p:cNvSpPr/>
          <p:nvPr/>
        </p:nvSpPr>
        <p:spPr>
          <a:xfrm>
            <a:off x="5138928" y="1920240"/>
            <a:ext cx="2057400" cy="2514600"/>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Rounded Rectangle 31"/>
          <p:cNvSpPr/>
          <p:nvPr/>
        </p:nvSpPr>
        <p:spPr>
          <a:xfrm>
            <a:off x="5157216" y="2011680"/>
            <a:ext cx="82296" cy="2331720"/>
          </a:xfrm>
          <a:prstGeom prst="round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3" name="Oval 32"/>
          <p:cNvSpPr/>
          <p:nvPr/>
        </p:nvSpPr>
        <p:spPr>
          <a:xfrm>
            <a:off x="5340096" y="2084832"/>
            <a:ext cx="347472" cy="347472"/>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3</a:t>
            </a:r>
          </a:p>
        </p:txBody>
      </p:sp>
      <p:sp>
        <p:nvSpPr>
          <p:cNvPr id="34" name="TextBox 33"/>
          <p:cNvSpPr txBox="1"/>
          <p:nvPr/>
        </p:nvSpPr>
        <p:spPr>
          <a:xfrm>
            <a:off x="5779008" y="2153578"/>
            <a:ext cx="1252728" cy="228268"/>
          </a:xfrm>
          <a:prstGeom prst="rect">
            <a:avLst/>
          </a:prstGeom>
          <a:noFill/>
        </p:spPr>
        <p:txBody>
          <a:bodyPr wrap="square" lIns="50800" tIns="25400" rIns="50800" bIns="25400" anchor="ctr">
            <a:spAutoFit/>
          </a:bodyPr>
          <a:lstStyle/>
          <a:p>
            <a:pPr algn="l"/>
            <a:r>
              <a:rPr sz="1150" b="1">
                <a:solidFill>
                  <a:srgbClr val="1F3168"/>
                </a:solidFill>
                <a:latin typeface="Times New Roman" panose="02020603050405020304" pitchFamily="18" charset="0"/>
                <a:cs typeface="Times New Roman" panose="02020603050405020304" pitchFamily="18" charset="0"/>
              </a:rPr>
              <a:t>Calculate Metrics</a:t>
            </a:r>
          </a:p>
        </p:txBody>
      </p:sp>
      <p:sp>
        <p:nvSpPr>
          <p:cNvPr id="35" name="TextBox 34"/>
          <p:cNvSpPr txBox="1"/>
          <p:nvPr/>
        </p:nvSpPr>
        <p:spPr>
          <a:xfrm>
            <a:off x="5358384" y="3138832"/>
            <a:ext cx="1618488" cy="644344"/>
          </a:xfrm>
          <a:prstGeom prst="rect">
            <a:avLst/>
          </a:prstGeom>
          <a:noFill/>
        </p:spPr>
        <p:txBody>
          <a:bodyPr wrap="square" lIns="50800" tIns="25400" rIns="50800" bIns="25400" anchor="ctr">
            <a:spAutoFit/>
          </a:bodyPr>
          <a:lstStyle/>
          <a:p>
            <a:pPr algn="l">
              <a:lnSpc>
                <a:spcPct val="105000"/>
              </a:lnSpc>
              <a:spcAft>
                <a:spcPts val="500"/>
              </a:spcAft>
            </a:pPr>
            <a:r>
              <a:rPr sz="1250" b="0">
                <a:solidFill>
                  <a:srgbClr val="4B5563"/>
                </a:solidFill>
                <a:latin typeface="Times New Roman" panose="02020603050405020304" pitchFamily="18" charset="0"/>
                <a:cs typeface="Times New Roman" panose="02020603050405020304" pitchFamily="18" charset="0"/>
              </a:rPr>
              <a:t>Create batting, bowling, team, and toss-related measures.</a:t>
            </a:r>
          </a:p>
        </p:txBody>
      </p:sp>
      <p:sp>
        <p:nvSpPr>
          <p:cNvPr id="36" name="Chevron 35"/>
          <p:cNvSpPr/>
          <p:nvPr/>
        </p:nvSpPr>
        <p:spPr>
          <a:xfrm>
            <a:off x="7223760" y="2907792"/>
            <a:ext cx="182880" cy="384048"/>
          </a:xfrm>
          <a:prstGeom prst="chevron">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7" name="Rounded Rectangle 36"/>
          <p:cNvSpPr/>
          <p:nvPr/>
        </p:nvSpPr>
        <p:spPr>
          <a:xfrm>
            <a:off x="7424927" y="1920240"/>
            <a:ext cx="2057400" cy="2514600"/>
          </a:xfrm>
          <a:prstGeom prst="roundRect">
            <a:avLst/>
          </a:prstGeom>
          <a:solidFill>
            <a:srgbClr val="FFFFFF"/>
          </a:solidFill>
          <a:ln w="1397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8" name="Rounded Rectangle 37"/>
          <p:cNvSpPr/>
          <p:nvPr/>
        </p:nvSpPr>
        <p:spPr>
          <a:xfrm>
            <a:off x="7443215" y="2011680"/>
            <a:ext cx="82296" cy="2331720"/>
          </a:xfrm>
          <a:prstGeom prst="roundRect">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9" name="Oval 38"/>
          <p:cNvSpPr/>
          <p:nvPr/>
        </p:nvSpPr>
        <p:spPr>
          <a:xfrm>
            <a:off x="7626096" y="2084832"/>
            <a:ext cx="347472" cy="347472"/>
          </a:xfrm>
          <a:prstGeom prst="ellipse">
            <a:avLst/>
          </a:prstGeom>
          <a:solidFill>
            <a:srgbClr val="1F3168"/>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100" b="1">
                <a:solidFill>
                  <a:srgbClr val="FFFFFF"/>
                </a:solidFill>
                <a:latin typeface="Times New Roman" panose="02020603050405020304" pitchFamily="18" charset="0"/>
                <a:cs typeface="Times New Roman" panose="02020603050405020304" pitchFamily="18" charset="0"/>
              </a:rPr>
              <a:t>4</a:t>
            </a:r>
          </a:p>
        </p:txBody>
      </p:sp>
      <p:sp>
        <p:nvSpPr>
          <p:cNvPr id="40" name="TextBox 39"/>
          <p:cNvSpPr txBox="1"/>
          <p:nvPr/>
        </p:nvSpPr>
        <p:spPr>
          <a:xfrm>
            <a:off x="8065007" y="2065092"/>
            <a:ext cx="1252728" cy="405239"/>
          </a:xfrm>
          <a:prstGeom prst="rect">
            <a:avLst/>
          </a:prstGeom>
          <a:noFill/>
        </p:spPr>
        <p:txBody>
          <a:bodyPr wrap="square" lIns="50800" tIns="25400" rIns="50800" bIns="25400" anchor="ctr">
            <a:spAutoFit/>
          </a:bodyPr>
          <a:lstStyle/>
          <a:p>
            <a:pPr algn="l"/>
            <a:r>
              <a:rPr sz="1150" b="1">
                <a:solidFill>
                  <a:srgbClr val="1F3168"/>
                </a:solidFill>
                <a:latin typeface="Times New Roman" panose="02020603050405020304" pitchFamily="18" charset="0"/>
                <a:cs typeface="Times New Roman" panose="02020603050405020304" pitchFamily="18" charset="0"/>
              </a:rPr>
              <a:t>Visualize &amp; Interpret</a:t>
            </a:r>
          </a:p>
        </p:txBody>
      </p:sp>
      <p:sp>
        <p:nvSpPr>
          <p:cNvPr id="41" name="TextBox 40"/>
          <p:cNvSpPr txBox="1"/>
          <p:nvPr/>
        </p:nvSpPr>
        <p:spPr>
          <a:xfrm>
            <a:off x="7644383" y="3037843"/>
            <a:ext cx="1618488" cy="846322"/>
          </a:xfrm>
          <a:prstGeom prst="rect">
            <a:avLst/>
          </a:prstGeom>
          <a:noFill/>
        </p:spPr>
        <p:txBody>
          <a:bodyPr wrap="square" lIns="50800" tIns="25400" rIns="50800" bIns="25400" anchor="ctr">
            <a:spAutoFit/>
          </a:bodyPr>
          <a:lstStyle/>
          <a:p>
            <a:pPr algn="l">
              <a:lnSpc>
                <a:spcPct val="105000"/>
              </a:lnSpc>
              <a:spcAft>
                <a:spcPts val="500"/>
              </a:spcAft>
            </a:pPr>
            <a:r>
              <a:rPr sz="1250" b="0">
                <a:solidFill>
                  <a:srgbClr val="4B5563"/>
                </a:solidFill>
                <a:latin typeface="Times New Roman" panose="02020603050405020304" pitchFamily="18" charset="0"/>
                <a:cs typeface="Times New Roman" panose="02020603050405020304" pitchFamily="18" charset="0"/>
              </a:rPr>
              <a:t>Compare players and teams, then summarize patterns and limitations.</a:t>
            </a:r>
          </a:p>
        </p:txBody>
      </p:sp>
      <p:sp>
        <p:nvSpPr>
          <p:cNvPr id="42" name="TextBox 41"/>
          <p:cNvSpPr txBox="1"/>
          <p:nvPr/>
        </p:nvSpPr>
        <p:spPr>
          <a:xfrm>
            <a:off x="1051560" y="5101570"/>
            <a:ext cx="7955279" cy="266740"/>
          </a:xfrm>
          <a:prstGeom prst="rect">
            <a:avLst/>
          </a:prstGeom>
          <a:noFill/>
        </p:spPr>
        <p:txBody>
          <a:bodyPr wrap="square" lIns="50800" tIns="25400" rIns="50800" bIns="25400" anchor="ctr">
            <a:spAutoFit/>
          </a:bodyPr>
          <a:lstStyle/>
          <a:p>
            <a:pPr algn="ctr"/>
            <a:r>
              <a:rPr sz="1400" b="1">
                <a:solidFill>
                  <a:srgbClr val="1F3168"/>
                </a:solidFill>
                <a:latin typeface="Times New Roman" panose="02020603050405020304" pitchFamily="18" charset="0"/>
                <a:cs typeface="Times New Roman" panose="02020603050405020304" pitchFamily="18" charset="0"/>
              </a:rPr>
              <a:t>Outcome: a repeatable workflow for reliable IPL performance comparisons</a:t>
            </a:r>
          </a:p>
        </p:txBody>
      </p:sp>
    </p:spTree>
    <p:extLst>
      <p:ext uri="{BB962C8B-B14F-4D97-AF65-F5344CB8AC3E}">
        <p14:creationId xmlns:p14="http://schemas.microsoft.com/office/powerpoint/2010/main" val="70925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944C-8816-A98A-BE5A-6A28E3D1316D}"/>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97977331-EA1C-CA44-869F-6C400FF95B93}"/>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493C539F-A86A-512C-CDC1-7D279B60EB1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EF4257B-2B43-17B3-FF4F-1187B669162A}"/>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6F1369C-4970-FF55-E67B-BCF08160A62A}"/>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F69E22F-BC21-03E7-F9F3-42AA69CA9E92}"/>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470ED999-51AF-0BD8-F3EE-37C965CA5C3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sp>
        <p:nvSpPr>
          <p:cNvPr id="18" name="TextBox 17"/>
          <p:cNvSpPr txBox="1"/>
          <p:nvPr/>
        </p:nvSpPr>
        <p:spPr>
          <a:xfrm>
            <a:off x="2693586" y="298585"/>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dirty="0">
                <a:solidFill>
                  <a:schemeClr val="bg1"/>
                </a:solidFill>
                <a:latin typeface="Times New Roman" panose="02020603050405020304" pitchFamily="18" charset="0"/>
                <a:cs typeface="Times New Roman" pitchFamily="18" charset="0"/>
              </a:rPr>
              <a:t>DATASET DESCRIPTION</a:t>
            </a:r>
          </a:p>
        </p:txBody>
      </p:sp>
      <p:sp>
        <p:nvSpPr>
          <p:cNvPr id="19" name="TextBox 18"/>
          <p:cNvSpPr txBox="1"/>
          <p:nvPr/>
        </p:nvSpPr>
        <p:spPr>
          <a:xfrm>
            <a:off x="777240" y="1143000"/>
            <a:ext cx="8046720" cy="338554"/>
          </a:xfrm>
          <a:prstGeom prst="rect">
            <a:avLst/>
          </a:prstGeom>
          <a:noFill/>
        </p:spPr>
        <p:txBody>
          <a:bodyPr wrap="square">
            <a:spAutoFit/>
          </a:bodyPr>
          <a:lstStyle/>
          <a:p>
            <a:pPr algn="ctr">
              <a:spcAft>
                <a:spcPts val="700"/>
              </a:spcAft>
              <a:defRPr sz="1900" b="1">
                <a:solidFill>
                  <a:srgbClr val="233464"/>
                </a:solidFill>
                <a:latin typeface="Aptos"/>
              </a:defRPr>
            </a:pPr>
            <a:r>
              <a:rPr sz="1600" b="1">
                <a:latin typeface="Times New Roman" panose="02020603050405020304" pitchFamily="18" charset="0"/>
                <a:cs typeface="Times New Roman" panose="02020603050405020304" pitchFamily="18" charset="0"/>
              </a:rPr>
              <a:t>IPL dataset covering matches, deliveries, players, and teams</a:t>
            </a:r>
          </a:p>
        </p:txBody>
      </p:sp>
      <p:graphicFrame>
        <p:nvGraphicFramePr>
          <p:cNvPr id="20" name="Table 19"/>
          <p:cNvGraphicFramePr>
            <a:graphicFrameLocks noGrp="1"/>
          </p:cNvGraphicFramePr>
          <p:nvPr>
            <p:extLst>
              <p:ext uri="{D42A27DB-BD31-4B8C-83A1-F6EECF244321}">
                <p14:modId xmlns:p14="http://schemas.microsoft.com/office/powerpoint/2010/main" val="3410277499"/>
              </p:ext>
            </p:extLst>
          </p:nvPr>
        </p:nvGraphicFramePr>
        <p:xfrm>
          <a:off x="411480" y="1965960"/>
          <a:ext cx="4526280" cy="3427693"/>
        </p:xfrm>
        <a:graphic>
          <a:graphicData uri="http://schemas.openxmlformats.org/drawingml/2006/table">
            <a:tbl>
              <a:tblPr firstRow="1" bandRow="1">
                <a:tableStyleId>{5C22544A-7EE6-4342-B048-85BDC9FD1C3A}</a:tableStyleId>
              </a:tblPr>
              <a:tblGrid>
                <a:gridCol w="1570342">
                  <a:extLst>
                    <a:ext uri="{9D8B030D-6E8A-4147-A177-3AD203B41FA5}">
                      <a16:colId xmlns:a16="http://schemas.microsoft.com/office/drawing/2014/main" val="20000"/>
                    </a:ext>
                  </a:extLst>
                </a:gridCol>
                <a:gridCol w="2955938">
                  <a:extLst>
                    <a:ext uri="{9D8B030D-6E8A-4147-A177-3AD203B41FA5}">
                      <a16:colId xmlns:a16="http://schemas.microsoft.com/office/drawing/2014/main" val="20001"/>
                    </a:ext>
                  </a:extLst>
                </a:gridCol>
              </a:tblGrid>
              <a:tr h="489670">
                <a:tc>
                  <a:txBody>
                    <a:bodyPr/>
                    <a:lstStyle/>
                    <a:p>
                      <a:r>
                        <a:rPr sz="1000"/>
                        <a:t>Field</a:t>
                      </a:r>
                    </a:p>
                  </a:txBody>
                  <a:tcPr marT="25400" marB="25400">
                    <a:solidFill>
                      <a:srgbClr val="233464"/>
                    </a:solidFill>
                  </a:tcPr>
                </a:tc>
                <a:tc>
                  <a:txBody>
                    <a:bodyPr/>
                    <a:lstStyle/>
                    <a:p>
                      <a:r>
                        <a:rPr sz="1000"/>
                        <a:t>Description</a:t>
                      </a:r>
                    </a:p>
                  </a:txBody>
                  <a:tcPr marT="25400" marB="25400">
                    <a:solidFill>
                      <a:srgbClr val="233464"/>
                    </a:solidFill>
                  </a:tcPr>
                </a:tc>
                <a:extLst>
                  <a:ext uri="{0D108BD9-81ED-4DB2-BD59-A6C34878D82A}">
                    <a16:rowId xmlns:a16="http://schemas.microsoft.com/office/drawing/2014/main" val="10000"/>
                  </a:ext>
                </a:extLst>
              </a:tr>
              <a:tr h="489670">
                <a:tc>
                  <a:txBody>
                    <a:bodyPr/>
                    <a:lstStyle/>
                    <a:p>
                      <a:r>
                        <a:rPr sz="1000"/>
                        <a:t>match_id / season</a:t>
                      </a:r>
                    </a:p>
                  </a:txBody>
                  <a:tcPr marT="25400" marB="25400">
                    <a:solidFill>
                      <a:srgbClr val="FFFFFF"/>
                    </a:solidFill>
                  </a:tcPr>
                </a:tc>
                <a:tc>
                  <a:txBody>
                    <a:bodyPr/>
                    <a:lstStyle/>
                    <a:p>
                      <a:r>
                        <a:rPr sz="1000"/>
                        <a:t>Match identifier and IPL season</a:t>
                      </a:r>
                    </a:p>
                  </a:txBody>
                  <a:tcPr marT="25400" marB="25400">
                    <a:solidFill>
                      <a:srgbClr val="FFFFFF"/>
                    </a:solidFill>
                  </a:tcPr>
                </a:tc>
                <a:extLst>
                  <a:ext uri="{0D108BD9-81ED-4DB2-BD59-A6C34878D82A}">
                    <a16:rowId xmlns:a16="http://schemas.microsoft.com/office/drawing/2014/main" val="10001"/>
                  </a:ext>
                </a:extLst>
              </a:tr>
              <a:tr h="489670">
                <a:tc>
                  <a:txBody>
                    <a:bodyPr/>
                    <a:lstStyle/>
                    <a:p>
                      <a:r>
                        <a:rPr sz="1000"/>
                        <a:t>team1 / team2</a:t>
                      </a:r>
                    </a:p>
                  </a:txBody>
                  <a:tcPr marT="25400" marB="25400">
                    <a:solidFill>
                      <a:srgbClr val="F4F6FB"/>
                    </a:solidFill>
                  </a:tcPr>
                </a:tc>
                <a:tc>
                  <a:txBody>
                    <a:bodyPr/>
                    <a:lstStyle/>
                    <a:p>
                      <a:r>
                        <a:rPr sz="1000"/>
                        <a:t>Teams participating in a match</a:t>
                      </a:r>
                    </a:p>
                  </a:txBody>
                  <a:tcPr marT="25400" marB="25400">
                    <a:solidFill>
                      <a:srgbClr val="F4F6FB"/>
                    </a:solidFill>
                  </a:tcPr>
                </a:tc>
                <a:extLst>
                  <a:ext uri="{0D108BD9-81ED-4DB2-BD59-A6C34878D82A}">
                    <a16:rowId xmlns:a16="http://schemas.microsoft.com/office/drawing/2014/main" val="10002"/>
                  </a:ext>
                </a:extLst>
              </a:tr>
              <a:tr h="489670">
                <a:tc>
                  <a:txBody>
                    <a:bodyPr/>
                    <a:lstStyle/>
                    <a:p>
                      <a:r>
                        <a:rPr sz="1000"/>
                        <a:t>toss_winner / decision</a:t>
                      </a:r>
                    </a:p>
                  </a:txBody>
                  <a:tcPr marT="25400" marB="25400">
                    <a:solidFill>
                      <a:srgbClr val="FFFFFF"/>
                    </a:solidFill>
                  </a:tcPr>
                </a:tc>
                <a:tc>
                  <a:txBody>
                    <a:bodyPr/>
                    <a:lstStyle/>
                    <a:p>
                      <a:r>
                        <a:rPr sz="1000"/>
                        <a:t>Toss winner and bat/field choice</a:t>
                      </a:r>
                    </a:p>
                  </a:txBody>
                  <a:tcPr marT="25400" marB="25400">
                    <a:solidFill>
                      <a:srgbClr val="FFFFFF"/>
                    </a:solidFill>
                  </a:tcPr>
                </a:tc>
                <a:extLst>
                  <a:ext uri="{0D108BD9-81ED-4DB2-BD59-A6C34878D82A}">
                    <a16:rowId xmlns:a16="http://schemas.microsoft.com/office/drawing/2014/main" val="10003"/>
                  </a:ext>
                </a:extLst>
              </a:tr>
              <a:tr h="489670">
                <a:tc>
                  <a:txBody>
                    <a:bodyPr/>
                    <a:lstStyle/>
                    <a:p>
                      <a:r>
                        <a:rPr sz="1000"/>
                        <a:t>batter / bowler</a:t>
                      </a:r>
                    </a:p>
                  </a:txBody>
                  <a:tcPr marT="25400" marB="25400">
                    <a:solidFill>
                      <a:srgbClr val="F4F6FB"/>
                    </a:solidFill>
                  </a:tcPr>
                </a:tc>
                <a:tc>
                  <a:txBody>
                    <a:bodyPr/>
                    <a:lstStyle/>
                    <a:p>
                      <a:r>
                        <a:rPr sz="1000" dirty="0"/>
                        <a:t>Players involved in each delivery</a:t>
                      </a:r>
                    </a:p>
                  </a:txBody>
                  <a:tcPr marT="25400" marB="25400">
                    <a:solidFill>
                      <a:srgbClr val="F4F6FB"/>
                    </a:solidFill>
                  </a:tcPr>
                </a:tc>
                <a:extLst>
                  <a:ext uri="{0D108BD9-81ED-4DB2-BD59-A6C34878D82A}">
                    <a16:rowId xmlns:a16="http://schemas.microsoft.com/office/drawing/2014/main" val="10004"/>
                  </a:ext>
                </a:extLst>
              </a:tr>
              <a:tr h="489670">
                <a:tc>
                  <a:txBody>
                    <a:bodyPr/>
                    <a:lstStyle/>
                    <a:p>
                      <a:r>
                        <a:rPr lang="en-IN" sz="1000" dirty="0" err="1"/>
                        <a:t>Runs_batter</a:t>
                      </a:r>
                      <a:r>
                        <a:rPr sz="1000" dirty="0"/>
                        <a:t> / runs</a:t>
                      </a:r>
                      <a:r>
                        <a:rPr lang="en-IN" sz="1000" dirty="0"/>
                        <a:t>_total</a:t>
                      </a:r>
                      <a:endParaRPr sz="1000" dirty="0"/>
                    </a:p>
                  </a:txBody>
                  <a:tcPr marT="25400" marB="25400">
                    <a:solidFill>
                      <a:srgbClr val="FFFFFF"/>
                    </a:solidFill>
                  </a:tcPr>
                </a:tc>
                <a:tc>
                  <a:txBody>
                    <a:bodyPr/>
                    <a:lstStyle/>
                    <a:p>
                      <a:r>
                        <a:rPr sz="1000" dirty="0"/>
                        <a:t>Runs scored on a delivery</a:t>
                      </a:r>
                    </a:p>
                  </a:txBody>
                  <a:tcPr marT="25400" marB="25400">
                    <a:solidFill>
                      <a:srgbClr val="FFFFFF"/>
                    </a:solidFill>
                  </a:tcPr>
                </a:tc>
                <a:extLst>
                  <a:ext uri="{0D108BD9-81ED-4DB2-BD59-A6C34878D82A}">
                    <a16:rowId xmlns:a16="http://schemas.microsoft.com/office/drawing/2014/main" val="10005"/>
                  </a:ext>
                </a:extLst>
              </a:tr>
              <a:tr h="489673">
                <a:tc>
                  <a:txBody>
                    <a:bodyPr/>
                    <a:lstStyle/>
                    <a:p>
                      <a:r>
                        <a:rPr sz="1000" dirty="0"/>
                        <a:t>wicket / venue</a:t>
                      </a:r>
                    </a:p>
                  </a:txBody>
                  <a:tcPr marT="25400" marB="25400">
                    <a:solidFill>
                      <a:srgbClr val="F4F6FB"/>
                    </a:solidFill>
                  </a:tcPr>
                </a:tc>
                <a:tc>
                  <a:txBody>
                    <a:bodyPr/>
                    <a:lstStyle/>
                    <a:p>
                      <a:r>
                        <a:rPr sz="1000" dirty="0"/>
                        <a:t>Wicket event and match venue</a:t>
                      </a:r>
                    </a:p>
                  </a:txBody>
                  <a:tcPr marT="25400" marB="25400">
                    <a:solidFill>
                      <a:srgbClr val="F4F6FB"/>
                    </a:solidFill>
                  </a:tcPr>
                </a:tc>
                <a:extLst>
                  <a:ext uri="{0D108BD9-81ED-4DB2-BD59-A6C34878D82A}">
                    <a16:rowId xmlns:a16="http://schemas.microsoft.com/office/drawing/2014/main" val="10006"/>
                  </a:ext>
                </a:extLst>
              </a:tr>
            </a:tbl>
          </a:graphicData>
        </a:graphic>
      </p:graphicFrame>
      <p:sp>
        <p:nvSpPr>
          <p:cNvPr id="21" name="Rounded Rectangle 20"/>
          <p:cNvSpPr/>
          <p:nvPr/>
        </p:nvSpPr>
        <p:spPr>
          <a:xfrm>
            <a:off x="5074920" y="1965960"/>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45720" tIns="50800" rIns="45720" bIns="50800" rtlCol="0" anchor="ctr"/>
          <a:lstStyle/>
          <a:p>
            <a:pPr algn="l"/>
            <a:r>
              <a:rPr sz="1200" b="1" dirty="0">
                <a:solidFill>
                  <a:srgbClr val="FF6600"/>
                </a:solidFill>
                <a:latin typeface="Times New Roman" panose="02020603050405020304" pitchFamily="18" charset="0"/>
                <a:cs typeface="Times New Roman" panose="02020603050405020304" pitchFamily="18" charset="0"/>
              </a:rPr>
              <a:t>Dataset Snapshot</a:t>
            </a:r>
          </a:p>
          <a:p>
            <a:pPr algn="l"/>
            <a:r>
              <a:rPr sz="1200" b="1" dirty="0">
                <a:solidFill>
                  <a:srgbClr val="FF6600"/>
                </a:solidFill>
                <a:latin typeface="Times New Roman" panose="02020603050405020304" pitchFamily="18" charset="0"/>
                <a:cs typeface="Times New Roman" panose="02020603050405020304" pitchFamily="18" charset="0"/>
              </a:rPr>
              <a:t>1,2</a:t>
            </a:r>
            <a:r>
              <a:rPr lang="en-IN" sz="1200" b="1" dirty="0">
                <a:solidFill>
                  <a:srgbClr val="FF6600"/>
                </a:solidFill>
                <a:latin typeface="Times New Roman" panose="02020603050405020304" pitchFamily="18" charset="0"/>
                <a:cs typeface="Times New Roman" panose="02020603050405020304" pitchFamily="18" charset="0"/>
              </a:rPr>
              <a:t>43</a:t>
            </a:r>
            <a:r>
              <a:rPr sz="1200" b="1" dirty="0">
                <a:solidFill>
                  <a:srgbClr val="FF6600"/>
                </a:solidFill>
                <a:latin typeface="Times New Roman" panose="02020603050405020304" pitchFamily="18" charset="0"/>
                <a:cs typeface="Times New Roman" panose="02020603050405020304" pitchFamily="18" charset="0"/>
              </a:rPr>
              <a:t> match records</a:t>
            </a:r>
          </a:p>
          <a:p>
            <a:pPr algn="l"/>
            <a:r>
              <a:rPr sz="1200" b="1" dirty="0">
                <a:solidFill>
                  <a:srgbClr val="FF6600"/>
                </a:solidFill>
                <a:latin typeface="Times New Roman" panose="02020603050405020304" pitchFamily="18" charset="0"/>
                <a:cs typeface="Times New Roman" panose="02020603050405020304" pitchFamily="18" charset="0"/>
              </a:rPr>
              <a:t>2</a:t>
            </a:r>
            <a:r>
              <a:rPr lang="en-IN" sz="1200" b="1" dirty="0">
                <a:solidFill>
                  <a:srgbClr val="FF6600"/>
                </a:solidFill>
                <a:latin typeface="Times New Roman" panose="02020603050405020304" pitchFamily="18" charset="0"/>
                <a:cs typeface="Times New Roman" panose="02020603050405020304" pitchFamily="18" charset="0"/>
              </a:rPr>
              <a:t>95</a:t>
            </a:r>
            <a:r>
              <a:rPr sz="1200" b="1" dirty="0">
                <a:solidFill>
                  <a:srgbClr val="FF6600"/>
                </a:solidFill>
                <a:latin typeface="Times New Roman" panose="02020603050405020304" pitchFamily="18" charset="0"/>
                <a:cs typeface="Times New Roman" panose="02020603050405020304" pitchFamily="18" charset="0"/>
              </a:rPr>
              <a:t>,</a:t>
            </a:r>
            <a:r>
              <a:rPr lang="en-IN" sz="1200" b="1" dirty="0">
                <a:solidFill>
                  <a:srgbClr val="FF6600"/>
                </a:solidFill>
                <a:latin typeface="Times New Roman" panose="02020603050405020304" pitchFamily="18" charset="0"/>
                <a:cs typeface="Times New Roman" panose="02020603050405020304" pitchFamily="18" charset="0"/>
              </a:rPr>
              <a:t>729</a:t>
            </a:r>
            <a:r>
              <a:rPr sz="1200" b="1" dirty="0">
                <a:solidFill>
                  <a:srgbClr val="FF6600"/>
                </a:solidFill>
                <a:latin typeface="Times New Roman" panose="02020603050405020304" pitchFamily="18" charset="0"/>
                <a:cs typeface="Times New Roman" panose="02020603050405020304" pitchFamily="18" charset="0"/>
              </a:rPr>
              <a:t> ball-by-ball deliveries</a:t>
            </a:r>
          </a:p>
          <a:p>
            <a:pPr algn="l"/>
            <a:r>
              <a:rPr lang="en-US" sz="1200" b="1" dirty="0">
                <a:solidFill>
                  <a:srgbClr val="FF6600"/>
                </a:solidFill>
                <a:latin typeface="Times New Roman" panose="02020603050405020304" pitchFamily="18" charset="0"/>
                <a:cs typeface="Times New Roman" panose="02020603050405020304" pitchFamily="18" charset="0"/>
              </a:rPr>
              <a:t>842</a:t>
            </a:r>
            <a:r>
              <a:rPr sz="1200" b="1" dirty="0">
                <a:solidFill>
                  <a:srgbClr val="FF6600"/>
                </a:solidFill>
                <a:latin typeface="Times New Roman" panose="02020603050405020304" pitchFamily="18" charset="0"/>
                <a:cs typeface="Times New Roman" panose="02020603050405020304" pitchFamily="18" charset="0"/>
              </a:rPr>
              <a:t> player profiles</a:t>
            </a:r>
          </a:p>
        </p:txBody>
      </p:sp>
      <p:sp>
        <p:nvSpPr>
          <p:cNvPr id="22" name="Rounded Rectangle 21"/>
          <p:cNvSpPr/>
          <p:nvPr/>
        </p:nvSpPr>
        <p:spPr>
          <a:xfrm>
            <a:off x="5074920" y="2971800"/>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45720" tIns="50800" rIns="45720" bIns="50800" rtlCol="0" anchor="ctr"/>
          <a:lstStyle/>
          <a:p>
            <a:pPr algn="l"/>
            <a:r>
              <a:rPr sz="1200" b="1" dirty="0">
                <a:solidFill>
                  <a:srgbClr val="FF6600"/>
                </a:solidFill>
                <a:latin typeface="Times New Roman" panose="02020603050405020304" pitchFamily="18" charset="0"/>
                <a:cs typeface="Times New Roman" panose="02020603050405020304" pitchFamily="18" charset="0"/>
              </a:rPr>
              <a:t>Dataset Notes</a:t>
            </a:r>
          </a:p>
          <a:p>
            <a:pPr algn="l"/>
            <a:r>
              <a:rPr sz="1200" b="1" dirty="0">
                <a:solidFill>
                  <a:srgbClr val="FF6600"/>
                </a:solidFill>
                <a:latin typeface="Times New Roman" panose="02020603050405020304" pitchFamily="18" charset="0"/>
                <a:cs typeface="Times New Roman" panose="02020603050405020304" pitchFamily="18" charset="0"/>
              </a:rPr>
              <a:t>1</a:t>
            </a:r>
            <a:r>
              <a:rPr lang="en-IN" sz="1200" b="1" dirty="0">
                <a:solidFill>
                  <a:srgbClr val="FF6600"/>
                </a:solidFill>
                <a:latin typeface="Times New Roman" panose="02020603050405020304" pitchFamily="18" charset="0"/>
                <a:cs typeface="Times New Roman" panose="02020603050405020304" pitchFamily="18" charset="0"/>
              </a:rPr>
              <a:t>5</a:t>
            </a:r>
            <a:r>
              <a:rPr sz="1200" b="1" dirty="0">
                <a:solidFill>
                  <a:srgbClr val="FF6600"/>
                </a:solidFill>
                <a:latin typeface="Times New Roman" panose="02020603050405020304" pitchFamily="18" charset="0"/>
                <a:cs typeface="Times New Roman" panose="02020603050405020304" pitchFamily="18" charset="0"/>
              </a:rPr>
              <a:t> teams </a:t>
            </a:r>
          </a:p>
          <a:p>
            <a:pPr algn="l"/>
            <a:r>
              <a:rPr sz="1200" b="1" dirty="0">
                <a:solidFill>
                  <a:srgbClr val="FF6600"/>
                </a:solidFill>
                <a:latin typeface="Times New Roman" panose="02020603050405020304" pitchFamily="18" charset="0"/>
                <a:cs typeface="Times New Roman" panose="02020603050405020304" pitchFamily="18" charset="0"/>
              </a:rPr>
              <a:t>Multiple CSV files</a:t>
            </a:r>
          </a:p>
          <a:p>
            <a:pPr algn="l"/>
            <a:r>
              <a:rPr sz="1200" b="1" dirty="0">
                <a:solidFill>
                  <a:srgbClr val="FF6600"/>
                </a:solidFill>
                <a:latin typeface="Times New Roman" panose="02020603050405020304" pitchFamily="18" charset="0"/>
                <a:cs typeface="Times New Roman" panose="02020603050405020304" pitchFamily="18" charset="0"/>
              </a:rPr>
              <a:t>Dataset period stated: 2008–202</a:t>
            </a:r>
            <a:r>
              <a:rPr lang="en-IN" sz="1200" b="1" dirty="0">
                <a:solidFill>
                  <a:srgbClr val="FF6600"/>
                </a:solidFill>
                <a:latin typeface="Times New Roman" panose="02020603050405020304" pitchFamily="18" charset="0"/>
                <a:cs typeface="Times New Roman" panose="02020603050405020304" pitchFamily="18" charset="0"/>
              </a:rPr>
              <a:t>6</a:t>
            </a:r>
            <a:endParaRPr sz="1200" b="1" dirty="0">
              <a:solidFill>
                <a:srgbClr val="FF6600"/>
              </a:solidFill>
              <a:latin typeface="Times New Roman" panose="02020603050405020304" pitchFamily="18" charset="0"/>
              <a:cs typeface="Times New Roman" panose="02020603050405020304" pitchFamily="18" charset="0"/>
            </a:endParaRPr>
          </a:p>
        </p:txBody>
      </p:sp>
      <p:sp>
        <p:nvSpPr>
          <p:cNvPr id="23" name="Rounded Rectangle 22"/>
          <p:cNvSpPr/>
          <p:nvPr/>
        </p:nvSpPr>
        <p:spPr>
          <a:xfrm>
            <a:off x="5074920" y="3977639"/>
            <a:ext cx="4526280" cy="868680"/>
          </a:xfrm>
          <a:prstGeom prst="roundRect">
            <a:avLst>
              <a:gd name="adj" fmla="val 8000"/>
            </a:avLst>
          </a:prstGeom>
          <a:solidFill>
            <a:srgbClr val="F4F6FB"/>
          </a:solidFill>
          <a:ln w="12700">
            <a:solidFill>
              <a:srgbClr val="FF6600"/>
            </a:solidFill>
          </a:ln>
        </p:spPr>
        <p:style>
          <a:lnRef idx="1">
            <a:schemeClr val="accent1"/>
          </a:lnRef>
          <a:fillRef idx="3">
            <a:schemeClr val="accent1"/>
          </a:fillRef>
          <a:effectRef idx="2">
            <a:schemeClr val="accent1"/>
          </a:effectRef>
          <a:fontRef idx="minor">
            <a:schemeClr val="lt1"/>
          </a:fontRef>
        </p:style>
        <p:txBody>
          <a:bodyPr wrap="square" lIns="45720" tIns="50800" rIns="45720" bIns="50800" rtlCol="0" anchor="ctr"/>
          <a:lstStyle/>
          <a:p>
            <a:pPr algn="l"/>
            <a:r>
              <a:rPr sz="1200" b="1" dirty="0">
                <a:solidFill>
                  <a:srgbClr val="FF6600"/>
                </a:solidFill>
                <a:latin typeface="Times New Roman" panose="02020603050405020304" pitchFamily="18" charset="0"/>
                <a:cs typeface="Times New Roman" panose="02020603050405020304" pitchFamily="18" charset="0"/>
              </a:rPr>
              <a:t>Tools &amp; Libraries</a:t>
            </a:r>
          </a:p>
          <a:p>
            <a:pPr algn="l"/>
            <a:r>
              <a:rPr sz="1200" b="1" dirty="0">
                <a:solidFill>
                  <a:srgbClr val="FF6600"/>
                </a:solidFill>
                <a:latin typeface="Times New Roman" panose="02020603050405020304" pitchFamily="18" charset="0"/>
                <a:cs typeface="Times New Roman" panose="02020603050405020304" pitchFamily="18" charset="0"/>
              </a:rPr>
              <a:t>Python • Pandas • NumPy</a:t>
            </a:r>
          </a:p>
          <a:p>
            <a:pPr algn="l"/>
            <a:r>
              <a:rPr sz="1200" b="1" dirty="0">
                <a:solidFill>
                  <a:srgbClr val="FF6600"/>
                </a:solidFill>
                <a:latin typeface="Times New Roman" panose="02020603050405020304" pitchFamily="18" charset="0"/>
                <a:cs typeface="Times New Roman" panose="02020603050405020304" pitchFamily="18" charset="0"/>
              </a:rPr>
              <a:t>Matplotlib • Seaborn • </a:t>
            </a:r>
            <a:r>
              <a:rPr sz="1200" b="1" dirty="0" err="1">
                <a:solidFill>
                  <a:srgbClr val="FF6600"/>
                </a:solidFill>
                <a:latin typeface="Times New Roman" panose="02020603050405020304" pitchFamily="18" charset="0"/>
                <a:cs typeface="Times New Roman" panose="02020603050405020304" pitchFamily="18" charset="0"/>
              </a:rPr>
              <a:t>Plotly</a:t>
            </a:r>
            <a:endParaRPr sz="1200" b="1" dirty="0">
              <a:solidFill>
                <a:srgbClr val="FF6600"/>
              </a:solidFill>
              <a:latin typeface="Times New Roman" panose="02020603050405020304" pitchFamily="18" charset="0"/>
              <a:cs typeface="Times New Roman" panose="02020603050405020304" pitchFamily="18" charset="0"/>
            </a:endParaRPr>
          </a:p>
          <a:p>
            <a:pPr algn="l"/>
            <a:r>
              <a:rPr sz="1200" b="1" dirty="0">
                <a:solidFill>
                  <a:srgbClr val="FF6600"/>
                </a:solidFill>
                <a:latin typeface="Times New Roman" panose="02020603050405020304" pitchFamily="18" charset="0"/>
                <a:cs typeface="Times New Roman" panose="02020603050405020304" pitchFamily="18" charset="0"/>
              </a:rPr>
              <a:t>Google </a:t>
            </a:r>
            <a:r>
              <a:rPr sz="1200" b="1" dirty="0" err="1">
                <a:solidFill>
                  <a:srgbClr val="FF6600"/>
                </a:solidFill>
                <a:latin typeface="Times New Roman" panose="02020603050405020304" pitchFamily="18" charset="0"/>
                <a:cs typeface="Times New Roman" panose="02020603050405020304" pitchFamily="18" charset="0"/>
              </a:rPr>
              <a:t>Colab</a:t>
            </a:r>
            <a:endParaRPr sz="1200" b="1" dirty="0">
              <a:solidFill>
                <a:srgbClr val="FF6600"/>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424984" y="5715000"/>
            <a:ext cx="9144000" cy="230832"/>
          </a:xfrm>
          <a:prstGeom prst="rect">
            <a:avLst/>
          </a:prstGeom>
          <a:noFill/>
        </p:spPr>
        <p:txBody>
          <a:bodyPr wrap="square">
            <a:spAutoFit/>
          </a:bodyPr>
          <a:lstStyle/>
          <a:p>
            <a:pPr algn="ctr"/>
            <a:r>
              <a:rPr sz="900" i="1" dirty="0">
                <a:solidFill>
                  <a:srgbClr val="808080"/>
                </a:solidFill>
                <a:latin typeface="Times New Roman" panose="02020603050405020304" pitchFamily="18" charset="0"/>
                <a:cs typeface="Times New Roman" panose="02020603050405020304" pitchFamily="18" charset="0"/>
              </a:rPr>
              <a:t>Dataset figures are taken from the supplied project presentation. Validate quality and missing values against the CSV files.</a:t>
            </a:r>
          </a:p>
        </p:txBody>
      </p:sp>
    </p:spTree>
    <p:extLst>
      <p:ext uri="{BB962C8B-B14F-4D97-AF65-F5344CB8AC3E}">
        <p14:creationId xmlns:p14="http://schemas.microsoft.com/office/powerpoint/2010/main" val="3510378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3147364" y="52524"/>
            <a:ext cx="4206240"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65" name="TextBox 64"/>
          <p:cNvSpPr txBox="1"/>
          <p:nvPr/>
        </p:nvSpPr>
        <p:spPr>
          <a:xfrm>
            <a:off x="4180974" y="331716"/>
            <a:ext cx="1912704" cy="353943"/>
          </a:xfrm>
          <a:prstGeom prst="rect">
            <a:avLst/>
          </a:prstGeom>
          <a:noFill/>
        </p:spPr>
        <p:txBody>
          <a:bodyPr wrap="none" anchor="ctr">
            <a:spAutoFit/>
          </a:bodyPr>
          <a:lstStyle/>
          <a:p>
            <a:pPr algn="ctr"/>
            <a:r>
              <a:rPr lang="en-US" sz="1700" b="1" dirty="0">
                <a:solidFill>
                  <a:srgbClr val="FFFFFF"/>
                </a:solidFill>
                <a:latin typeface="Times New Roman" panose="02020603050405020304" pitchFamily="18" charset="0"/>
                <a:cs typeface="Times New Roman" panose="02020603050405020304" pitchFamily="18" charset="0"/>
              </a:rPr>
              <a:t>CODE SNIPPETS</a:t>
            </a:r>
            <a:endParaRPr sz="1700" b="1" dirty="0">
              <a:solidFill>
                <a:srgbClr val="FFFFFF"/>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9E8D8E4-E231-09E4-E5E5-8FAEE78B02D0}"/>
              </a:ext>
            </a:extLst>
          </p:cNvPr>
          <p:cNvSpPr txBox="1"/>
          <p:nvPr/>
        </p:nvSpPr>
        <p:spPr>
          <a:xfrm>
            <a:off x="621792" y="850392"/>
            <a:ext cx="3308919" cy="292388"/>
          </a:xfrm>
          <a:prstGeom prst="rect">
            <a:avLst/>
          </a:prstGeom>
          <a:noFill/>
        </p:spPr>
        <p:txBody>
          <a:bodyPr wrap="none">
            <a:spAutoFit/>
          </a:bodyPr>
          <a:lstStyle/>
          <a:p>
            <a:pPr>
              <a:defRPr sz="1300">
                <a:solidFill>
                  <a:srgbClr val="5A6270"/>
                </a:solidFill>
                <a:latin typeface="Aptos"/>
              </a:defRPr>
            </a:pPr>
            <a:r>
              <a:rPr>
                <a:latin typeface="Times New Roman" panose="02020603050405020304" pitchFamily="18" charset="0"/>
                <a:cs typeface="Times New Roman" panose="02020603050405020304" pitchFamily="18" charset="0"/>
              </a:rPr>
              <a:t>Key Python steps used in the project workflow</a:t>
            </a:r>
          </a:p>
        </p:txBody>
      </p:sp>
      <p:sp>
        <p:nvSpPr>
          <p:cNvPr id="10" name="Rounded Rectangle 3">
            <a:extLst>
              <a:ext uri="{FF2B5EF4-FFF2-40B4-BE49-F238E27FC236}">
                <a16:creationId xmlns:a16="http://schemas.microsoft.com/office/drawing/2014/main" id="{D29040DC-ED51-649B-413C-2991CE5F6152}"/>
              </a:ext>
            </a:extLst>
          </p:cNvPr>
          <p:cNvSpPr/>
          <p:nvPr/>
        </p:nvSpPr>
        <p:spPr>
          <a:xfrm>
            <a:off x="594360" y="1426516"/>
            <a:ext cx="4206240" cy="1956763"/>
          </a:xfrm>
          <a:prstGeom prst="roundRect">
            <a:avLst/>
          </a:prstGeom>
          <a:solidFill>
            <a:srgbClr val="FFFFFF"/>
          </a:solidFill>
          <a:ln>
            <a:solidFill>
              <a:srgbClr val="DA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E474292-AA80-C04C-78CF-55B34CFAFF02}"/>
              </a:ext>
            </a:extLst>
          </p:cNvPr>
          <p:cNvSpPr txBox="1"/>
          <p:nvPr/>
        </p:nvSpPr>
        <p:spPr>
          <a:xfrm>
            <a:off x="795528" y="1463039"/>
            <a:ext cx="3547872" cy="261610"/>
          </a:xfrm>
          <a:prstGeom prst="rect">
            <a:avLst/>
          </a:prstGeom>
          <a:noFill/>
        </p:spPr>
        <p:txBody>
          <a:bodyPr wrap="square">
            <a:spAutoFit/>
          </a:bodyPr>
          <a:lstStyle/>
          <a:p>
            <a:pPr>
              <a:defRPr sz="1100" b="1">
                <a:solidFill>
                  <a:srgbClr val="2F5896"/>
                </a:solidFill>
                <a:latin typeface="Aptos"/>
              </a:defRPr>
            </a:pPr>
            <a:r>
              <a:rPr>
                <a:latin typeface="Times New Roman" panose="02020603050405020304" pitchFamily="18" charset="0"/>
                <a:cs typeface="Times New Roman" panose="02020603050405020304" pitchFamily="18" charset="0"/>
              </a:rPr>
              <a:t>01  DATA LOADING</a:t>
            </a:r>
          </a:p>
        </p:txBody>
      </p:sp>
      <p:sp>
        <p:nvSpPr>
          <p:cNvPr id="14" name="Rounded Rectangle 5">
            <a:extLst>
              <a:ext uri="{FF2B5EF4-FFF2-40B4-BE49-F238E27FC236}">
                <a16:creationId xmlns:a16="http://schemas.microsoft.com/office/drawing/2014/main" id="{537BC1B3-FCE3-1266-3A1D-4E654CC1E6B0}"/>
              </a:ext>
            </a:extLst>
          </p:cNvPr>
          <p:cNvSpPr/>
          <p:nvPr/>
        </p:nvSpPr>
        <p:spPr>
          <a:xfrm>
            <a:off x="758952" y="1892807"/>
            <a:ext cx="3813048" cy="1316736"/>
          </a:xfrm>
          <a:prstGeom prst="roundRect">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4F29537-F12C-1C6D-A267-AD630E29F9F7}"/>
              </a:ext>
            </a:extLst>
          </p:cNvPr>
          <p:cNvSpPr txBox="1"/>
          <p:nvPr/>
        </p:nvSpPr>
        <p:spPr>
          <a:xfrm>
            <a:off x="923544" y="2039162"/>
            <a:ext cx="3419856" cy="692497"/>
          </a:xfrm>
          <a:prstGeom prst="rect">
            <a:avLst/>
          </a:prstGeom>
          <a:noFill/>
        </p:spPr>
        <p:txBody>
          <a:bodyPr wrap="square">
            <a:spAutoFit/>
          </a:bodyPr>
          <a:lstStyle/>
          <a:p>
            <a:pPr>
              <a:defRPr sz="1150">
                <a:solidFill>
                  <a:srgbClr val="262A30"/>
                </a:solidFill>
                <a:latin typeface="Consolas"/>
              </a:defRPr>
            </a:pPr>
            <a:r>
              <a:rPr sz="1300" dirty="0">
                <a:latin typeface="Times New Roman" panose="02020603050405020304" pitchFamily="18" charset="0"/>
                <a:cs typeface="Times New Roman" panose="02020603050405020304" pitchFamily="18" charset="0"/>
              </a:rPr>
              <a:t>import pandas as pd</a:t>
            </a:r>
            <a:br>
              <a:rPr sz="1300" dirty="0">
                <a:latin typeface="Times New Roman" panose="02020603050405020304" pitchFamily="18" charset="0"/>
                <a:cs typeface="Times New Roman" panose="02020603050405020304" pitchFamily="18" charset="0"/>
              </a:rPr>
            </a:br>
            <a:r>
              <a:rPr sz="1300" dirty="0">
                <a:latin typeface="Times New Roman" panose="02020603050405020304" pitchFamily="18" charset="0"/>
                <a:cs typeface="Times New Roman" panose="02020603050405020304" pitchFamily="18" charset="0"/>
              </a:rPr>
              <a:t>matches = </a:t>
            </a:r>
            <a:r>
              <a:rPr sz="1300" dirty="0" err="1">
                <a:latin typeface="Times New Roman" panose="02020603050405020304" pitchFamily="18" charset="0"/>
                <a:cs typeface="Times New Roman" panose="02020603050405020304" pitchFamily="18" charset="0"/>
              </a:rPr>
              <a:t>pd.read_csv</a:t>
            </a:r>
            <a:r>
              <a:rPr sz="1300" dirty="0">
                <a:latin typeface="Times New Roman" panose="02020603050405020304" pitchFamily="18" charset="0"/>
                <a:cs typeface="Times New Roman" panose="02020603050405020304" pitchFamily="18" charset="0"/>
              </a:rPr>
              <a:t>("matches.csv")</a:t>
            </a:r>
            <a:br>
              <a:rPr sz="1300" dirty="0">
                <a:latin typeface="Times New Roman" panose="02020603050405020304" pitchFamily="18" charset="0"/>
                <a:cs typeface="Times New Roman" panose="02020603050405020304" pitchFamily="18" charset="0"/>
              </a:rPr>
            </a:br>
            <a:r>
              <a:rPr sz="1300" dirty="0">
                <a:latin typeface="Times New Roman" panose="02020603050405020304" pitchFamily="18" charset="0"/>
                <a:cs typeface="Times New Roman" panose="02020603050405020304" pitchFamily="18" charset="0"/>
              </a:rPr>
              <a:t>deliveries = </a:t>
            </a:r>
            <a:r>
              <a:rPr sz="1300" dirty="0" err="1">
                <a:latin typeface="Times New Roman" panose="02020603050405020304" pitchFamily="18" charset="0"/>
                <a:cs typeface="Times New Roman" panose="02020603050405020304" pitchFamily="18" charset="0"/>
              </a:rPr>
              <a:t>pd.read_csv</a:t>
            </a:r>
            <a:r>
              <a:rPr sz="1300" dirty="0">
                <a:latin typeface="Times New Roman" panose="02020603050405020304" pitchFamily="18" charset="0"/>
                <a:cs typeface="Times New Roman" panose="02020603050405020304" pitchFamily="18" charset="0"/>
              </a:rPr>
              <a:t>("deliveries.csv")</a:t>
            </a:r>
          </a:p>
        </p:txBody>
      </p:sp>
      <p:sp>
        <p:nvSpPr>
          <p:cNvPr id="19" name="Rounded Rectangle 7">
            <a:extLst>
              <a:ext uri="{FF2B5EF4-FFF2-40B4-BE49-F238E27FC236}">
                <a16:creationId xmlns:a16="http://schemas.microsoft.com/office/drawing/2014/main" id="{E6C1BFB6-B84B-B087-17ED-A5DB2079B793}"/>
              </a:ext>
            </a:extLst>
          </p:cNvPr>
          <p:cNvSpPr/>
          <p:nvPr/>
        </p:nvSpPr>
        <p:spPr>
          <a:xfrm>
            <a:off x="5137326" y="1426517"/>
            <a:ext cx="4692474" cy="1918190"/>
          </a:xfrm>
          <a:prstGeom prst="roundRect">
            <a:avLst/>
          </a:prstGeom>
          <a:solidFill>
            <a:srgbClr val="FFFFFF"/>
          </a:solidFill>
          <a:ln>
            <a:solidFill>
              <a:srgbClr val="DA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2C49BE34-9E1B-A874-7B27-23ED656B9888}"/>
              </a:ext>
            </a:extLst>
          </p:cNvPr>
          <p:cNvSpPr txBox="1"/>
          <p:nvPr/>
        </p:nvSpPr>
        <p:spPr>
          <a:xfrm>
            <a:off x="5343066" y="1493000"/>
            <a:ext cx="1713931" cy="261610"/>
          </a:xfrm>
          <a:prstGeom prst="rect">
            <a:avLst/>
          </a:prstGeom>
          <a:noFill/>
        </p:spPr>
        <p:txBody>
          <a:bodyPr wrap="none">
            <a:spAutoFit/>
          </a:bodyPr>
          <a:lstStyle/>
          <a:p>
            <a:pPr>
              <a:defRPr sz="1100" b="1">
                <a:solidFill>
                  <a:srgbClr val="2F5896"/>
                </a:solidFill>
                <a:latin typeface="Aptos"/>
              </a:defRPr>
            </a:pPr>
            <a:r>
              <a:rPr dirty="0">
                <a:latin typeface="Times New Roman" panose="02020603050405020304" pitchFamily="18" charset="0"/>
                <a:cs typeface="Times New Roman" panose="02020603050405020304" pitchFamily="18" charset="0"/>
              </a:rPr>
              <a:t>02  DATA INSPECTION</a:t>
            </a:r>
          </a:p>
        </p:txBody>
      </p:sp>
      <p:sp>
        <p:nvSpPr>
          <p:cNvPr id="23" name="Rounded Rectangle 9">
            <a:extLst>
              <a:ext uri="{FF2B5EF4-FFF2-40B4-BE49-F238E27FC236}">
                <a16:creationId xmlns:a16="http://schemas.microsoft.com/office/drawing/2014/main" id="{8B977D91-5132-E3AE-F1A4-0E5B0F6BC9D8}"/>
              </a:ext>
            </a:extLst>
          </p:cNvPr>
          <p:cNvSpPr/>
          <p:nvPr/>
        </p:nvSpPr>
        <p:spPr>
          <a:xfrm>
            <a:off x="5343066" y="1886192"/>
            <a:ext cx="4258134" cy="1353312"/>
          </a:xfrm>
          <a:prstGeom prst="roundRect">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85378833-C28D-DE86-A447-384F1660E363}"/>
              </a:ext>
            </a:extLst>
          </p:cNvPr>
          <p:cNvSpPr txBox="1"/>
          <p:nvPr/>
        </p:nvSpPr>
        <p:spPr>
          <a:xfrm>
            <a:off x="5457366" y="1981962"/>
            <a:ext cx="4572000" cy="1092607"/>
          </a:xfrm>
          <a:prstGeom prst="rect">
            <a:avLst/>
          </a:prstGeom>
          <a:noFill/>
        </p:spPr>
        <p:txBody>
          <a:bodyPr wrap="square">
            <a:spAutoFit/>
          </a:bodyPr>
          <a:lstStyle/>
          <a:p>
            <a:pPr>
              <a:defRPr sz="1150">
                <a:solidFill>
                  <a:srgbClr val="262A30"/>
                </a:solidFill>
                <a:latin typeface="Consolas"/>
              </a:defRPr>
            </a:pPr>
            <a:r>
              <a:rPr sz="1300" dirty="0">
                <a:latin typeface="Times New Roman" panose="02020603050405020304" pitchFamily="18" charset="0"/>
                <a:cs typeface="Times New Roman" panose="02020603050405020304" pitchFamily="18" charset="0"/>
              </a:rPr>
              <a:t>print("Matches shape:", </a:t>
            </a:r>
            <a:r>
              <a:rPr sz="1300" dirty="0" err="1">
                <a:latin typeface="Times New Roman" panose="02020603050405020304" pitchFamily="18" charset="0"/>
                <a:cs typeface="Times New Roman" panose="02020603050405020304" pitchFamily="18" charset="0"/>
              </a:rPr>
              <a:t>matches.shape</a:t>
            </a:r>
            <a:r>
              <a:rPr sz="1300" dirty="0">
                <a:latin typeface="Times New Roman" panose="02020603050405020304" pitchFamily="18" charset="0"/>
                <a:cs typeface="Times New Roman" panose="02020603050405020304" pitchFamily="18" charset="0"/>
              </a:rPr>
              <a:t>)</a:t>
            </a:r>
            <a:br>
              <a:rPr sz="1300" dirty="0">
                <a:latin typeface="Times New Roman" panose="02020603050405020304" pitchFamily="18" charset="0"/>
                <a:cs typeface="Times New Roman" panose="02020603050405020304" pitchFamily="18" charset="0"/>
              </a:rPr>
            </a:br>
            <a:r>
              <a:rPr sz="1300" dirty="0">
                <a:latin typeface="Times New Roman" panose="02020603050405020304" pitchFamily="18" charset="0"/>
                <a:cs typeface="Times New Roman" panose="02020603050405020304" pitchFamily="18" charset="0"/>
              </a:rPr>
              <a:t>print("Deliveries shape:", </a:t>
            </a:r>
            <a:r>
              <a:rPr sz="1300" dirty="0" err="1">
                <a:latin typeface="Times New Roman" panose="02020603050405020304" pitchFamily="18" charset="0"/>
                <a:cs typeface="Times New Roman" panose="02020603050405020304" pitchFamily="18" charset="0"/>
              </a:rPr>
              <a:t>deliveries.shape</a:t>
            </a:r>
            <a:r>
              <a:rPr sz="1300" dirty="0">
                <a:latin typeface="Times New Roman" panose="02020603050405020304" pitchFamily="18" charset="0"/>
                <a:cs typeface="Times New Roman" panose="02020603050405020304" pitchFamily="18" charset="0"/>
              </a:rPr>
              <a:t>)</a:t>
            </a:r>
            <a:br>
              <a:rPr sz="1300" dirty="0">
                <a:latin typeface="Times New Roman" panose="02020603050405020304" pitchFamily="18" charset="0"/>
                <a:cs typeface="Times New Roman" panose="02020603050405020304" pitchFamily="18" charset="0"/>
              </a:rPr>
            </a:br>
            <a:br>
              <a:rPr sz="1300" dirty="0">
                <a:latin typeface="Times New Roman" panose="02020603050405020304" pitchFamily="18" charset="0"/>
                <a:cs typeface="Times New Roman" panose="02020603050405020304" pitchFamily="18" charset="0"/>
              </a:rPr>
            </a:br>
            <a:r>
              <a:rPr sz="1300" dirty="0">
                <a:latin typeface="Times New Roman" panose="02020603050405020304" pitchFamily="18" charset="0"/>
                <a:cs typeface="Times New Roman" panose="02020603050405020304" pitchFamily="18" charset="0"/>
              </a:rPr>
              <a:t>print(</a:t>
            </a:r>
            <a:r>
              <a:rPr sz="1300" dirty="0" err="1">
                <a:latin typeface="Times New Roman" panose="02020603050405020304" pitchFamily="18" charset="0"/>
                <a:cs typeface="Times New Roman" panose="02020603050405020304" pitchFamily="18" charset="0"/>
              </a:rPr>
              <a:t>matches.columns</a:t>
            </a:r>
            <a:r>
              <a:rPr sz="1300" dirty="0">
                <a:latin typeface="Times New Roman" panose="02020603050405020304" pitchFamily="18" charset="0"/>
                <a:cs typeface="Times New Roman" panose="02020603050405020304" pitchFamily="18" charset="0"/>
              </a:rPr>
              <a:t>)</a:t>
            </a:r>
            <a:br>
              <a:rPr sz="1300" dirty="0">
                <a:latin typeface="Times New Roman" panose="02020603050405020304" pitchFamily="18" charset="0"/>
                <a:cs typeface="Times New Roman" panose="02020603050405020304" pitchFamily="18" charset="0"/>
              </a:rPr>
            </a:br>
            <a:r>
              <a:rPr sz="1300" dirty="0">
                <a:latin typeface="Times New Roman" panose="02020603050405020304" pitchFamily="18" charset="0"/>
                <a:cs typeface="Times New Roman" panose="02020603050405020304" pitchFamily="18" charset="0"/>
              </a:rPr>
              <a:t>print(</a:t>
            </a:r>
            <a:r>
              <a:rPr sz="1300" dirty="0" err="1">
                <a:latin typeface="Times New Roman" panose="02020603050405020304" pitchFamily="18" charset="0"/>
                <a:cs typeface="Times New Roman" panose="02020603050405020304" pitchFamily="18" charset="0"/>
              </a:rPr>
              <a:t>deliveries.columns</a:t>
            </a:r>
            <a:r>
              <a:rPr sz="1300" dirty="0">
                <a:latin typeface="Times New Roman" panose="02020603050405020304" pitchFamily="18" charset="0"/>
                <a:cs typeface="Times New Roman" panose="02020603050405020304" pitchFamily="18" charset="0"/>
              </a:rPr>
              <a:t>)</a:t>
            </a:r>
          </a:p>
        </p:txBody>
      </p:sp>
      <p:sp>
        <p:nvSpPr>
          <p:cNvPr id="27" name="Rounded Rectangle 11">
            <a:extLst>
              <a:ext uri="{FF2B5EF4-FFF2-40B4-BE49-F238E27FC236}">
                <a16:creationId xmlns:a16="http://schemas.microsoft.com/office/drawing/2014/main" id="{53C2654A-2D55-467D-1D81-5F16C06EB4FC}"/>
              </a:ext>
            </a:extLst>
          </p:cNvPr>
          <p:cNvSpPr/>
          <p:nvPr/>
        </p:nvSpPr>
        <p:spPr>
          <a:xfrm>
            <a:off x="577518" y="3633163"/>
            <a:ext cx="4299282" cy="1777037"/>
          </a:xfrm>
          <a:prstGeom prst="roundRect">
            <a:avLst/>
          </a:prstGeom>
          <a:solidFill>
            <a:srgbClr val="FFFFFF"/>
          </a:solidFill>
          <a:ln>
            <a:solidFill>
              <a:srgbClr val="DA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9583B667-1492-9982-A9B1-0FC127332DF6}"/>
              </a:ext>
            </a:extLst>
          </p:cNvPr>
          <p:cNvSpPr txBox="1"/>
          <p:nvPr/>
        </p:nvSpPr>
        <p:spPr>
          <a:xfrm>
            <a:off x="758952" y="3754327"/>
            <a:ext cx="2704587" cy="261610"/>
          </a:xfrm>
          <a:prstGeom prst="rect">
            <a:avLst/>
          </a:prstGeom>
          <a:noFill/>
        </p:spPr>
        <p:txBody>
          <a:bodyPr wrap="none">
            <a:spAutoFit/>
          </a:bodyPr>
          <a:lstStyle/>
          <a:p>
            <a:pPr>
              <a:defRPr sz="1100" b="1">
                <a:solidFill>
                  <a:srgbClr val="2F5896"/>
                </a:solidFill>
                <a:latin typeface="Aptos"/>
              </a:defRPr>
            </a:pPr>
            <a:r>
              <a:rPr dirty="0">
                <a:latin typeface="Times New Roman" panose="02020603050405020304" pitchFamily="18" charset="0"/>
                <a:cs typeface="Times New Roman" panose="02020603050405020304" pitchFamily="18" charset="0"/>
              </a:rPr>
              <a:t>03  DATA VALIDATION &amp; CLEANING</a:t>
            </a:r>
          </a:p>
        </p:txBody>
      </p:sp>
      <p:sp>
        <p:nvSpPr>
          <p:cNvPr id="31" name="Rounded Rectangle 13">
            <a:extLst>
              <a:ext uri="{FF2B5EF4-FFF2-40B4-BE49-F238E27FC236}">
                <a16:creationId xmlns:a16="http://schemas.microsoft.com/office/drawing/2014/main" id="{99710B9D-82E2-DC6B-398C-8FF9AC36B5B9}"/>
              </a:ext>
            </a:extLst>
          </p:cNvPr>
          <p:cNvSpPr/>
          <p:nvPr/>
        </p:nvSpPr>
        <p:spPr>
          <a:xfrm>
            <a:off x="758952" y="4051507"/>
            <a:ext cx="3813048" cy="1239416"/>
          </a:xfrm>
          <a:prstGeom prst="roundRect">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A4B4C876-B950-89D8-6E78-214AC233A45A}"/>
              </a:ext>
            </a:extLst>
          </p:cNvPr>
          <p:cNvSpPr txBox="1"/>
          <p:nvPr/>
        </p:nvSpPr>
        <p:spPr>
          <a:xfrm>
            <a:off x="873252" y="4160520"/>
            <a:ext cx="3976116" cy="1092607"/>
          </a:xfrm>
          <a:prstGeom prst="rect">
            <a:avLst/>
          </a:prstGeom>
          <a:noFill/>
        </p:spPr>
        <p:txBody>
          <a:bodyPr wrap="square">
            <a:spAutoFit/>
          </a:bodyPr>
          <a:lstStyle/>
          <a:p>
            <a:pPr>
              <a:defRPr sz="1150">
                <a:solidFill>
                  <a:srgbClr val="262A30"/>
                </a:solidFill>
                <a:latin typeface="Consolas"/>
              </a:defRPr>
            </a:pPr>
            <a:r>
              <a:rPr sz="1300" dirty="0">
                <a:latin typeface="Times New Roman" panose="02020603050405020304" pitchFamily="18" charset="0"/>
                <a:cs typeface="Times New Roman" panose="02020603050405020304" pitchFamily="18" charset="0"/>
              </a:rPr>
              <a:t>print(</a:t>
            </a:r>
            <a:r>
              <a:rPr sz="1300" dirty="0" err="1">
                <a:latin typeface="Times New Roman" panose="02020603050405020304" pitchFamily="18" charset="0"/>
                <a:cs typeface="Times New Roman" panose="02020603050405020304" pitchFamily="18" charset="0"/>
              </a:rPr>
              <a:t>matches.isnull</a:t>
            </a:r>
            <a:r>
              <a:rPr sz="1300" dirty="0">
                <a:latin typeface="Times New Roman" panose="02020603050405020304" pitchFamily="18" charset="0"/>
                <a:cs typeface="Times New Roman" panose="02020603050405020304" pitchFamily="18" charset="0"/>
              </a:rPr>
              <a:t>().sum())</a:t>
            </a:r>
            <a:br>
              <a:rPr sz="1300" dirty="0">
                <a:latin typeface="Times New Roman" panose="02020603050405020304" pitchFamily="18" charset="0"/>
                <a:cs typeface="Times New Roman" panose="02020603050405020304" pitchFamily="18" charset="0"/>
              </a:rPr>
            </a:br>
            <a:r>
              <a:rPr sz="1300" dirty="0">
                <a:latin typeface="Times New Roman" panose="02020603050405020304" pitchFamily="18" charset="0"/>
                <a:cs typeface="Times New Roman" panose="02020603050405020304" pitchFamily="18" charset="0"/>
              </a:rPr>
              <a:t>print(</a:t>
            </a:r>
            <a:r>
              <a:rPr sz="1300" dirty="0" err="1">
                <a:latin typeface="Times New Roman" panose="02020603050405020304" pitchFamily="18" charset="0"/>
                <a:cs typeface="Times New Roman" panose="02020603050405020304" pitchFamily="18" charset="0"/>
              </a:rPr>
              <a:t>deliveries.isnull</a:t>
            </a:r>
            <a:r>
              <a:rPr sz="1300" dirty="0">
                <a:latin typeface="Times New Roman" panose="02020603050405020304" pitchFamily="18" charset="0"/>
                <a:cs typeface="Times New Roman" panose="02020603050405020304" pitchFamily="18" charset="0"/>
              </a:rPr>
              <a:t>().sum())</a:t>
            </a:r>
            <a:br>
              <a:rPr sz="1300" dirty="0">
                <a:latin typeface="Times New Roman" panose="02020603050405020304" pitchFamily="18" charset="0"/>
                <a:cs typeface="Times New Roman" panose="02020603050405020304" pitchFamily="18" charset="0"/>
              </a:rPr>
            </a:br>
            <a:br>
              <a:rPr sz="1300" dirty="0">
                <a:latin typeface="Times New Roman" panose="02020603050405020304" pitchFamily="18" charset="0"/>
                <a:cs typeface="Times New Roman" panose="02020603050405020304" pitchFamily="18" charset="0"/>
              </a:rPr>
            </a:br>
            <a:r>
              <a:rPr sz="1300" dirty="0" err="1">
                <a:latin typeface="Times New Roman" panose="02020603050405020304" pitchFamily="18" charset="0"/>
                <a:cs typeface="Times New Roman" panose="02020603050405020304" pitchFamily="18" charset="0"/>
              </a:rPr>
              <a:t>matches.drop_duplicates</a:t>
            </a:r>
            <a:r>
              <a:rPr sz="1300" dirty="0">
                <a:latin typeface="Times New Roman" panose="02020603050405020304" pitchFamily="18" charset="0"/>
                <a:cs typeface="Times New Roman" panose="02020603050405020304" pitchFamily="18" charset="0"/>
              </a:rPr>
              <a:t>(</a:t>
            </a:r>
            <a:r>
              <a:rPr sz="1300" dirty="0" err="1">
                <a:latin typeface="Times New Roman" panose="02020603050405020304" pitchFamily="18" charset="0"/>
                <a:cs typeface="Times New Roman" panose="02020603050405020304" pitchFamily="18" charset="0"/>
              </a:rPr>
              <a:t>inplace</a:t>
            </a:r>
            <a:r>
              <a:rPr sz="1300" dirty="0">
                <a:latin typeface="Times New Roman" panose="02020603050405020304" pitchFamily="18" charset="0"/>
                <a:cs typeface="Times New Roman" panose="02020603050405020304" pitchFamily="18" charset="0"/>
              </a:rPr>
              <a:t>=True)</a:t>
            </a:r>
            <a:br>
              <a:rPr sz="1300" dirty="0">
                <a:latin typeface="Times New Roman" panose="02020603050405020304" pitchFamily="18" charset="0"/>
                <a:cs typeface="Times New Roman" panose="02020603050405020304" pitchFamily="18" charset="0"/>
              </a:rPr>
            </a:br>
            <a:r>
              <a:rPr sz="1300" dirty="0" err="1">
                <a:latin typeface="Times New Roman" panose="02020603050405020304" pitchFamily="18" charset="0"/>
                <a:cs typeface="Times New Roman" panose="02020603050405020304" pitchFamily="18" charset="0"/>
              </a:rPr>
              <a:t>deliveries.drop_duplicates</a:t>
            </a:r>
            <a:r>
              <a:rPr sz="1300" dirty="0">
                <a:latin typeface="Times New Roman" panose="02020603050405020304" pitchFamily="18" charset="0"/>
                <a:cs typeface="Times New Roman" panose="02020603050405020304" pitchFamily="18" charset="0"/>
              </a:rPr>
              <a:t>(</a:t>
            </a:r>
            <a:r>
              <a:rPr sz="1300" dirty="0" err="1">
                <a:latin typeface="Times New Roman" panose="02020603050405020304" pitchFamily="18" charset="0"/>
                <a:cs typeface="Times New Roman" panose="02020603050405020304" pitchFamily="18" charset="0"/>
              </a:rPr>
              <a:t>inplace</a:t>
            </a:r>
            <a:r>
              <a:rPr sz="1300" dirty="0">
                <a:latin typeface="Times New Roman" panose="02020603050405020304" pitchFamily="18" charset="0"/>
                <a:cs typeface="Times New Roman" panose="02020603050405020304" pitchFamily="18" charset="0"/>
              </a:rPr>
              <a:t>=True)</a:t>
            </a:r>
          </a:p>
        </p:txBody>
      </p:sp>
      <p:sp>
        <p:nvSpPr>
          <p:cNvPr id="35" name="Rounded Rectangle 15">
            <a:extLst>
              <a:ext uri="{FF2B5EF4-FFF2-40B4-BE49-F238E27FC236}">
                <a16:creationId xmlns:a16="http://schemas.microsoft.com/office/drawing/2014/main" id="{C1DA7074-581F-9100-130E-8F9FAA4A9D64}"/>
              </a:ext>
            </a:extLst>
          </p:cNvPr>
          <p:cNvSpPr/>
          <p:nvPr/>
        </p:nvSpPr>
        <p:spPr>
          <a:xfrm>
            <a:off x="5160186" y="3653892"/>
            <a:ext cx="4669614" cy="1756308"/>
          </a:xfrm>
          <a:prstGeom prst="roundRect">
            <a:avLst/>
          </a:prstGeom>
          <a:solidFill>
            <a:srgbClr val="FFFFFF"/>
          </a:solidFill>
          <a:ln>
            <a:solidFill>
              <a:srgbClr val="DA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3BA48506-022D-D4D1-5236-A0721D91ACF0}"/>
              </a:ext>
            </a:extLst>
          </p:cNvPr>
          <p:cNvSpPr txBox="1"/>
          <p:nvPr/>
        </p:nvSpPr>
        <p:spPr>
          <a:xfrm>
            <a:off x="5343066" y="3731467"/>
            <a:ext cx="1872629" cy="261610"/>
          </a:xfrm>
          <a:prstGeom prst="rect">
            <a:avLst/>
          </a:prstGeom>
          <a:noFill/>
        </p:spPr>
        <p:txBody>
          <a:bodyPr wrap="none">
            <a:spAutoFit/>
          </a:bodyPr>
          <a:lstStyle/>
          <a:p>
            <a:pPr>
              <a:defRPr sz="1100" b="1">
                <a:solidFill>
                  <a:srgbClr val="2F5896"/>
                </a:solidFill>
                <a:latin typeface="Aptos"/>
              </a:defRPr>
            </a:pPr>
            <a:r>
              <a:rPr dirty="0">
                <a:latin typeface="Times New Roman" panose="02020603050405020304" pitchFamily="18" charset="0"/>
                <a:cs typeface="Times New Roman" panose="02020603050405020304" pitchFamily="18" charset="0"/>
              </a:rPr>
              <a:t>04  DATA PREPARATION</a:t>
            </a:r>
          </a:p>
        </p:txBody>
      </p:sp>
      <p:sp>
        <p:nvSpPr>
          <p:cNvPr id="39" name="Rounded Rectangle 17">
            <a:extLst>
              <a:ext uri="{FF2B5EF4-FFF2-40B4-BE49-F238E27FC236}">
                <a16:creationId xmlns:a16="http://schemas.microsoft.com/office/drawing/2014/main" id="{BA82AC01-E662-5EB2-93D8-713EDE2A3012}"/>
              </a:ext>
            </a:extLst>
          </p:cNvPr>
          <p:cNvSpPr/>
          <p:nvPr/>
        </p:nvSpPr>
        <p:spPr>
          <a:xfrm>
            <a:off x="5307506" y="4111108"/>
            <a:ext cx="4173208" cy="1046824"/>
          </a:xfrm>
          <a:prstGeom prst="roundRect">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FFEE5C05-4147-181C-221D-F042CE3F885A}"/>
              </a:ext>
            </a:extLst>
          </p:cNvPr>
          <p:cNvSpPr txBox="1"/>
          <p:nvPr/>
        </p:nvSpPr>
        <p:spPr>
          <a:xfrm>
            <a:off x="5457366" y="4147923"/>
            <a:ext cx="4255594" cy="692497"/>
          </a:xfrm>
          <a:prstGeom prst="rect">
            <a:avLst/>
          </a:prstGeom>
          <a:noFill/>
        </p:spPr>
        <p:txBody>
          <a:bodyPr wrap="square">
            <a:spAutoFit/>
          </a:bodyPr>
          <a:lstStyle/>
          <a:p>
            <a:pPr>
              <a:defRPr sz="1150">
                <a:solidFill>
                  <a:srgbClr val="262A30"/>
                </a:solidFill>
                <a:latin typeface="Consolas"/>
              </a:defRPr>
            </a:pPr>
            <a:r>
              <a:rPr sz="1300" dirty="0">
                <a:latin typeface="Times New Roman" panose="02020603050405020304" pitchFamily="18" charset="0"/>
                <a:cs typeface="Times New Roman" panose="02020603050405020304" pitchFamily="18" charset="0"/>
              </a:rPr>
              <a:t>matches['date'] = </a:t>
            </a:r>
            <a:r>
              <a:rPr sz="1300" dirty="0" err="1">
                <a:latin typeface="Times New Roman" panose="02020603050405020304" pitchFamily="18" charset="0"/>
                <a:cs typeface="Times New Roman" panose="02020603050405020304" pitchFamily="18" charset="0"/>
              </a:rPr>
              <a:t>pd.to_datetime</a:t>
            </a:r>
            <a:r>
              <a:rPr sz="1300" dirty="0">
                <a:latin typeface="Times New Roman" panose="02020603050405020304" pitchFamily="18" charset="0"/>
                <a:cs typeface="Times New Roman" panose="02020603050405020304" pitchFamily="18" charset="0"/>
              </a:rPr>
              <a:t>(matches['date'])</a:t>
            </a:r>
            <a:br>
              <a:rPr sz="1300" dirty="0">
                <a:latin typeface="Times New Roman" panose="02020603050405020304" pitchFamily="18" charset="0"/>
                <a:cs typeface="Times New Roman" panose="02020603050405020304" pitchFamily="18" charset="0"/>
              </a:rPr>
            </a:br>
            <a:br>
              <a:rPr sz="1300" dirty="0">
                <a:latin typeface="Times New Roman" panose="02020603050405020304" pitchFamily="18" charset="0"/>
                <a:cs typeface="Times New Roman" panose="02020603050405020304" pitchFamily="18" charset="0"/>
              </a:rPr>
            </a:br>
            <a:r>
              <a:rPr sz="1300" dirty="0">
                <a:latin typeface="Times New Roman" panose="02020603050405020304" pitchFamily="18" charset="0"/>
                <a:cs typeface="Times New Roman" panose="02020603050405020304" pitchFamily="18" charset="0"/>
              </a:rPr>
              <a:t>print(matches['date'].</a:t>
            </a:r>
            <a:r>
              <a:rPr sz="1300" dirty="0" err="1">
                <a:latin typeface="Times New Roman" panose="02020603050405020304" pitchFamily="18" charset="0"/>
                <a:cs typeface="Times New Roman" panose="02020603050405020304" pitchFamily="18" charset="0"/>
              </a:rPr>
              <a:t>dtype</a:t>
            </a:r>
            <a:r>
              <a:rPr sz="1300" dirty="0">
                <a:latin typeface="Times New Roman" panose="02020603050405020304" pitchFamily="18" charset="0"/>
                <a:cs typeface="Times New Roman" panose="02020603050405020304" pitchFamily="18" charset="0"/>
              </a:rPr>
              <a:t>)</a:t>
            </a:r>
          </a:p>
        </p:txBody>
      </p:sp>
      <p:sp>
        <p:nvSpPr>
          <p:cNvPr id="43" name="Rounded Rectangle 11">
            <a:extLst>
              <a:ext uri="{FF2B5EF4-FFF2-40B4-BE49-F238E27FC236}">
                <a16:creationId xmlns:a16="http://schemas.microsoft.com/office/drawing/2014/main" id="{0E8D2463-EEAB-4DF3-B619-7941CB07096B}"/>
              </a:ext>
            </a:extLst>
          </p:cNvPr>
          <p:cNvSpPr/>
          <p:nvPr/>
        </p:nvSpPr>
        <p:spPr>
          <a:xfrm>
            <a:off x="565630" y="5594570"/>
            <a:ext cx="4299282" cy="1777037"/>
          </a:xfrm>
          <a:prstGeom prst="roundRect">
            <a:avLst/>
          </a:prstGeom>
          <a:solidFill>
            <a:srgbClr val="FFFFFF"/>
          </a:solidFill>
          <a:ln>
            <a:solidFill>
              <a:srgbClr val="DA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E376A25C-48CC-1406-1072-0198E73101D5}"/>
              </a:ext>
            </a:extLst>
          </p:cNvPr>
          <p:cNvSpPr txBox="1"/>
          <p:nvPr/>
        </p:nvSpPr>
        <p:spPr>
          <a:xfrm>
            <a:off x="747064" y="5715734"/>
            <a:ext cx="2265364" cy="261610"/>
          </a:xfrm>
          <a:prstGeom prst="rect">
            <a:avLst/>
          </a:prstGeom>
          <a:noFill/>
        </p:spPr>
        <p:txBody>
          <a:bodyPr wrap="none">
            <a:spAutoFit/>
          </a:bodyPr>
          <a:lstStyle/>
          <a:p>
            <a:pPr>
              <a:defRPr sz="1100" b="1">
                <a:solidFill>
                  <a:srgbClr val="2F5896"/>
                </a:solidFill>
                <a:latin typeface="Aptos"/>
              </a:defRPr>
            </a:pPr>
            <a:r>
              <a:rPr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5</a:t>
            </a:r>
            <a:r>
              <a:rPr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FINDING MISSING VALUES</a:t>
            </a:r>
            <a:endParaRPr dirty="0">
              <a:latin typeface="Times New Roman" panose="02020603050405020304" pitchFamily="18" charset="0"/>
              <a:cs typeface="Times New Roman" panose="02020603050405020304" pitchFamily="18" charset="0"/>
            </a:endParaRPr>
          </a:p>
        </p:txBody>
      </p:sp>
      <p:sp>
        <p:nvSpPr>
          <p:cNvPr id="47" name="Rounded Rectangle 13">
            <a:extLst>
              <a:ext uri="{FF2B5EF4-FFF2-40B4-BE49-F238E27FC236}">
                <a16:creationId xmlns:a16="http://schemas.microsoft.com/office/drawing/2014/main" id="{C8712CAC-0621-FD4A-1D1C-6522218408D6}"/>
              </a:ext>
            </a:extLst>
          </p:cNvPr>
          <p:cNvSpPr/>
          <p:nvPr/>
        </p:nvSpPr>
        <p:spPr>
          <a:xfrm>
            <a:off x="747064" y="6012914"/>
            <a:ext cx="3813048" cy="1239416"/>
          </a:xfrm>
          <a:prstGeom prst="roundRect">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06C9DD45-9666-2257-FECB-8406E45D360B}"/>
              </a:ext>
            </a:extLst>
          </p:cNvPr>
          <p:cNvSpPr txBox="1"/>
          <p:nvPr/>
        </p:nvSpPr>
        <p:spPr>
          <a:xfrm>
            <a:off x="861364" y="6121927"/>
            <a:ext cx="3976116" cy="954107"/>
          </a:xfrm>
          <a:prstGeom prst="rect">
            <a:avLst/>
          </a:prstGeom>
          <a:noFill/>
        </p:spPr>
        <p:txBody>
          <a:bodyPr wrap="square">
            <a:spAutoFit/>
          </a:bodyPr>
          <a:lstStyle/>
          <a:p>
            <a:pPr rtl="0"/>
            <a:r>
              <a:rPr lang="en-US" sz="1400" dirty="0" err="1">
                <a:solidFill>
                  <a:schemeClr val="tx1">
                    <a:lumMod val="75000"/>
                    <a:lumOff val="25000"/>
                  </a:schemeClr>
                </a:solidFill>
                <a:latin typeface="Times New Roman" panose="02020603050405020304" pitchFamily="18" charset="0"/>
                <a:cs typeface="Times New Roman" panose="02020603050405020304" pitchFamily="18" charset="0"/>
              </a:rPr>
              <a:t>missing_values</a:t>
            </a:r>
            <a:r>
              <a:rPr lang="en-US" sz="1400" dirty="0">
                <a:solidFill>
                  <a:schemeClr val="tx1">
                    <a:lumMod val="75000"/>
                    <a:lumOff val="25000"/>
                  </a:schemeClr>
                </a:solidFill>
                <a:latin typeface="Times New Roman" panose="02020603050405020304" pitchFamily="18" charset="0"/>
                <a:cs typeface="Times New Roman" panose="02020603050405020304" pitchFamily="18" charset="0"/>
              </a:rPr>
              <a:t> = </a:t>
            </a:r>
            <a:r>
              <a:rPr lang="en-US" sz="1400" dirty="0" err="1">
                <a:solidFill>
                  <a:schemeClr val="tx1">
                    <a:lumMod val="75000"/>
                    <a:lumOff val="25000"/>
                  </a:schemeClr>
                </a:solidFill>
                <a:latin typeface="Times New Roman" panose="02020603050405020304" pitchFamily="18" charset="0"/>
                <a:cs typeface="Times New Roman" panose="02020603050405020304" pitchFamily="18" charset="0"/>
              </a:rPr>
              <a:t>matches.isnull</a:t>
            </a:r>
            <a:r>
              <a:rPr lang="en-US" sz="1400" dirty="0">
                <a:solidFill>
                  <a:schemeClr val="tx1">
                    <a:lumMod val="75000"/>
                    <a:lumOff val="25000"/>
                  </a:schemeClr>
                </a:solidFill>
                <a:latin typeface="Times New Roman" panose="02020603050405020304" pitchFamily="18" charset="0"/>
                <a:cs typeface="Times New Roman" panose="02020603050405020304" pitchFamily="18" charset="0"/>
              </a:rPr>
              <a:t>().sum()</a:t>
            </a:r>
          </a:p>
          <a:p>
            <a:pPr rtl="0"/>
            <a:endParaRPr lang="en-US" sz="1400" dirty="0">
              <a:solidFill>
                <a:schemeClr val="tx1">
                  <a:lumMod val="75000"/>
                  <a:lumOff val="25000"/>
                </a:schemeClr>
              </a:solidFill>
              <a:latin typeface="Times New Roman" panose="02020603050405020304" pitchFamily="18" charset="0"/>
              <a:cs typeface="Times New Roman" panose="02020603050405020304" pitchFamily="18" charset="0"/>
            </a:endParaRPr>
          </a:p>
          <a:p>
            <a:pPr rtl="0"/>
            <a:r>
              <a:rPr lang="en-US" sz="1400" dirty="0">
                <a:solidFill>
                  <a:schemeClr val="tx1">
                    <a:lumMod val="75000"/>
                    <a:lumOff val="25000"/>
                  </a:schemeClr>
                </a:solidFill>
                <a:latin typeface="Times New Roman" panose="02020603050405020304" pitchFamily="18" charset="0"/>
                <a:cs typeface="Times New Roman" panose="02020603050405020304" pitchFamily="18" charset="0"/>
              </a:rPr>
              <a:t>print("Missing values:")</a:t>
            </a:r>
          </a:p>
          <a:p>
            <a:pPr rtl="0"/>
            <a:r>
              <a:rPr lang="en-US" sz="1400" dirty="0">
                <a:solidFill>
                  <a:schemeClr val="tx1">
                    <a:lumMod val="75000"/>
                    <a:lumOff val="25000"/>
                  </a:schemeClr>
                </a:solidFill>
                <a:latin typeface="Times New Roman" panose="02020603050405020304" pitchFamily="18" charset="0"/>
                <a:cs typeface="Times New Roman" panose="02020603050405020304" pitchFamily="18" charset="0"/>
              </a:rPr>
              <a:t>print(</a:t>
            </a:r>
            <a:r>
              <a:rPr lang="en-US" sz="1400" dirty="0" err="1">
                <a:solidFill>
                  <a:schemeClr val="tx1">
                    <a:lumMod val="75000"/>
                    <a:lumOff val="25000"/>
                  </a:schemeClr>
                </a:solidFill>
                <a:latin typeface="Times New Roman" panose="02020603050405020304" pitchFamily="18" charset="0"/>
                <a:cs typeface="Times New Roman" panose="02020603050405020304" pitchFamily="18" charset="0"/>
              </a:rPr>
              <a:t>missing_values</a:t>
            </a:r>
            <a:r>
              <a:rPr lang="en-US" sz="1400" dirty="0">
                <a:solidFill>
                  <a:schemeClr val="tx1">
                    <a:lumMod val="75000"/>
                    <a:lumOff val="25000"/>
                  </a:schemeClr>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51" name="Rounded Rectangle 11">
            <a:extLst>
              <a:ext uri="{FF2B5EF4-FFF2-40B4-BE49-F238E27FC236}">
                <a16:creationId xmlns:a16="http://schemas.microsoft.com/office/drawing/2014/main" id="{8717794E-ECA3-1FA2-C561-FC128BC6D612}"/>
              </a:ext>
            </a:extLst>
          </p:cNvPr>
          <p:cNvSpPr/>
          <p:nvPr/>
        </p:nvSpPr>
        <p:spPr>
          <a:xfrm>
            <a:off x="5208864" y="5594571"/>
            <a:ext cx="4620936" cy="1815344"/>
          </a:xfrm>
          <a:prstGeom prst="roundRect">
            <a:avLst/>
          </a:prstGeom>
          <a:solidFill>
            <a:srgbClr val="FFFFFF"/>
          </a:solidFill>
          <a:ln>
            <a:solidFill>
              <a:srgbClr val="DA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8A13678D-629E-64DB-1A2C-4310E0B93976}"/>
              </a:ext>
            </a:extLst>
          </p:cNvPr>
          <p:cNvSpPr txBox="1"/>
          <p:nvPr/>
        </p:nvSpPr>
        <p:spPr>
          <a:xfrm>
            <a:off x="5390298" y="5754041"/>
            <a:ext cx="2425664" cy="261610"/>
          </a:xfrm>
          <a:prstGeom prst="rect">
            <a:avLst/>
          </a:prstGeom>
          <a:noFill/>
        </p:spPr>
        <p:txBody>
          <a:bodyPr wrap="none">
            <a:spAutoFit/>
          </a:bodyPr>
          <a:lstStyle/>
          <a:p>
            <a:pPr>
              <a:defRPr sz="1100" b="1">
                <a:solidFill>
                  <a:srgbClr val="2F5896"/>
                </a:solidFill>
                <a:latin typeface="Aptos"/>
              </a:defRPr>
            </a:pPr>
            <a:r>
              <a:rPr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6 CHECKING UNIQUE SEASONS</a:t>
            </a:r>
            <a:endParaRPr dirty="0">
              <a:latin typeface="Times New Roman" panose="02020603050405020304" pitchFamily="18" charset="0"/>
              <a:cs typeface="Times New Roman" panose="02020603050405020304" pitchFamily="18" charset="0"/>
            </a:endParaRPr>
          </a:p>
        </p:txBody>
      </p:sp>
      <p:sp>
        <p:nvSpPr>
          <p:cNvPr id="55" name="Rounded Rectangle 13">
            <a:extLst>
              <a:ext uri="{FF2B5EF4-FFF2-40B4-BE49-F238E27FC236}">
                <a16:creationId xmlns:a16="http://schemas.microsoft.com/office/drawing/2014/main" id="{531D12AA-2D75-CABF-E448-7C7CD228AB89}"/>
              </a:ext>
            </a:extLst>
          </p:cNvPr>
          <p:cNvSpPr/>
          <p:nvPr/>
        </p:nvSpPr>
        <p:spPr>
          <a:xfrm>
            <a:off x="5390298" y="6051221"/>
            <a:ext cx="3976116" cy="1239416"/>
          </a:xfrm>
          <a:prstGeom prst="roundRect">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305A716D-CCD9-4718-BA49-016CEC019AE9}"/>
              </a:ext>
            </a:extLst>
          </p:cNvPr>
          <p:cNvSpPr txBox="1"/>
          <p:nvPr/>
        </p:nvSpPr>
        <p:spPr>
          <a:xfrm>
            <a:off x="5504598" y="6160234"/>
            <a:ext cx="3976116" cy="892552"/>
          </a:xfrm>
          <a:prstGeom prst="rect">
            <a:avLst/>
          </a:prstGeom>
          <a:noFill/>
        </p:spPr>
        <p:txBody>
          <a:bodyPr wrap="square">
            <a:spAutoFit/>
          </a:bodyPr>
          <a:lstStyle/>
          <a:p>
            <a:pPr>
              <a:defRPr sz="1150">
                <a:solidFill>
                  <a:srgbClr val="262A30"/>
                </a:solidFill>
                <a:latin typeface="Consolas"/>
              </a:defRPr>
            </a:pPr>
            <a:r>
              <a:rPr lang="en-US" sz="1300" dirty="0">
                <a:latin typeface="Times New Roman" panose="02020603050405020304" pitchFamily="18" charset="0"/>
                <a:cs typeface="Times New Roman" panose="02020603050405020304" pitchFamily="18" charset="0"/>
              </a:rPr>
              <a:t>seasons = matches['season'].unique()</a:t>
            </a:r>
          </a:p>
          <a:p>
            <a:pPr>
              <a:defRPr sz="1150">
                <a:solidFill>
                  <a:srgbClr val="262A30"/>
                </a:solidFill>
                <a:latin typeface="Consolas"/>
              </a:defRPr>
            </a:pPr>
            <a:endParaRPr lang="en-US" sz="1300" dirty="0">
              <a:latin typeface="Times New Roman" panose="02020603050405020304" pitchFamily="18" charset="0"/>
              <a:cs typeface="Times New Roman" panose="02020603050405020304" pitchFamily="18" charset="0"/>
            </a:endParaRPr>
          </a:p>
          <a:p>
            <a:pPr>
              <a:defRPr sz="1150">
                <a:solidFill>
                  <a:srgbClr val="262A30"/>
                </a:solidFill>
                <a:latin typeface="Consolas"/>
              </a:defRPr>
            </a:pPr>
            <a:r>
              <a:rPr lang="en-US" sz="1300" dirty="0">
                <a:latin typeface="Times New Roman" panose="02020603050405020304" pitchFamily="18" charset="0"/>
                <a:cs typeface="Times New Roman" panose="02020603050405020304" pitchFamily="18" charset="0"/>
              </a:rPr>
              <a:t>print("Seasons:", seasons)</a:t>
            </a:r>
          </a:p>
          <a:p>
            <a:pPr>
              <a:defRPr sz="1150">
                <a:solidFill>
                  <a:srgbClr val="262A30"/>
                </a:solidFill>
                <a:latin typeface="Consolas"/>
              </a:defRPr>
            </a:pPr>
            <a:r>
              <a:rPr lang="en-US" sz="1300" dirty="0">
                <a:latin typeface="Times New Roman" panose="02020603050405020304" pitchFamily="18" charset="0"/>
                <a:cs typeface="Times New Roman" panose="02020603050405020304" pitchFamily="18" charset="0"/>
              </a:rPr>
              <a:t>print("Number of seasons:", </a:t>
            </a:r>
            <a:r>
              <a:rPr lang="en-US" sz="1300" dirty="0" err="1">
                <a:latin typeface="Times New Roman" panose="02020603050405020304" pitchFamily="18" charset="0"/>
                <a:cs typeface="Times New Roman" panose="02020603050405020304" pitchFamily="18" charset="0"/>
              </a:rPr>
              <a:t>len</a:t>
            </a:r>
            <a:r>
              <a:rPr lang="en-US" sz="1300" dirty="0">
                <a:latin typeface="Times New Roman" panose="02020603050405020304" pitchFamily="18" charset="0"/>
                <a:cs typeface="Times New Roman" panose="02020603050405020304" pitchFamily="18" charset="0"/>
              </a:rPr>
              <a:t>(seasons))</a:t>
            </a:r>
            <a:endParaRPr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205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3">
            <a:extLst>
              <a:ext uri="{FF2B5EF4-FFF2-40B4-BE49-F238E27FC236}">
                <a16:creationId xmlns:a16="http://schemas.microsoft.com/office/drawing/2014/main" id="{21ABBE52-8710-4E6B-00A1-6AE2E264A905}"/>
              </a:ext>
            </a:extLst>
          </p:cNvPr>
          <p:cNvGrpSpPr/>
          <p:nvPr/>
        </p:nvGrpSpPr>
        <p:grpSpPr>
          <a:xfrm>
            <a:off x="1417320" y="161097"/>
            <a:ext cx="7223760"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grpSp>
      <p:sp>
        <p:nvSpPr>
          <p:cNvPr id="10" name="TextBox 9"/>
          <p:cNvSpPr txBox="1"/>
          <p:nvPr/>
        </p:nvSpPr>
        <p:spPr>
          <a:xfrm>
            <a:off x="502920" y="453963"/>
            <a:ext cx="9052560" cy="353943"/>
          </a:xfrm>
          <a:prstGeom prst="rect">
            <a:avLst/>
          </a:prstGeom>
          <a:noFill/>
        </p:spPr>
        <p:txBody>
          <a:bodyPr wrap="square" anchor="ctr">
            <a:spAutoFit/>
          </a:bodyPr>
          <a:lstStyle/>
          <a:p>
            <a:pPr algn="ctr"/>
            <a:r>
              <a:rPr sz="1700" b="1" dirty="0">
                <a:solidFill>
                  <a:srgbClr val="FFFFFF"/>
                </a:solidFill>
                <a:latin typeface="Times New Roman" panose="02020603050405020304" pitchFamily="18" charset="0"/>
                <a:cs typeface="Times New Roman" panose="02020603050405020304" pitchFamily="18" charset="0"/>
              </a:rPr>
              <a:t>METHODOLOGY | DATA PREPARATION</a:t>
            </a:r>
          </a:p>
        </p:txBody>
      </p:sp>
      <p:sp>
        <p:nvSpPr>
          <p:cNvPr id="11" name="TextBox 10"/>
          <p:cNvSpPr txBox="1"/>
          <p:nvPr/>
        </p:nvSpPr>
        <p:spPr>
          <a:xfrm>
            <a:off x="685800" y="928608"/>
            <a:ext cx="8686800" cy="292388"/>
          </a:xfrm>
          <a:prstGeom prst="rect">
            <a:avLst/>
          </a:prstGeom>
          <a:noFill/>
        </p:spPr>
        <p:txBody>
          <a:bodyPr wrap="square" anchor="ctr">
            <a:spAutoFit/>
          </a:bodyPr>
          <a:lstStyle/>
          <a:p>
            <a:pPr algn="ctr"/>
            <a:r>
              <a:rPr sz="1300" b="0" dirty="0">
                <a:solidFill>
                  <a:srgbClr val="596574"/>
                </a:solidFill>
                <a:latin typeface="Times New Roman" panose="02020603050405020304" pitchFamily="18" charset="0"/>
                <a:cs typeface="Times New Roman" panose="02020603050405020304" pitchFamily="18" charset="0"/>
              </a:rPr>
              <a:t>A simple, step-by-step workflow for IPL data analysis</a:t>
            </a:r>
          </a:p>
        </p:txBody>
      </p:sp>
      <p:sp>
        <p:nvSpPr>
          <p:cNvPr id="12" name="Rounded Rectangle 11"/>
          <p:cNvSpPr/>
          <p:nvPr/>
        </p:nvSpPr>
        <p:spPr>
          <a:xfrm>
            <a:off x="414909" y="1874519"/>
            <a:ext cx="2051913" cy="2148840"/>
          </a:xfrm>
          <a:prstGeom prst="roundRect">
            <a:avLst/>
          </a:prstGeom>
          <a:solidFill>
            <a:srgbClr val="FFFFFF"/>
          </a:solidFill>
          <a:ln w="1397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Oval 12"/>
          <p:cNvSpPr/>
          <p:nvPr/>
        </p:nvSpPr>
        <p:spPr>
          <a:xfrm>
            <a:off x="535609" y="2029967"/>
            <a:ext cx="362102" cy="438912"/>
          </a:xfrm>
          <a:prstGeom prst="ellipse">
            <a:avLst/>
          </a:prstGeom>
          <a:solidFill>
            <a:srgbClr val="356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TextBox 13"/>
          <p:cNvSpPr txBox="1"/>
          <p:nvPr/>
        </p:nvSpPr>
        <p:spPr>
          <a:xfrm>
            <a:off x="535609" y="2103229"/>
            <a:ext cx="362102" cy="292388"/>
          </a:xfrm>
          <a:prstGeom prst="rect">
            <a:avLst/>
          </a:prstGeom>
          <a:noFill/>
        </p:spPr>
        <p:txBody>
          <a:bodyPr wrap="square" anchor="ctr">
            <a:spAutoFit/>
          </a:bodyPr>
          <a:lstStyle/>
          <a:p>
            <a:pPr algn="ctr"/>
            <a:r>
              <a:rPr sz="1300" b="1">
                <a:solidFill>
                  <a:srgbClr val="FFFFFF"/>
                </a:solidFill>
                <a:latin typeface="Times New Roman" panose="02020603050405020304" pitchFamily="18" charset="0"/>
                <a:cs typeface="Times New Roman" panose="02020603050405020304" pitchFamily="18" charset="0"/>
              </a:rPr>
              <a:t>1</a:t>
            </a:r>
          </a:p>
        </p:txBody>
      </p:sp>
      <p:sp>
        <p:nvSpPr>
          <p:cNvPr id="15" name="TextBox 14"/>
          <p:cNvSpPr txBox="1"/>
          <p:nvPr/>
        </p:nvSpPr>
        <p:spPr>
          <a:xfrm>
            <a:off x="988237" y="2054521"/>
            <a:ext cx="1481328" cy="280077"/>
          </a:xfrm>
          <a:prstGeom prst="rect">
            <a:avLst/>
          </a:prstGeom>
          <a:noFill/>
        </p:spPr>
        <p:txBody>
          <a:bodyPr wrap="square" anchor="ctr">
            <a:spAutoFit/>
          </a:bodyPr>
          <a:lstStyle/>
          <a:p>
            <a:pPr algn="l"/>
            <a:r>
              <a:rPr sz="1220" b="1">
                <a:solidFill>
                  <a:srgbClr val="1F3758"/>
                </a:solidFill>
                <a:latin typeface="Times New Roman" panose="02020603050405020304" pitchFamily="18" charset="0"/>
                <a:cs typeface="Times New Roman" panose="02020603050405020304" pitchFamily="18" charset="0"/>
              </a:rPr>
              <a:t>Collect data</a:t>
            </a:r>
          </a:p>
        </p:txBody>
      </p:sp>
      <p:sp>
        <p:nvSpPr>
          <p:cNvPr id="16" name="TextBox 15"/>
          <p:cNvSpPr txBox="1"/>
          <p:nvPr/>
        </p:nvSpPr>
        <p:spPr>
          <a:xfrm>
            <a:off x="580872" y="2847628"/>
            <a:ext cx="1719986" cy="623248"/>
          </a:xfrm>
          <a:prstGeom prst="rect">
            <a:avLst/>
          </a:prstGeom>
          <a:noFill/>
        </p:spPr>
        <p:txBody>
          <a:bodyPr wrap="square" anchor="ctr">
            <a:spAutoFit/>
          </a:bodyPr>
          <a:lstStyle/>
          <a:p>
            <a:pPr algn="l"/>
            <a:r>
              <a:rPr sz="1150" b="0">
                <a:solidFill>
                  <a:srgbClr val="596574"/>
                </a:solidFill>
                <a:latin typeface="Times New Roman" panose="02020603050405020304" pitchFamily="18" charset="0"/>
                <a:cs typeface="Times New Roman" panose="02020603050405020304" pitchFamily="18" charset="0"/>
              </a:rPr>
              <a:t>Load match and ball-by-ball CSV files with Pandas.</a:t>
            </a:r>
          </a:p>
        </p:txBody>
      </p:sp>
      <p:sp>
        <p:nvSpPr>
          <p:cNvPr id="17" name="Chevron 16"/>
          <p:cNvSpPr/>
          <p:nvPr/>
        </p:nvSpPr>
        <p:spPr>
          <a:xfrm>
            <a:off x="2542260" y="2807208"/>
            <a:ext cx="226314" cy="274320"/>
          </a:xfrm>
          <a:prstGeom prst="chevron">
            <a:avLst/>
          </a:prstGeom>
          <a:solidFill>
            <a:srgbClr val="356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 name="Rounded Rectangle 17"/>
          <p:cNvSpPr/>
          <p:nvPr/>
        </p:nvSpPr>
        <p:spPr>
          <a:xfrm>
            <a:off x="2806293" y="1874519"/>
            <a:ext cx="2051913" cy="2148840"/>
          </a:xfrm>
          <a:prstGeom prst="roundRect">
            <a:avLst/>
          </a:prstGeom>
          <a:solidFill>
            <a:srgbClr val="FFFFFF"/>
          </a:solidFill>
          <a:ln w="1397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Oval 18"/>
          <p:cNvSpPr/>
          <p:nvPr/>
        </p:nvSpPr>
        <p:spPr>
          <a:xfrm>
            <a:off x="2926994" y="2029967"/>
            <a:ext cx="362102" cy="438912"/>
          </a:xfrm>
          <a:prstGeom prst="ellipse">
            <a:avLst/>
          </a:prstGeom>
          <a:solidFill>
            <a:srgbClr val="308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TextBox 19"/>
          <p:cNvSpPr txBox="1"/>
          <p:nvPr/>
        </p:nvSpPr>
        <p:spPr>
          <a:xfrm>
            <a:off x="2926994" y="2103229"/>
            <a:ext cx="362102" cy="292388"/>
          </a:xfrm>
          <a:prstGeom prst="rect">
            <a:avLst/>
          </a:prstGeom>
          <a:noFill/>
        </p:spPr>
        <p:txBody>
          <a:bodyPr wrap="square" anchor="ctr">
            <a:spAutoFit/>
          </a:bodyPr>
          <a:lstStyle/>
          <a:p>
            <a:pPr algn="ctr"/>
            <a:r>
              <a:rPr sz="1300" b="1">
                <a:solidFill>
                  <a:srgbClr val="FFFFFF"/>
                </a:solidFill>
                <a:latin typeface="Times New Roman" panose="02020603050405020304" pitchFamily="18" charset="0"/>
                <a:cs typeface="Times New Roman" panose="02020603050405020304" pitchFamily="18" charset="0"/>
              </a:rPr>
              <a:t>2</a:t>
            </a:r>
          </a:p>
        </p:txBody>
      </p:sp>
      <p:sp>
        <p:nvSpPr>
          <p:cNvPr id="21" name="TextBox 20"/>
          <p:cNvSpPr txBox="1"/>
          <p:nvPr/>
        </p:nvSpPr>
        <p:spPr>
          <a:xfrm>
            <a:off x="3379622" y="2054521"/>
            <a:ext cx="1481328" cy="280077"/>
          </a:xfrm>
          <a:prstGeom prst="rect">
            <a:avLst/>
          </a:prstGeom>
          <a:noFill/>
        </p:spPr>
        <p:txBody>
          <a:bodyPr wrap="square" anchor="ctr">
            <a:spAutoFit/>
          </a:bodyPr>
          <a:lstStyle/>
          <a:p>
            <a:pPr algn="l"/>
            <a:r>
              <a:rPr sz="1220" b="1">
                <a:solidFill>
                  <a:srgbClr val="1F3758"/>
                </a:solidFill>
                <a:latin typeface="Times New Roman" panose="02020603050405020304" pitchFamily="18" charset="0"/>
                <a:cs typeface="Times New Roman" panose="02020603050405020304" pitchFamily="18" charset="0"/>
              </a:rPr>
              <a:t>Explore data</a:t>
            </a:r>
          </a:p>
        </p:txBody>
      </p:sp>
      <p:sp>
        <p:nvSpPr>
          <p:cNvPr id="22" name="TextBox 21"/>
          <p:cNvSpPr txBox="1"/>
          <p:nvPr/>
        </p:nvSpPr>
        <p:spPr>
          <a:xfrm>
            <a:off x="2972257" y="2936114"/>
            <a:ext cx="1719986" cy="446276"/>
          </a:xfrm>
          <a:prstGeom prst="rect">
            <a:avLst/>
          </a:prstGeom>
          <a:noFill/>
        </p:spPr>
        <p:txBody>
          <a:bodyPr wrap="square" anchor="ctr">
            <a:spAutoFit/>
          </a:bodyPr>
          <a:lstStyle/>
          <a:p>
            <a:pPr algn="l"/>
            <a:r>
              <a:rPr sz="1150" b="0">
                <a:solidFill>
                  <a:srgbClr val="596574"/>
                </a:solidFill>
                <a:latin typeface="Times New Roman" panose="02020603050405020304" pitchFamily="18" charset="0"/>
                <a:cs typeface="Times New Roman" panose="02020603050405020304" pitchFamily="18" charset="0"/>
              </a:rPr>
              <a:t>Check rows, columns, data types, and key fields.</a:t>
            </a:r>
          </a:p>
        </p:txBody>
      </p:sp>
      <p:sp>
        <p:nvSpPr>
          <p:cNvPr id="23" name="Chevron 22"/>
          <p:cNvSpPr/>
          <p:nvPr/>
        </p:nvSpPr>
        <p:spPr>
          <a:xfrm>
            <a:off x="4933645" y="2807208"/>
            <a:ext cx="226314" cy="274320"/>
          </a:xfrm>
          <a:prstGeom prst="chevron">
            <a:avLst/>
          </a:prstGeom>
          <a:solidFill>
            <a:srgbClr val="356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Rounded Rectangle 23"/>
          <p:cNvSpPr/>
          <p:nvPr/>
        </p:nvSpPr>
        <p:spPr>
          <a:xfrm>
            <a:off x="5197678" y="1874519"/>
            <a:ext cx="2051913" cy="2148840"/>
          </a:xfrm>
          <a:prstGeom prst="roundRect">
            <a:avLst/>
          </a:prstGeom>
          <a:solidFill>
            <a:srgbClr val="FFFFFF"/>
          </a:solidFill>
          <a:ln w="1397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Oval 24"/>
          <p:cNvSpPr/>
          <p:nvPr/>
        </p:nvSpPr>
        <p:spPr>
          <a:xfrm>
            <a:off x="5318379" y="2029967"/>
            <a:ext cx="362102" cy="438912"/>
          </a:xfrm>
          <a:prstGeom prst="ellipse">
            <a:avLst/>
          </a:prstGeom>
          <a:solidFill>
            <a:srgbClr val="356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TextBox 25"/>
          <p:cNvSpPr txBox="1"/>
          <p:nvPr/>
        </p:nvSpPr>
        <p:spPr>
          <a:xfrm>
            <a:off x="5318379" y="2103229"/>
            <a:ext cx="362102" cy="292388"/>
          </a:xfrm>
          <a:prstGeom prst="rect">
            <a:avLst/>
          </a:prstGeom>
          <a:noFill/>
        </p:spPr>
        <p:txBody>
          <a:bodyPr wrap="square" anchor="ctr">
            <a:spAutoFit/>
          </a:bodyPr>
          <a:lstStyle/>
          <a:p>
            <a:pPr algn="ctr"/>
            <a:r>
              <a:rPr sz="1300" b="1">
                <a:solidFill>
                  <a:srgbClr val="FFFFFF"/>
                </a:solidFill>
                <a:latin typeface="Times New Roman" panose="02020603050405020304" pitchFamily="18" charset="0"/>
                <a:cs typeface="Times New Roman" panose="02020603050405020304" pitchFamily="18" charset="0"/>
              </a:rPr>
              <a:t>3</a:t>
            </a:r>
          </a:p>
        </p:txBody>
      </p:sp>
      <p:sp>
        <p:nvSpPr>
          <p:cNvPr id="27" name="TextBox 26"/>
          <p:cNvSpPr txBox="1"/>
          <p:nvPr/>
        </p:nvSpPr>
        <p:spPr>
          <a:xfrm>
            <a:off x="5771006" y="2054521"/>
            <a:ext cx="1481328" cy="280077"/>
          </a:xfrm>
          <a:prstGeom prst="rect">
            <a:avLst/>
          </a:prstGeom>
          <a:noFill/>
        </p:spPr>
        <p:txBody>
          <a:bodyPr wrap="square" anchor="ctr">
            <a:spAutoFit/>
          </a:bodyPr>
          <a:lstStyle/>
          <a:p>
            <a:pPr algn="l"/>
            <a:r>
              <a:rPr sz="1220" b="1">
                <a:solidFill>
                  <a:srgbClr val="1F3758"/>
                </a:solidFill>
                <a:latin typeface="Times New Roman" panose="02020603050405020304" pitchFamily="18" charset="0"/>
                <a:cs typeface="Times New Roman" panose="02020603050405020304" pitchFamily="18" charset="0"/>
              </a:rPr>
              <a:t>Clean data</a:t>
            </a:r>
          </a:p>
        </p:txBody>
      </p:sp>
      <p:sp>
        <p:nvSpPr>
          <p:cNvPr id="28" name="TextBox 27"/>
          <p:cNvSpPr txBox="1"/>
          <p:nvPr/>
        </p:nvSpPr>
        <p:spPr>
          <a:xfrm>
            <a:off x="5363640" y="2847628"/>
            <a:ext cx="1719986" cy="623248"/>
          </a:xfrm>
          <a:prstGeom prst="rect">
            <a:avLst/>
          </a:prstGeom>
          <a:noFill/>
        </p:spPr>
        <p:txBody>
          <a:bodyPr wrap="square" anchor="ctr">
            <a:spAutoFit/>
          </a:bodyPr>
          <a:lstStyle/>
          <a:p>
            <a:pPr algn="l"/>
            <a:r>
              <a:rPr sz="1150" b="0">
                <a:solidFill>
                  <a:srgbClr val="596574"/>
                </a:solidFill>
                <a:latin typeface="Times New Roman" panose="02020603050405020304" pitchFamily="18" charset="0"/>
                <a:cs typeface="Times New Roman" panose="02020603050405020304" pitchFamily="18" charset="0"/>
              </a:rPr>
              <a:t>Check missing values and duplicates; standardize team names.</a:t>
            </a:r>
          </a:p>
        </p:txBody>
      </p:sp>
      <p:sp>
        <p:nvSpPr>
          <p:cNvPr id="29" name="Chevron 28"/>
          <p:cNvSpPr/>
          <p:nvPr/>
        </p:nvSpPr>
        <p:spPr>
          <a:xfrm>
            <a:off x="7325029" y="2807208"/>
            <a:ext cx="226314" cy="274320"/>
          </a:xfrm>
          <a:prstGeom prst="chevron">
            <a:avLst/>
          </a:prstGeom>
          <a:solidFill>
            <a:srgbClr val="356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Rounded Rectangle 29"/>
          <p:cNvSpPr/>
          <p:nvPr/>
        </p:nvSpPr>
        <p:spPr>
          <a:xfrm>
            <a:off x="7589062" y="1874519"/>
            <a:ext cx="2051913" cy="2148840"/>
          </a:xfrm>
          <a:prstGeom prst="roundRect">
            <a:avLst/>
          </a:prstGeom>
          <a:solidFill>
            <a:srgbClr val="FFFFFF"/>
          </a:solidFill>
          <a:ln w="1397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Oval 30"/>
          <p:cNvSpPr/>
          <p:nvPr/>
        </p:nvSpPr>
        <p:spPr>
          <a:xfrm>
            <a:off x="7709763" y="2029967"/>
            <a:ext cx="362102" cy="438912"/>
          </a:xfrm>
          <a:prstGeom prst="ellipse">
            <a:avLst/>
          </a:prstGeom>
          <a:solidFill>
            <a:srgbClr val="308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TextBox 31"/>
          <p:cNvSpPr txBox="1"/>
          <p:nvPr/>
        </p:nvSpPr>
        <p:spPr>
          <a:xfrm>
            <a:off x="7709763" y="2103229"/>
            <a:ext cx="362102" cy="292388"/>
          </a:xfrm>
          <a:prstGeom prst="rect">
            <a:avLst/>
          </a:prstGeom>
          <a:noFill/>
        </p:spPr>
        <p:txBody>
          <a:bodyPr wrap="square" anchor="ctr">
            <a:spAutoFit/>
          </a:bodyPr>
          <a:lstStyle/>
          <a:p>
            <a:pPr algn="ctr"/>
            <a:r>
              <a:rPr sz="1300" b="1">
                <a:solidFill>
                  <a:srgbClr val="FFFFFF"/>
                </a:solidFill>
                <a:latin typeface="Times New Roman" panose="02020603050405020304" pitchFamily="18" charset="0"/>
                <a:cs typeface="Times New Roman" panose="02020603050405020304" pitchFamily="18" charset="0"/>
              </a:rPr>
              <a:t>4</a:t>
            </a:r>
          </a:p>
        </p:txBody>
      </p:sp>
      <p:sp>
        <p:nvSpPr>
          <p:cNvPr id="33" name="TextBox 32"/>
          <p:cNvSpPr txBox="1"/>
          <p:nvPr/>
        </p:nvSpPr>
        <p:spPr>
          <a:xfrm>
            <a:off x="8162391" y="2054521"/>
            <a:ext cx="1481328" cy="280077"/>
          </a:xfrm>
          <a:prstGeom prst="rect">
            <a:avLst/>
          </a:prstGeom>
          <a:noFill/>
        </p:spPr>
        <p:txBody>
          <a:bodyPr wrap="square" anchor="ctr">
            <a:spAutoFit/>
          </a:bodyPr>
          <a:lstStyle/>
          <a:p>
            <a:pPr algn="l"/>
            <a:r>
              <a:rPr sz="1220" b="1">
                <a:solidFill>
                  <a:srgbClr val="1F3758"/>
                </a:solidFill>
                <a:latin typeface="Times New Roman" panose="02020603050405020304" pitchFamily="18" charset="0"/>
                <a:cs typeface="Times New Roman" panose="02020603050405020304" pitchFamily="18" charset="0"/>
              </a:rPr>
              <a:t>Prepare tables</a:t>
            </a:r>
          </a:p>
        </p:txBody>
      </p:sp>
      <p:sp>
        <p:nvSpPr>
          <p:cNvPr id="34" name="TextBox 33"/>
          <p:cNvSpPr txBox="1"/>
          <p:nvPr/>
        </p:nvSpPr>
        <p:spPr>
          <a:xfrm>
            <a:off x="7755026" y="2936114"/>
            <a:ext cx="1719986" cy="446276"/>
          </a:xfrm>
          <a:prstGeom prst="rect">
            <a:avLst/>
          </a:prstGeom>
          <a:noFill/>
        </p:spPr>
        <p:txBody>
          <a:bodyPr wrap="square" anchor="ctr">
            <a:spAutoFit/>
          </a:bodyPr>
          <a:lstStyle/>
          <a:p>
            <a:pPr algn="l"/>
            <a:r>
              <a:rPr sz="1150" b="0">
                <a:solidFill>
                  <a:srgbClr val="596574"/>
                </a:solidFill>
                <a:latin typeface="Times New Roman" panose="02020603050405020304" pitchFamily="18" charset="0"/>
                <a:cs typeface="Times New Roman" panose="02020603050405020304" pitchFamily="18" charset="0"/>
              </a:rPr>
              <a:t>Align match and delivery records for analysis.</a:t>
            </a:r>
          </a:p>
        </p:txBody>
      </p:sp>
      <p:sp>
        <p:nvSpPr>
          <p:cNvPr id="35" name="Rectangle 34"/>
          <p:cNvSpPr/>
          <p:nvPr/>
        </p:nvSpPr>
        <p:spPr>
          <a:xfrm>
            <a:off x="618591" y="4434840"/>
            <a:ext cx="8826246" cy="32004"/>
          </a:xfrm>
          <a:prstGeom prst="rect">
            <a:avLst/>
          </a:prstGeom>
          <a:solidFill>
            <a:srgbClr val="DA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Rounded Rectangle 35"/>
          <p:cNvSpPr/>
          <p:nvPr/>
        </p:nvSpPr>
        <p:spPr>
          <a:xfrm>
            <a:off x="641223" y="4983480"/>
            <a:ext cx="8788527" cy="713232"/>
          </a:xfrm>
          <a:prstGeom prst="roundRect">
            <a:avLst/>
          </a:prstGeom>
          <a:solidFill>
            <a:srgbClr val="EF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7" name="TextBox 36"/>
          <p:cNvSpPr txBox="1"/>
          <p:nvPr/>
        </p:nvSpPr>
        <p:spPr>
          <a:xfrm>
            <a:off x="777240" y="5164797"/>
            <a:ext cx="8503920" cy="323165"/>
          </a:xfrm>
          <a:prstGeom prst="rect">
            <a:avLst/>
          </a:prstGeom>
          <a:noFill/>
        </p:spPr>
        <p:txBody>
          <a:bodyPr wrap="square" anchor="ctr">
            <a:spAutoFit/>
          </a:bodyPr>
          <a:lstStyle/>
          <a:p>
            <a:pPr algn="ctr"/>
            <a:r>
              <a:rPr sz="1500" b="1">
                <a:solidFill>
                  <a:srgbClr val="1F3758"/>
                </a:solidFill>
                <a:latin typeface="Times New Roman" panose="02020603050405020304" pitchFamily="18" charset="0"/>
                <a:cs typeface="Times New Roman" panose="02020603050405020304" pitchFamily="18" charset="0"/>
              </a:rPr>
              <a:t>OUTPUT  →  Clean, consistent IPL data ready for analysis</a:t>
            </a:r>
          </a:p>
        </p:txBody>
      </p:sp>
      <p:sp>
        <p:nvSpPr>
          <p:cNvPr id="38" name="TextBox 37"/>
          <p:cNvSpPr txBox="1"/>
          <p:nvPr/>
        </p:nvSpPr>
        <p:spPr>
          <a:xfrm>
            <a:off x="685800" y="6001920"/>
            <a:ext cx="8686800" cy="230832"/>
          </a:xfrm>
          <a:prstGeom prst="rect">
            <a:avLst/>
          </a:prstGeom>
          <a:noFill/>
        </p:spPr>
        <p:txBody>
          <a:bodyPr wrap="square" anchor="ctr">
            <a:spAutoFit/>
          </a:bodyPr>
          <a:lstStyle/>
          <a:p>
            <a:pPr algn="ctr"/>
            <a:r>
              <a:rPr sz="900" b="0">
                <a:solidFill>
                  <a:srgbClr val="596574"/>
                </a:solidFill>
                <a:latin typeface="Times New Roman" panose="02020603050405020304" pitchFamily="18" charset="0"/>
                <a:cs typeface="Times New Roman" panose="02020603050405020304" pitchFamily="18" charset="0"/>
              </a:rPr>
              <a:t>IPL PLAYER PERFORMANCE ANALYSIS  •  METHODOLOGY</a:t>
            </a:r>
          </a:p>
        </p:txBody>
      </p:sp>
    </p:spTree>
    <p:extLst>
      <p:ext uri="{BB962C8B-B14F-4D97-AF65-F5344CB8AC3E}">
        <p14:creationId xmlns:p14="http://schemas.microsoft.com/office/powerpoint/2010/main" val="31449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F02D1B8B-963F-84C5-69F0-17C3EECCFD8D}"/>
              </a:ext>
            </a:extLst>
          </p:cNvPr>
          <p:cNvGrpSpPr/>
          <p:nvPr/>
        </p:nvGrpSpPr>
        <p:grpSpPr>
          <a:xfrm>
            <a:off x="1417320" y="161097"/>
            <a:ext cx="7223760" cy="1198311"/>
            <a:chOff x="2648188" y="47148"/>
            <a:chExt cx="5103904" cy="1198311"/>
          </a:xfrm>
        </p:grpSpPr>
        <p:pic>
          <p:nvPicPr>
            <p:cNvPr id="10" name="object 4">
              <a:extLst>
                <a:ext uri="{FF2B5EF4-FFF2-40B4-BE49-F238E27FC236}">
                  <a16:creationId xmlns:a16="http://schemas.microsoft.com/office/drawing/2014/main" id="{BD448D2F-A85D-4EA9-4AFA-DBD143FFC367}"/>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70B9531E-FF63-3CBC-8C76-5101CEB24CF2}"/>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A51A82D2-D894-569F-6C1F-514FA4F12972}"/>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B3782B54-B821-DE87-C2B7-79ECF9E77AF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latin typeface="Times New Roman" panose="02020603050405020304" pitchFamily="18" charset="0"/>
                <a:cs typeface="Times New Roman" panose="02020603050405020304" pitchFamily="18" charset="0"/>
              </a:endParaRPr>
            </a:p>
          </p:txBody>
        </p:sp>
      </p:grpSp>
      <p:sp>
        <p:nvSpPr>
          <p:cNvPr id="24" name="TextBox 23"/>
          <p:cNvSpPr txBox="1"/>
          <p:nvPr/>
        </p:nvSpPr>
        <p:spPr>
          <a:xfrm>
            <a:off x="502920" y="439325"/>
            <a:ext cx="9052560" cy="353943"/>
          </a:xfrm>
          <a:prstGeom prst="rect">
            <a:avLst/>
          </a:prstGeom>
          <a:noFill/>
        </p:spPr>
        <p:txBody>
          <a:bodyPr wrap="square" anchor="ctr">
            <a:spAutoFit/>
          </a:bodyPr>
          <a:lstStyle/>
          <a:p>
            <a:pPr algn="ctr"/>
            <a:r>
              <a:rPr sz="1700" b="1" dirty="0">
                <a:solidFill>
                  <a:srgbClr val="FFFFFF"/>
                </a:solidFill>
                <a:latin typeface="Times New Roman" panose="02020603050405020304" pitchFamily="18" charset="0"/>
                <a:cs typeface="Times New Roman" panose="02020603050405020304" pitchFamily="18" charset="0"/>
              </a:rPr>
              <a:t>METHODOLOGY | ANALYSIS &amp; INSIGHTS</a:t>
            </a:r>
          </a:p>
        </p:txBody>
      </p:sp>
      <p:sp>
        <p:nvSpPr>
          <p:cNvPr id="25" name="TextBox 24"/>
          <p:cNvSpPr txBox="1"/>
          <p:nvPr/>
        </p:nvSpPr>
        <p:spPr>
          <a:xfrm>
            <a:off x="685800" y="929511"/>
            <a:ext cx="8686800" cy="292388"/>
          </a:xfrm>
          <a:prstGeom prst="rect">
            <a:avLst/>
          </a:prstGeom>
          <a:noFill/>
        </p:spPr>
        <p:txBody>
          <a:bodyPr wrap="square" anchor="ctr">
            <a:spAutoFit/>
          </a:bodyPr>
          <a:lstStyle/>
          <a:p>
            <a:pPr algn="ctr"/>
            <a:r>
              <a:rPr sz="1300" b="0" dirty="0">
                <a:solidFill>
                  <a:srgbClr val="596574"/>
                </a:solidFill>
                <a:latin typeface="Times New Roman" panose="02020603050405020304" pitchFamily="18" charset="0"/>
                <a:cs typeface="Times New Roman" panose="02020603050405020304" pitchFamily="18" charset="0"/>
              </a:rPr>
              <a:t>A simple, step-by-step workflow for IPL data analysis</a:t>
            </a:r>
          </a:p>
        </p:txBody>
      </p:sp>
      <p:sp>
        <p:nvSpPr>
          <p:cNvPr id="26" name="Rounded Rectangle 25"/>
          <p:cNvSpPr/>
          <p:nvPr/>
        </p:nvSpPr>
        <p:spPr>
          <a:xfrm>
            <a:off x="414909" y="1874519"/>
            <a:ext cx="2051913" cy="2148840"/>
          </a:xfrm>
          <a:prstGeom prst="roundRect">
            <a:avLst/>
          </a:prstGeom>
          <a:solidFill>
            <a:srgbClr val="FFFFFF"/>
          </a:solidFill>
          <a:ln w="1397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Oval 26"/>
          <p:cNvSpPr/>
          <p:nvPr/>
        </p:nvSpPr>
        <p:spPr>
          <a:xfrm>
            <a:off x="535609" y="2029967"/>
            <a:ext cx="362102" cy="438912"/>
          </a:xfrm>
          <a:prstGeom prst="ellipse">
            <a:avLst/>
          </a:prstGeom>
          <a:solidFill>
            <a:srgbClr val="308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8" name="TextBox 27"/>
          <p:cNvSpPr txBox="1"/>
          <p:nvPr/>
        </p:nvSpPr>
        <p:spPr>
          <a:xfrm>
            <a:off x="535609" y="2103229"/>
            <a:ext cx="362102" cy="292388"/>
          </a:xfrm>
          <a:prstGeom prst="rect">
            <a:avLst/>
          </a:prstGeom>
          <a:noFill/>
        </p:spPr>
        <p:txBody>
          <a:bodyPr wrap="square" anchor="ctr">
            <a:spAutoFit/>
          </a:bodyPr>
          <a:lstStyle/>
          <a:p>
            <a:pPr algn="ctr"/>
            <a:r>
              <a:rPr sz="1300" b="1">
                <a:solidFill>
                  <a:srgbClr val="FFFFFF"/>
                </a:solidFill>
                <a:latin typeface="Times New Roman" panose="02020603050405020304" pitchFamily="18" charset="0"/>
                <a:cs typeface="Times New Roman" panose="02020603050405020304" pitchFamily="18" charset="0"/>
              </a:rPr>
              <a:t>5</a:t>
            </a:r>
          </a:p>
        </p:txBody>
      </p:sp>
      <p:sp>
        <p:nvSpPr>
          <p:cNvPr id="29" name="TextBox 28"/>
          <p:cNvSpPr txBox="1"/>
          <p:nvPr/>
        </p:nvSpPr>
        <p:spPr>
          <a:xfrm>
            <a:off x="988237" y="2054521"/>
            <a:ext cx="1481328" cy="280077"/>
          </a:xfrm>
          <a:prstGeom prst="rect">
            <a:avLst/>
          </a:prstGeom>
          <a:noFill/>
        </p:spPr>
        <p:txBody>
          <a:bodyPr wrap="square" anchor="ctr">
            <a:spAutoFit/>
          </a:bodyPr>
          <a:lstStyle/>
          <a:p>
            <a:pPr algn="l"/>
            <a:r>
              <a:rPr sz="1220" b="1">
                <a:solidFill>
                  <a:srgbClr val="1F3758"/>
                </a:solidFill>
                <a:latin typeface="Times New Roman" panose="02020603050405020304" pitchFamily="18" charset="0"/>
                <a:cs typeface="Times New Roman" panose="02020603050405020304" pitchFamily="18" charset="0"/>
              </a:rPr>
              <a:t>Explore metrics</a:t>
            </a:r>
          </a:p>
        </p:txBody>
      </p:sp>
      <p:sp>
        <p:nvSpPr>
          <p:cNvPr id="30" name="TextBox 29"/>
          <p:cNvSpPr txBox="1"/>
          <p:nvPr/>
        </p:nvSpPr>
        <p:spPr>
          <a:xfrm>
            <a:off x="580872" y="2936114"/>
            <a:ext cx="1719986" cy="446276"/>
          </a:xfrm>
          <a:prstGeom prst="rect">
            <a:avLst/>
          </a:prstGeom>
          <a:noFill/>
        </p:spPr>
        <p:txBody>
          <a:bodyPr wrap="square" anchor="ctr">
            <a:spAutoFit/>
          </a:bodyPr>
          <a:lstStyle/>
          <a:p>
            <a:pPr algn="l"/>
            <a:r>
              <a:rPr sz="1150" b="0">
                <a:solidFill>
                  <a:srgbClr val="596574"/>
                </a:solidFill>
                <a:latin typeface="Times New Roman" panose="02020603050405020304" pitchFamily="18" charset="0"/>
                <a:cs typeface="Times New Roman" panose="02020603050405020304" pitchFamily="18" charset="0"/>
              </a:rPr>
              <a:t>Summarize runs, wickets, and player performance.</a:t>
            </a:r>
          </a:p>
        </p:txBody>
      </p:sp>
      <p:sp>
        <p:nvSpPr>
          <p:cNvPr id="31" name="Chevron 30"/>
          <p:cNvSpPr/>
          <p:nvPr/>
        </p:nvSpPr>
        <p:spPr>
          <a:xfrm>
            <a:off x="2542260" y="2807208"/>
            <a:ext cx="226314" cy="274320"/>
          </a:xfrm>
          <a:prstGeom prst="chevron">
            <a:avLst/>
          </a:prstGeom>
          <a:solidFill>
            <a:srgbClr val="308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Rounded Rectangle 31"/>
          <p:cNvSpPr/>
          <p:nvPr/>
        </p:nvSpPr>
        <p:spPr>
          <a:xfrm>
            <a:off x="2806293" y="1874519"/>
            <a:ext cx="2051913" cy="2148840"/>
          </a:xfrm>
          <a:prstGeom prst="roundRect">
            <a:avLst/>
          </a:prstGeom>
          <a:solidFill>
            <a:srgbClr val="FFFFFF"/>
          </a:solidFill>
          <a:ln w="1397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3" name="Oval 32"/>
          <p:cNvSpPr/>
          <p:nvPr/>
        </p:nvSpPr>
        <p:spPr>
          <a:xfrm>
            <a:off x="2926994" y="2029967"/>
            <a:ext cx="362102" cy="438912"/>
          </a:xfrm>
          <a:prstGeom prst="ellipse">
            <a:avLst/>
          </a:prstGeom>
          <a:solidFill>
            <a:srgbClr val="308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4" name="TextBox 33"/>
          <p:cNvSpPr txBox="1"/>
          <p:nvPr/>
        </p:nvSpPr>
        <p:spPr>
          <a:xfrm>
            <a:off x="2926994" y="2103229"/>
            <a:ext cx="362102" cy="292388"/>
          </a:xfrm>
          <a:prstGeom prst="rect">
            <a:avLst/>
          </a:prstGeom>
          <a:noFill/>
        </p:spPr>
        <p:txBody>
          <a:bodyPr wrap="square" anchor="ctr">
            <a:spAutoFit/>
          </a:bodyPr>
          <a:lstStyle/>
          <a:p>
            <a:pPr algn="ctr"/>
            <a:r>
              <a:rPr sz="1300" b="1">
                <a:solidFill>
                  <a:srgbClr val="FFFFFF"/>
                </a:solidFill>
                <a:latin typeface="Times New Roman" panose="02020603050405020304" pitchFamily="18" charset="0"/>
                <a:cs typeface="Times New Roman" panose="02020603050405020304" pitchFamily="18" charset="0"/>
              </a:rPr>
              <a:t>6</a:t>
            </a:r>
          </a:p>
        </p:txBody>
      </p:sp>
      <p:sp>
        <p:nvSpPr>
          <p:cNvPr id="35" name="TextBox 34"/>
          <p:cNvSpPr txBox="1"/>
          <p:nvPr/>
        </p:nvSpPr>
        <p:spPr>
          <a:xfrm>
            <a:off x="3379622" y="2054521"/>
            <a:ext cx="1481328" cy="280077"/>
          </a:xfrm>
          <a:prstGeom prst="rect">
            <a:avLst/>
          </a:prstGeom>
          <a:noFill/>
        </p:spPr>
        <p:txBody>
          <a:bodyPr wrap="square" anchor="ctr">
            <a:spAutoFit/>
          </a:bodyPr>
          <a:lstStyle/>
          <a:p>
            <a:pPr algn="l"/>
            <a:r>
              <a:rPr sz="1220" b="1">
                <a:solidFill>
                  <a:srgbClr val="1F3758"/>
                </a:solidFill>
                <a:latin typeface="Times New Roman" panose="02020603050405020304" pitchFamily="18" charset="0"/>
                <a:cs typeface="Times New Roman" panose="02020603050405020304" pitchFamily="18" charset="0"/>
              </a:rPr>
              <a:t>Find trends</a:t>
            </a:r>
          </a:p>
        </p:txBody>
      </p:sp>
      <p:sp>
        <p:nvSpPr>
          <p:cNvPr id="36" name="TextBox 35"/>
          <p:cNvSpPr txBox="1"/>
          <p:nvPr/>
        </p:nvSpPr>
        <p:spPr>
          <a:xfrm>
            <a:off x="2972257" y="2847628"/>
            <a:ext cx="1719986" cy="623248"/>
          </a:xfrm>
          <a:prstGeom prst="rect">
            <a:avLst/>
          </a:prstGeom>
          <a:noFill/>
        </p:spPr>
        <p:txBody>
          <a:bodyPr wrap="square" anchor="ctr">
            <a:spAutoFit/>
          </a:bodyPr>
          <a:lstStyle/>
          <a:p>
            <a:pPr algn="l"/>
            <a:r>
              <a:rPr sz="1150" b="0">
                <a:solidFill>
                  <a:srgbClr val="596574"/>
                </a:solidFill>
                <a:latin typeface="Times New Roman" panose="02020603050405020304" pitchFamily="18" charset="0"/>
                <a:cs typeface="Times New Roman" panose="02020603050405020304" pitchFamily="18" charset="0"/>
              </a:rPr>
              <a:t>Compare seasons, teams, toss decisions, and outcomes.</a:t>
            </a:r>
          </a:p>
        </p:txBody>
      </p:sp>
      <p:sp>
        <p:nvSpPr>
          <p:cNvPr id="37" name="Chevron 36"/>
          <p:cNvSpPr/>
          <p:nvPr/>
        </p:nvSpPr>
        <p:spPr>
          <a:xfrm>
            <a:off x="4933645" y="2807208"/>
            <a:ext cx="226314" cy="274320"/>
          </a:xfrm>
          <a:prstGeom prst="chevron">
            <a:avLst/>
          </a:prstGeom>
          <a:solidFill>
            <a:srgbClr val="308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8" name="Rounded Rectangle 37"/>
          <p:cNvSpPr/>
          <p:nvPr/>
        </p:nvSpPr>
        <p:spPr>
          <a:xfrm>
            <a:off x="5197678" y="1874519"/>
            <a:ext cx="2051913" cy="2148840"/>
          </a:xfrm>
          <a:prstGeom prst="roundRect">
            <a:avLst/>
          </a:prstGeom>
          <a:solidFill>
            <a:srgbClr val="FFFFFF"/>
          </a:solidFill>
          <a:ln w="1397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9" name="Oval 38"/>
          <p:cNvSpPr/>
          <p:nvPr/>
        </p:nvSpPr>
        <p:spPr>
          <a:xfrm>
            <a:off x="5318379" y="2029967"/>
            <a:ext cx="362102" cy="438912"/>
          </a:xfrm>
          <a:prstGeom prst="ellipse">
            <a:avLst/>
          </a:prstGeom>
          <a:solidFill>
            <a:srgbClr val="308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0" name="TextBox 39"/>
          <p:cNvSpPr txBox="1"/>
          <p:nvPr/>
        </p:nvSpPr>
        <p:spPr>
          <a:xfrm>
            <a:off x="5318379" y="2103229"/>
            <a:ext cx="362102" cy="292388"/>
          </a:xfrm>
          <a:prstGeom prst="rect">
            <a:avLst/>
          </a:prstGeom>
          <a:noFill/>
        </p:spPr>
        <p:txBody>
          <a:bodyPr wrap="square" anchor="ctr">
            <a:spAutoFit/>
          </a:bodyPr>
          <a:lstStyle/>
          <a:p>
            <a:pPr algn="ctr"/>
            <a:r>
              <a:rPr sz="1300" b="1">
                <a:solidFill>
                  <a:srgbClr val="FFFFFF"/>
                </a:solidFill>
                <a:latin typeface="Times New Roman" panose="02020603050405020304" pitchFamily="18" charset="0"/>
                <a:cs typeface="Times New Roman" panose="02020603050405020304" pitchFamily="18" charset="0"/>
              </a:rPr>
              <a:t>7</a:t>
            </a:r>
          </a:p>
        </p:txBody>
      </p:sp>
      <p:sp>
        <p:nvSpPr>
          <p:cNvPr id="41" name="TextBox 40"/>
          <p:cNvSpPr txBox="1"/>
          <p:nvPr/>
        </p:nvSpPr>
        <p:spPr>
          <a:xfrm>
            <a:off x="5771006" y="2054521"/>
            <a:ext cx="1481328" cy="280077"/>
          </a:xfrm>
          <a:prstGeom prst="rect">
            <a:avLst/>
          </a:prstGeom>
          <a:noFill/>
        </p:spPr>
        <p:txBody>
          <a:bodyPr wrap="square" anchor="ctr">
            <a:spAutoFit/>
          </a:bodyPr>
          <a:lstStyle/>
          <a:p>
            <a:pPr algn="l"/>
            <a:r>
              <a:rPr sz="1220" b="1">
                <a:solidFill>
                  <a:srgbClr val="1F3758"/>
                </a:solidFill>
                <a:latin typeface="Times New Roman" panose="02020603050405020304" pitchFamily="18" charset="0"/>
                <a:cs typeface="Times New Roman" panose="02020603050405020304" pitchFamily="18" charset="0"/>
              </a:rPr>
              <a:t>Visualize results</a:t>
            </a:r>
          </a:p>
        </p:txBody>
      </p:sp>
      <p:sp>
        <p:nvSpPr>
          <p:cNvPr id="42" name="TextBox 41"/>
          <p:cNvSpPr txBox="1"/>
          <p:nvPr/>
        </p:nvSpPr>
        <p:spPr>
          <a:xfrm>
            <a:off x="5363640" y="2936114"/>
            <a:ext cx="1719986" cy="446276"/>
          </a:xfrm>
          <a:prstGeom prst="rect">
            <a:avLst/>
          </a:prstGeom>
          <a:noFill/>
        </p:spPr>
        <p:txBody>
          <a:bodyPr wrap="square" anchor="ctr">
            <a:spAutoFit/>
          </a:bodyPr>
          <a:lstStyle/>
          <a:p>
            <a:pPr algn="l"/>
            <a:r>
              <a:rPr sz="1150" b="0">
                <a:solidFill>
                  <a:srgbClr val="596574"/>
                </a:solidFill>
                <a:latin typeface="Times New Roman" panose="02020603050405020304" pitchFamily="18" charset="0"/>
                <a:cs typeface="Times New Roman" panose="02020603050405020304" pitchFamily="18" charset="0"/>
              </a:rPr>
              <a:t>Create clear player, team, and season charts.</a:t>
            </a:r>
          </a:p>
        </p:txBody>
      </p:sp>
      <p:sp>
        <p:nvSpPr>
          <p:cNvPr id="43" name="Chevron 42"/>
          <p:cNvSpPr/>
          <p:nvPr/>
        </p:nvSpPr>
        <p:spPr>
          <a:xfrm>
            <a:off x="7325029" y="2807208"/>
            <a:ext cx="226314" cy="274320"/>
          </a:xfrm>
          <a:prstGeom prst="chevron">
            <a:avLst/>
          </a:prstGeom>
          <a:solidFill>
            <a:srgbClr val="308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4" name="Rounded Rectangle 43"/>
          <p:cNvSpPr/>
          <p:nvPr/>
        </p:nvSpPr>
        <p:spPr>
          <a:xfrm>
            <a:off x="7589062" y="1874519"/>
            <a:ext cx="2051913" cy="2148840"/>
          </a:xfrm>
          <a:prstGeom prst="roundRect">
            <a:avLst/>
          </a:prstGeom>
          <a:solidFill>
            <a:srgbClr val="FFFFFF"/>
          </a:solidFill>
          <a:ln w="13970">
            <a:solidFill>
              <a:srgbClr val="DA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5" name="Oval 44"/>
          <p:cNvSpPr/>
          <p:nvPr/>
        </p:nvSpPr>
        <p:spPr>
          <a:xfrm>
            <a:off x="7709763" y="2029967"/>
            <a:ext cx="362102" cy="438912"/>
          </a:xfrm>
          <a:prstGeom prst="ellipse">
            <a:avLst/>
          </a:prstGeom>
          <a:solidFill>
            <a:srgbClr val="308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6" name="TextBox 45"/>
          <p:cNvSpPr txBox="1"/>
          <p:nvPr/>
        </p:nvSpPr>
        <p:spPr>
          <a:xfrm>
            <a:off x="7709763" y="2103229"/>
            <a:ext cx="362102" cy="292388"/>
          </a:xfrm>
          <a:prstGeom prst="rect">
            <a:avLst/>
          </a:prstGeom>
          <a:noFill/>
        </p:spPr>
        <p:txBody>
          <a:bodyPr wrap="square" anchor="ctr">
            <a:spAutoFit/>
          </a:bodyPr>
          <a:lstStyle/>
          <a:p>
            <a:pPr algn="ctr"/>
            <a:r>
              <a:rPr sz="1300" b="1">
                <a:solidFill>
                  <a:srgbClr val="FFFFFF"/>
                </a:solidFill>
                <a:latin typeface="Times New Roman" panose="02020603050405020304" pitchFamily="18" charset="0"/>
                <a:cs typeface="Times New Roman" panose="02020603050405020304" pitchFamily="18" charset="0"/>
              </a:rPr>
              <a:t>8</a:t>
            </a:r>
          </a:p>
        </p:txBody>
      </p:sp>
      <p:sp>
        <p:nvSpPr>
          <p:cNvPr id="47" name="TextBox 46"/>
          <p:cNvSpPr txBox="1"/>
          <p:nvPr/>
        </p:nvSpPr>
        <p:spPr>
          <a:xfrm>
            <a:off x="8162391" y="2059908"/>
            <a:ext cx="1481328" cy="269304"/>
          </a:xfrm>
          <a:prstGeom prst="rect">
            <a:avLst/>
          </a:prstGeom>
          <a:noFill/>
        </p:spPr>
        <p:txBody>
          <a:bodyPr wrap="square" anchor="ctr">
            <a:spAutoFit/>
          </a:bodyPr>
          <a:lstStyle/>
          <a:p>
            <a:r>
              <a:rPr sz="1150" b="1">
                <a:solidFill>
                  <a:srgbClr val="1F3758"/>
                </a:solidFill>
                <a:latin typeface="Times New Roman" panose="02020603050405020304" pitchFamily="18" charset="0"/>
                <a:cs typeface="Times New Roman" panose="02020603050405020304" pitchFamily="18" charset="0"/>
              </a:rPr>
              <a:t>Interpret results</a:t>
            </a:r>
          </a:p>
        </p:txBody>
      </p:sp>
      <p:sp>
        <p:nvSpPr>
          <p:cNvPr id="48" name="TextBox 47"/>
          <p:cNvSpPr txBox="1"/>
          <p:nvPr/>
        </p:nvSpPr>
        <p:spPr>
          <a:xfrm>
            <a:off x="7755026" y="2936114"/>
            <a:ext cx="1719986" cy="446276"/>
          </a:xfrm>
          <a:prstGeom prst="rect">
            <a:avLst/>
          </a:prstGeom>
          <a:noFill/>
        </p:spPr>
        <p:txBody>
          <a:bodyPr wrap="square" anchor="ctr">
            <a:spAutoFit/>
          </a:bodyPr>
          <a:lstStyle/>
          <a:p>
            <a:pPr algn="l"/>
            <a:r>
              <a:rPr sz="1150" b="0">
                <a:solidFill>
                  <a:srgbClr val="596574"/>
                </a:solidFill>
                <a:latin typeface="Times New Roman" panose="02020603050405020304" pitchFamily="18" charset="0"/>
                <a:cs typeface="Times New Roman" panose="02020603050405020304" pitchFamily="18" charset="0"/>
              </a:rPr>
              <a:t>Summarize patterns and note data limitations.</a:t>
            </a:r>
          </a:p>
        </p:txBody>
      </p:sp>
      <p:sp>
        <p:nvSpPr>
          <p:cNvPr id="49" name="Rectangle 48"/>
          <p:cNvSpPr/>
          <p:nvPr/>
        </p:nvSpPr>
        <p:spPr>
          <a:xfrm>
            <a:off x="618591" y="4434840"/>
            <a:ext cx="8826246" cy="32004"/>
          </a:xfrm>
          <a:prstGeom prst="rect">
            <a:avLst/>
          </a:prstGeom>
          <a:solidFill>
            <a:srgbClr val="DAE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0" name="Rounded Rectangle 49"/>
          <p:cNvSpPr/>
          <p:nvPr/>
        </p:nvSpPr>
        <p:spPr>
          <a:xfrm>
            <a:off x="641223" y="4983480"/>
            <a:ext cx="8788527" cy="713232"/>
          </a:xfrm>
          <a:prstGeom prst="roundRect">
            <a:avLst/>
          </a:prstGeom>
          <a:solidFill>
            <a:srgbClr val="F1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1" name="TextBox 50"/>
          <p:cNvSpPr txBox="1"/>
          <p:nvPr/>
        </p:nvSpPr>
        <p:spPr>
          <a:xfrm>
            <a:off x="777240" y="5164797"/>
            <a:ext cx="8503920" cy="323165"/>
          </a:xfrm>
          <a:prstGeom prst="rect">
            <a:avLst/>
          </a:prstGeom>
          <a:noFill/>
        </p:spPr>
        <p:txBody>
          <a:bodyPr wrap="square" anchor="ctr">
            <a:spAutoFit/>
          </a:bodyPr>
          <a:lstStyle/>
          <a:p>
            <a:pPr algn="ctr"/>
            <a:r>
              <a:rPr sz="1500" b="1">
                <a:solidFill>
                  <a:srgbClr val="1F3758"/>
                </a:solidFill>
                <a:latin typeface="Times New Roman" panose="02020603050405020304" pitchFamily="18" charset="0"/>
                <a:cs typeface="Times New Roman" panose="02020603050405020304" pitchFamily="18" charset="0"/>
              </a:rPr>
              <a:t>OUTPUT  →  Performance metrics, visual comparisons, and documented insights</a:t>
            </a:r>
          </a:p>
        </p:txBody>
      </p:sp>
      <p:sp>
        <p:nvSpPr>
          <p:cNvPr id="52" name="TextBox 51"/>
          <p:cNvSpPr txBox="1"/>
          <p:nvPr/>
        </p:nvSpPr>
        <p:spPr>
          <a:xfrm>
            <a:off x="685800" y="6001920"/>
            <a:ext cx="8686800" cy="230832"/>
          </a:xfrm>
          <a:prstGeom prst="rect">
            <a:avLst/>
          </a:prstGeom>
          <a:noFill/>
        </p:spPr>
        <p:txBody>
          <a:bodyPr wrap="square" anchor="ctr">
            <a:spAutoFit/>
          </a:bodyPr>
          <a:lstStyle/>
          <a:p>
            <a:pPr algn="ctr"/>
            <a:r>
              <a:rPr sz="900" b="0">
                <a:solidFill>
                  <a:srgbClr val="596574"/>
                </a:solidFill>
                <a:latin typeface="Times New Roman" panose="02020603050405020304" pitchFamily="18" charset="0"/>
                <a:cs typeface="Times New Roman" panose="02020603050405020304" pitchFamily="18" charset="0"/>
              </a:rPr>
              <a:t>IPL PLAYER PERFORMANCE ANALYSIS  •  METHODOLOGY</a:t>
            </a:r>
          </a:p>
        </p:txBody>
      </p:sp>
    </p:spTree>
    <p:extLst>
      <p:ext uri="{BB962C8B-B14F-4D97-AF65-F5344CB8AC3E}">
        <p14:creationId xmlns:p14="http://schemas.microsoft.com/office/powerpoint/2010/main" val="3744217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3">
            <a:extLst>
              <a:ext uri="{FF2B5EF4-FFF2-40B4-BE49-F238E27FC236}">
                <a16:creationId xmlns:a16="http://schemas.microsoft.com/office/drawing/2014/main" id="{D26E0863-A3EE-1EC4-F128-4D4F1A60D3A0}"/>
              </a:ext>
            </a:extLst>
          </p:cNvPr>
          <p:cNvGrpSpPr/>
          <p:nvPr/>
        </p:nvGrpSpPr>
        <p:grpSpPr>
          <a:xfrm>
            <a:off x="2590800" y="161097"/>
            <a:ext cx="5103904" cy="1198311"/>
            <a:chOff x="2648188" y="47148"/>
            <a:chExt cx="5103904" cy="1198311"/>
          </a:xfrm>
        </p:grpSpPr>
        <p:pic>
          <p:nvPicPr>
            <p:cNvPr id="21"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22"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23"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24"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25" name="TextBox 24"/>
          <p:cNvSpPr txBox="1"/>
          <p:nvPr/>
        </p:nvSpPr>
        <p:spPr>
          <a:xfrm>
            <a:off x="2468880" y="381000"/>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IN" dirty="0">
                <a:solidFill>
                  <a:schemeClr val="bg1"/>
                </a:solidFill>
                <a:latin typeface="Times New Roman" panose="02020603050405020304" pitchFamily="18" charset="0"/>
                <a:cs typeface="Times New Roman" pitchFamily="18" charset="0"/>
              </a:rPr>
              <a:t>Data Visualization</a:t>
            </a:r>
            <a:endParaRPr dirty="0">
              <a:solidFill>
                <a:schemeClr val="bg1"/>
              </a:solidFill>
              <a:latin typeface="Times New Roman" panose="02020603050405020304" pitchFamily="18" charset="0"/>
              <a:cs typeface="Times New Roman" pitchFamily="18" charset="0"/>
            </a:endParaRPr>
          </a:p>
        </p:txBody>
      </p:sp>
      <p:sp>
        <p:nvSpPr>
          <p:cNvPr id="26" name="TextBox 25"/>
          <p:cNvSpPr txBox="1"/>
          <p:nvPr/>
        </p:nvSpPr>
        <p:spPr>
          <a:xfrm>
            <a:off x="411480" y="1234440"/>
            <a:ext cx="9144000" cy="261610"/>
          </a:xfrm>
          <a:prstGeom prst="rect">
            <a:avLst/>
          </a:prstGeom>
          <a:noFill/>
        </p:spPr>
        <p:txBody>
          <a:bodyPr wrap="square">
            <a:spAutoFit/>
          </a:bodyPr>
          <a:lstStyle/>
          <a:p>
            <a:pPr algn="ctr"/>
            <a:r>
              <a:rPr sz="1100" i="1">
                <a:solidFill>
                  <a:srgbClr val="808080"/>
                </a:solidFill>
                <a:latin typeface="Times New Roman" panose="02020603050405020304" pitchFamily="18" charset="0"/>
                <a:cs typeface="Times New Roman" panose="02020603050405020304" pitchFamily="18" charset="0"/>
              </a:rPr>
              <a:t>Dataset overview based on the supplied project deck; performance rankings require source CSV data.</a:t>
            </a:r>
          </a:p>
        </p:txBody>
      </p:sp>
      <p:pic>
        <p:nvPicPr>
          <p:cNvPr id="30" name="Picture 29" descr="analysis_areas.png"/>
          <p:cNvPicPr>
            <a:picLocks noChangeAspect="1"/>
          </p:cNvPicPr>
          <p:nvPr/>
        </p:nvPicPr>
        <p:blipFill>
          <a:blip r:embed="rId5"/>
          <a:stretch>
            <a:fillRect/>
          </a:stretch>
        </p:blipFill>
        <p:spPr>
          <a:xfrm>
            <a:off x="5029200" y="4709160"/>
            <a:ext cx="4480560" cy="2926080"/>
          </a:xfrm>
          <a:prstGeom prst="rect">
            <a:avLst/>
          </a:prstGeom>
        </p:spPr>
      </p:pic>
      <p:pic>
        <p:nvPicPr>
          <p:cNvPr id="3" name="Picture 2">
            <a:extLst>
              <a:ext uri="{FF2B5EF4-FFF2-40B4-BE49-F238E27FC236}">
                <a16:creationId xmlns:a16="http://schemas.microsoft.com/office/drawing/2014/main" id="{FFD79CAB-EAC6-50E0-55F1-0672FC5D0DE9}"/>
              </a:ext>
            </a:extLst>
          </p:cNvPr>
          <p:cNvPicPr>
            <a:picLocks noChangeAspect="1"/>
          </p:cNvPicPr>
          <p:nvPr/>
        </p:nvPicPr>
        <p:blipFill>
          <a:blip r:embed="rId6"/>
          <a:stretch>
            <a:fillRect/>
          </a:stretch>
        </p:blipFill>
        <p:spPr>
          <a:xfrm>
            <a:off x="411480" y="1782668"/>
            <a:ext cx="4480560" cy="2561144"/>
          </a:xfrm>
          <a:prstGeom prst="rect">
            <a:avLst/>
          </a:prstGeom>
        </p:spPr>
      </p:pic>
      <p:pic>
        <p:nvPicPr>
          <p:cNvPr id="5" name="Picture 4">
            <a:extLst>
              <a:ext uri="{FF2B5EF4-FFF2-40B4-BE49-F238E27FC236}">
                <a16:creationId xmlns:a16="http://schemas.microsoft.com/office/drawing/2014/main" id="{66EC0E5D-594A-3DFB-C470-4B2148A682A6}"/>
              </a:ext>
            </a:extLst>
          </p:cNvPr>
          <p:cNvPicPr>
            <a:picLocks noChangeAspect="1"/>
          </p:cNvPicPr>
          <p:nvPr/>
        </p:nvPicPr>
        <p:blipFill>
          <a:blip r:embed="rId7"/>
          <a:stretch>
            <a:fillRect/>
          </a:stretch>
        </p:blipFill>
        <p:spPr>
          <a:xfrm>
            <a:off x="588887" y="4343812"/>
            <a:ext cx="4113839" cy="3429105"/>
          </a:xfrm>
          <a:prstGeom prst="rect">
            <a:avLst/>
          </a:prstGeom>
        </p:spPr>
      </p:pic>
      <p:pic>
        <p:nvPicPr>
          <p:cNvPr id="7" name="Picture 6">
            <a:extLst>
              <a:ext uri="{FF2B5EF4-FFF2-40B4-BE49-F238E27FC236}">
                <a16:creationId xmlns:a16="http://schemas.microsoft.com/office/drawing/2014/main" id="{8CE0AD99-49E6-AA63-9E98-AD81D6993F69}"/>
              </a:ext>
            </a:extLst>
          </p:cNvPr>
          <p:cNvPicPr>
            <a:picLocks noChangeAspect="1"/>
          </p:cNvPicPr>
          <p:nvPr/>
        </p:nvPicPr>
        <p:blipFill>
          <a:blip r:embed="rId8"/>
          <a:stretch>
            <a:fillRect/>
          </a:stretch>
        </p:blipFill>
        <p:spPr>
          <a:xfrm>
            <a:off x="5337505" y="1766120"/>
            <a:ext cx="4038600" cy="2480120"/>
          </a:xfrm>
          <a:prstGeom prst="rect">
            <a:avLst/>
          </a:prstGeom>
        </p:spPr>
      </p:pic>
    </p:spTree>
    <p:extLst>
      <p:ext uri="{BB962C8B-B14F-4D97-AF65-F5344CB8AC3E}">
        <p14:creationId xmlns:p14="http://schemas.microsoft.com/office/powerpoint/2010/main" val="3751606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3431172" y="235744"/>
            <a:ext cx="3265998" cy="830997"/>
          </a:xfrm>
          <a:prstGeom prst="rect">
            <a:avLst/>
          </a:prstGeom>
          <a:noFill/>
        </p:spPr>
        <p:txBody>
          <a:bodyPr wrap="square" rtlCol="0">
            <a:spAutoFit/>
          </a:bodyPr>
          <a:lstStyle/>
          <a:p>
            <a:pPr algn="ctr"/>
            <a:r>
              <a:rPr lang="en-IN" sz="2200" dirty="0">
                <a:solidFill>
                  <a:schemeClr val="bg1"/>
                </a:solidFill>
                <a:latin typeface="Times New Roman" panose="02020603050405020304" pitchFamily="18" charset="0"/>
                <a:cs typeface="Times New Roman" pitchFamily="18" charset="0"/>
              </a:rPr>
              <a:t>Key Insights &amp; Analysis</a:t>
            </a:r>
          </a:p>
          <a:p>
            <a:endParaRPr lang="en-US" sz="24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548640" y="1554480"/>
            <a:ext cx="8823960" cy="4701993"/>
          </a:xfrm>
          <a:prstGeom prst="rect">
            <a:avLst/>
          </a:prstGeom>
          <a:noFill/>
        </p:spPr>
        <p:txBody>
          <a:bodyPr wrap="square" lIns="73152" rIns="73152" anchor="t">
            <a:spAutoFit/>
          </a:bodyPr>
          <a:lstStyle/>
          <a:p>
            <a:pPr algn="l">
              <a:lnSpc>
                <a:spcPct val="200000"/>
              </a:lnSpc>
              <a:spcAft>
                <a:spcPts val="1400"/>
              </a:spcAft>
            </a:pPr>
            <a:r>
              <a:rPr sz="1900" dirty="0">
                <a:solidFill>
                  <a:srgbClr val="2D2D2D"/>
                </a:solidFill>
                <a:latin typeface="Times New Roman" panose="02020603050405020304" pitchFamily="18" charset="0"/>
                <a:cs typeface="Times New Roman" panose="02020603050405020304" pitchFamily="18" charset="0"/>
              </a:rPr>
              <a:t>• The supplied project deck reports 1,2</a:t>
            </a:r>
            <a:r>
              <a:rPr lang="en-IN" sz="1900" dirty="0">
                <a:solidFill>
                  <a:srgbClr val="2D2D2D"/>
                </a:solidFill>
                <a:latin typeface="Times New Roman" panose="02020603050405020304" pitchFamily="18" charset="0"/>
                <a:cs typeface="Times New Roman" panose="02020603050405020304" pitchFamily="18" charset="0"/>
              </a:rPr>
              <a:t>43</a:t>
            </a:r>
            <a:r>
              <a:rPr sz="1900" dirty="0">
                <a:solidFill>
                  <a:srgbClr val="2D2D2D"/>
                </a:solidFill>
                <a:latin typeface="Times New Roman" panose="02020603050405020304" pitchFamily="18" charset="0"/>
                <a:cs typeface="Times New Roman" panose="02020603050405020304" pitchFamily="18" charset="0"/>
              </a:rPr>
              <a:t> match records and 2</a:t>
            </a:r>
            <a:r>
              <a:rPr lang="en-IN" sz="1900" dirty="0">
                <a:solidFill>
                  <a:srgbClr val="2D2D2D"/>
                </a:solidFill>
                <a:latin typeface="Times New Roman" panose="02020603050405020304" pitchFamily="18" charset="0"/>
                <a:cs typeface="Times New Roman" panose="02020603050405020304" pitchFamily="18" charset="0"/>
              </a:rPr>
              <a:t>95,729</a:t>
            </a:r>
            <a:r>
              <a:rPr sz="1900" dirty="0">
                <a:solidFill>
                  <a:srgbClr val="2D2D2D"/>
                </a:solidFill>
                <a:latin typeface="Times New Roman" panose="02020603050405020304" pitchFamily="18" charset="0"/>
                <a:cs typeface="Times New Roman" panose="02020603050405020304" pitchFamily="18" charset="0"/>
              </a:rPr>
              <a:t> delivery records.</a:t>
            </a:r>
          </a:p>
          <a:p>
            <a:pPr algn="l">
              <a:lnSpc>
                <a:spcPct val="100000"/>
              </a:lnSpc>
              <a:spcAft>
                <a:spcPts val="1400"/>
              </a:spcAft>
            </a:pPr>
            <a:r>
              <a:rPr sz="1900" dirty="0">
                <a:solidFill>
                  <a:srgbClr val="2D2D2D"/>
                </a:solidFill>
                <a:latin typeface="Times New Roman" panose="02020603050405020304" pitchFamily="18" charset="0"/>
                <a:cs typeface="Times New Roman" panose="02020603050405020304" pitchFamily="18" charset="0"/>
              </a:rPr>
              <a:t>• The dataset description lists </a:t>
            </a:r>
            <a:r>
              <a:rPr lang="en-IN" sz="1900" dirty="0">
                <a:latin typeface="Times New Roman" panose="02020603050405020304" pitchFamily="18" charset="0"/>
                <a:cs typeface="Times New Roman" panose="02020603050405020304" pitchFamily="18" charset="0"/>
              </a:rPr>
              <a:t>842 unique players appearing in ball-by-ball data</a:t>
            </a:r>
            <a:r>
              <a:rPr sz="1900" dirty="0">
                <a:solidFill>
                  <a:srgbClr val="2D2D2D"/>
                </a:solidFill>
                <a:latin typeface="Times New Roman" panose="02020603050405020304" pitchFamily="18" charset="0"/>
                <a:cs typeface="Times New Roman" panose="02020603050405020304" pitchFamily="18" charset="0"/>
              </a:rPr>
              <a:t>, 1</a:t>
            </a:r>
            <a:r>
              <a:rPr lang="en-IN" sz="1900" dirty="0">
                <a:solidFill>
                  <a:srgbClr val="2D2D2D"/>
                </a:solidFill>
                <a:latin typeface="Times New Roman" panose="02020603050405020304" pitchFamily="18" charset="0"/>
                <a:cs typeface="Times New Roman" panose="02020603050405020304" pitchFamily="18" charset="0"/>
              </a:rPr>
              <a:t>5</a:t>
            </a:r>
            <a:r>
              <a:rPr sz="1900" dirty="0">
                <a:solidFill>
                  <a:srgbClr val="2D2D2D"/>
                </a:solidFill>
                <a:latin typeface="Times New Roman" panose="02020603050405020304" pitchFamily="18" charset="0"/>
                <a:cs typeface="Times New Roman" panose="02020603050405020304" pitchFamily="18" charset="0"/>
              </a:rPr>
              <a:t> teams</a:t>
            </a:r>
            <a:r>
              <a:rPr lang="en-US" sz="1900" dirty="0">
                <a:solidFill>
                  <a:srgbClr val="2D2D2D"/>
                </a:solidFill>
                <a:latin typeface="Times New Roman" panose="02020603050405020304" pitchFamily="18" charset="0"/>
                <a:cs typeface="Times New Roman" panose="02020603050405020304" pitchFamily="18" charset="0"/>
              </a:rPr>
              <a:t>.</a:t>
            </a:r>
          </a:p>
          <a:p>
            <a:pPr algn="l">
              <a:lnSpc>
                <a:spcPct val="200000"/>
              </a:lnSpc>
              <a:spcAft>
                <a:spcPts val="1400"/>
              </a:spcAft>
            </a:pPr>
            <a:r>
              <a:rPr sz="1900" dirty="0">
                <a:solidFill>
                  <a:srgbClr val="2D2D2D"/>
                </a:solidFill>
                <a:latin typeface="Times New Roman" panose="02020603050405020304" pitchFamily="18" charset="0"/>
                <a:cs typeface="Times New Roman" panose="02020603050405020304" pitchFamily="18" charset="0"/>
              </a:rPr>
              <a:t>• Ball-by-ball data can support player-level batting and bowling comparisons.</a:t>
            </a:r>
          </a:p>
          <a:p>
            <a:pPr algn="l">
              <a:lnSpc>
                <a:spcPct val="200000"/>
              </a:lnSpc>
              <a:spcAft>
                <a:spcPts val="1400"/>
              </a:spcAft>
            </a:pPr>
            <a:r>
              <a:rPr sz="1900" dirty="0">
                <a:solidFill>
                  <a:srgbClr val="2D2D2D"/>
                </a:solidFill>
                <a:latin typeface="Times New Roman" panose="02020603050405020304" pitchFamily="18" charset="0"/>
                <a:cs typeface="Times New Roman" panose="02020603050405020304" pitchFamily="18" charset="0"/>
              </a:rPr>
              <a:t>• Match and toss fields can be used to examine toss decisions and match results.</a:t>
            </a:r>
          </a:p>
          <a:p>
            <a:pPr algn="l">
              <a:lnSpc>
                <a:spcPct val="200000"/>
              </a:lnSpc>
              <a:spcAft>
                <a:spcPts val="1400"/>
              </a:spcAft>
            </a:pPr>
            <a:r>
              <a:rPr sz="1900" dirty="0">
                <a:solidFill>
                  <a:srgbClr val="2D2D2D"/>
                </a:solidFill>
                <a:latin typeface="Times New Roman" panose="02020603050405020304" pitchFamily="18" charset="0"/>
                <a:cs typeface="Times New Roman" panose="02020603050405020304" pitchFamily="18" charset="0"/>
              </a:rPr>
              <a:t>• The stated dataset period is 2008–202</a:t>
            </a:r>
            <a:r>
              <a:rPr lang="en-IN" sz="1900" dirty="0">
                <a:solidFill>
                  <a:srgbClr val="2D2D2D"/>
                </a:solidFill>
                <a:latin typeface="Times New Roman" panose="02020603050405020304" pitchFamily="18" charset="0"/>
                <a:cs typeface="Times New Roman" panose="02020603050405020304" pitchFamily="18" charset="0"/>
              </a:rPr>
              <a:t>6</a:t>
            </a:r>
            <a:r>
              <a:rPr sz="1900" dirty="0">
                <a:solidFill>
                  <a:srgbClr val="2D2D2D"/>
                </a:solidFill>
                <a:latin typeface="Times New Roman" panose="02020603050405020304" pitchFamily="18" charset="0"/>
                <a:cs typeface="Times New Roman" panose="02020603050405020304" pitchFamily="18" charset="0"/>
              </a:rPr>
              <a:t>.</a:t>
            </a:r>
          </a:p>
          <a:p>
            <a:pPr algn="l">
              <a:lnSpc>
                <a:spcPct val="200000"/>
              </a:lnSpc>
              <a:spcAft>
                <a:spcPts val="1400"/>
              </a:spcAft>
            </a:pPr>
            <a:r>
              <a:rPr sz="1900" dirty="0">
                <a:solidFill>
                  <a:srgbClr val="2D2D2D"/>
                </a:solidFill>
                <a:latin typeface="Times New Roman" panose="02020603050405020304" pitchFamily="18" charset="0"/>
                <a:cs typeface="Times New Roman" panose="02020603050405020304" pitchFamily="18" charset="0"/>
              </a:rPr>
              <a:t>• The supplied PPT does not include calculated top-player rankings or toss-impact results; these must be generated from the CSV files.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67ACC245-70D9-3E8C-5FB8-754CFCF29BA7}"/>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520D471-D4E5-A862-75B1-D9BCC13CCE76}"/>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D22DAB3-C37B-1766-28C4-6EB13F7079CD}"/>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DC96198-DF83-D7E8-5187-D35038090D7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BAA191BE-B616-456E-A32A-06C5D11989B1}"/>
                </a:ext>
              </a:extLst>
            </p:cNvPr>
            <p:cNvSpPr/>
            <p:nvPr/>
          </p:nvSpPr>
          <p:spPr>
            <a:xfrm>
              <a:off x="2828925" y="282892"/>
              <a:ext cx="4534295"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latin typeface="Times New Roman" panose="02020603050405020304" pitchFamily="18" charset="0"/>
                  <a:cs typeface="Times New Roman" panose="02020603050405020304" pitchFamily="18" charset="0"/>
                </a:rPr>
                <a:t>                     </a:t>
              </a:r>
              <a:endParaRPr sz="2800" dirty="0">
                <a:solidFill>
                  <a:schemeClr val="bg1"/>
                </a:solidFill>
                <a:latin typeface="Times New Roman" panose="02020603050405020304" pitchFamily="18" charset="0"/>
                <a:cs typeface="Times New Roman" panose="02020603050405020304" pitchFamily="18" charset="0"/>
              </a:endParaRPr>
            </a:p>
          </p:txBody>
        </p:sp>
      </p:grpSp>
      <p:sp>
        <p:nvSpPr>
          <p:cNvPr id="12" name="TextBox 11"/>
          <p:cNvSpPr txBox="1"/>
          <p:nvPr/>
        </p:nvSpPr>
        <p:spPr>
          <a:xfrm>
            <a:off x="2477248" y="3938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anose="02020603050405020304" pitchFamily="18" charset="0"/>
                <a:cs typeface="Times New Roman" pitchFamily="18" charset="0"/>
              </a:rPr>
              <a:t>Implementation Workflow</a:t>
            </a:r>
          </a:p>
        </p:txBody>
      </p:sp>
      <p:sp>
        <p:nvSpPr>
          <p:cNvPr id="13" name="TextBox 12"/>
          <p:cNvSpPr txBox="1"/>
          <p:nvPr/>
        </p:nvSpPr>
        <p:spPr>
          <a:xfrm>
            <a:off x="3002008" y="1234440"/>
            <a:ext cx="3962943" cy="292388"/>
          </a:xfrm>
          <a:prstGeom prst="rect">
            <a:avLst/>
          </a:prstGeom>
          <a:noFill/>
        </p:spPr>
        <p:txBody>
          <a:bodyPr wrap="none">
            <a:spAutoFit/>
          </a:bodyPr>
          <a:lstStyle/>
          <a:p>
            <a:pPr algn="ctr"/>
            <a:r>
              <a:rPr sz="1300" i="1">
                <a:solidFill>
                  <a:srgbClr val="808080"/>
                </a:solidFill>
                <a:latin typeface="Times New Roman" panose="02020603050405020304" pitchFamily="18" charset="0"/>
                <a:cs typeface="Times New Roman" panose="02020603050405020304" pitchFamily="18" charset="0"/>
              </a:rPr>
              <a:t>Workflow for IPL player and team performance analysis</a:t>
            </a:r>
          </a:p>
        </p:txBody>
      </p:sp>
      <p:sp>
        <p:nvSpPr>
          <p:cNvPr id="14" name="Chevron 13"/>
          <p:cNvSpPr/>
          <p:nvPr/>
        </p:nvSpPr>
        <p:spPr>
          <a:xfrm>
            <a:off x="365760" y="196596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latin typeface="Times New Roman" panose="02020603050405020304" pitchFamily="18" charset="0"/>
                <a:cs typeface="Times New Roman" panose="02020603050405020304" pitchFamily="18" charset="0"/>
              </a:rPr>
              <a:t>1. Data Collection</a:t>
            </a:r>
          </a:p>
        </p:txBody>
      </p:sp>
      <p:sp>
        <p:nvSpPr>
          <p:cNvPr id="15" name="Chevron 14"/>
          <p:cNvSpPr/>
          <p:nvPr/>
        </p:nvSpPr>
        <p:spPr>
          <a:xfrm>
            <a:off x="3291839" y="196596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latin typeface="Times New Roman" panose="02020603050405020304" pitchFamily="18" charset="0"/>
                <a:cs typeface="Times New Roman" panose="02020603050405020304" pitchFamily="18" charset="0"/>
              </a:rPr>
              <a:t>2. Data Cleaning</a:t>
            </a:r>
          </a:p>
        </p:txBody>
      </p:sp>
      <p:sp>
        <p:nvSpPr>
          <p:cNvPr id="16" name="Chevron 15"/>
          <p:cNvSpPr/>
          <p:nvPr/>
        </p:nvSpPr>
        <p:spPr>
          <a:xfrm>
            <a:off x="6217920" y="196596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latin typeface="Times New Roman" panose="02020603050405020304" pitchFamily="18" charset="0"/>
                <a:cs typeface="Times New Roman" panose="02020603050405020304" pitchFamily="18" charset="0"/>
              </a:rPr>
              <a:t>3. Pre-processing</a:t>
            </a:r>
          </a:p>
        </p:txBody>
      </p:sp>
      <p:sp>
        <p:nvSpPr>
          <p:cNvPr id="17" name="Chevron 16"/>
          <p:cNvSpPr/>
          <p:nvPr/>
        </p:nvSpPr>
        <p:spPr>
          <a:xfrm>
            <a:off x="36576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Times New Roman" panose="02020603050405020304" pitchFamily="18" charset="0"/>
                <a:cs typeface="Times New Roman" panose="02020603050405020304" pitchFamily="18" charset="0"/>
              </a:rPr>
              <a:t>4. EDA</a:t>
            </a:r>
          </a:p>
        </p:txBody>
      </p:sp>
      <p:sp>
        <p:nvSpPr>
          <p:cNvPr id="18" name="Chevron 17"/>
          <p:cNvSpPr/>
          <p:nvPr/>
        </p:nvSpPr>
        <p:spPr>
          <a:xfrm>
            <a:off x="3291839" y="370332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Times New Roman" panose="02020603050405020304" pitchFamily="18" charset="0"/>
                <a:cs typeface="Times New Roman" panose="02020603050405020304" pitchFamily="18" charset="0"/>
              </a:rPr>
              <a:t>5. Visualization</a:t>
            </a:r>
          </a:p>
        </p:txBody>
      </p:sp>
      <p:sp>
        <p:nvSpPr>
          <p:cNvPr id="19" name="Chevron 18"/>
          <p:cNvSpPr/>
          <p:nvPr/>
        </p:nvSpPr>
        <p:spPr>
          <a:xfrm>
            <a:off x="621792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latin typeface="Times New Roman" panose="02020603050405020304" pitchFamily="18" charset="0"/>
                <a:cs typeface="Times New Roman" panose="02020603050405020304" pitchFamily="18" charset="0"/>
              </a:rPr>
              <a:t>6. Insights &amp; Report</a:t>
            </a:r>
          </a:p>
        </p:txBody>
      </p:sp>
      <p:sp>
        <p:nvSpPr>
          <p:cNvPr id="20" name="Down Arrow 19"/>
          <p:cNvSpPr/>
          <p:nvPr/>
        </p:nvSpPr>
        <p:spPr>
          <a:xfrm>
            <a:off x="4572000" y="2999232"/>
            <a:ext cx="640080" cy="640080"/>
          </a:xfrm>
          <a:prstGeom prst="downArrow">
            <a:avLst/>
          </a:prstGeom>
          <a:solidFill>
            <a:srgbClr val="C25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TextBox 20"/>
          <p:cNvSpPr txBox="1"/>
          <p:nvPr/>
        </p:nvSpPr>
        <p:spPr>
          <a:xfrm>
            <a:off x="411480" y="5074920"/>
            <a:ext cx="9144000" cy="292388"/>
          </a:xfrm>
          <a:prstGeom prst="rect">
            <a:avLst/>
          </a:prstGeom>
          <a:noFill/>
        </p:spPr>
        <p:txBody>
          <a:bodyPr wrap="square">
            <a:spAutoFit/>
          </a:bodyPr>
          <a:lstStyle/>
          <a:p>
            <a:pPr algn="ctr"/>
            <a:r>
              <a:rPr sz="1300" i="1">
                <a:solidFill>
                  <a:srgbClr val="233464"/>
                </a:solidFill>
                <a:latin typeface="Times New Roman" panose="02020603050405020304" pitchFamily="18" charset="0"/>
                <a:cs typeface="Times New Roman" panose="02020603050405020304" pitchFamily="18" charset="0"/>
              </a:rPr>
              <a:t>Output: validated IPL tables → performance metrics → visual comparisons → documented findings</a:t>
            </a:r>
          </a:p>
        </p:txBody>
      </p:sp>
    </p:spTree>
    <p:extLst>
      <p:ext uri="{BB962C8B-B14F-4D97-AF65-F5344CB8AC3E}">
        <p14:creationId xmlns:p14="http://schemas.microsoft.com/office/powerpoint/2010/main" val="49352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14" name="TextBox 13"/>
          <p:cNvSpPr txBox="1"/>
          <p:nvPr/>
        </p:nvSpPr>
        <p:spPr>
          <a:xfrm>
            <a:off x="2488870" y="3684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anose="02020603050405020304" pitchFamily="18" charset="0"/>
                <a:cs typeface="Times New Roman" pitchFamily="18" charset="0"/>
              </a:rPr>
              <a:t>CONCLUSION</a:t>
            </a:r>
          </a:p>
        </p:txBody>
      </p:sp>
      <p:sp>
        <p:nvSpPr>
          <p:cNvPr id="15" name="TextBox 14"/>
          <p:cNvSpPr txBox="1"/>
          <p:nvPr/>
        </p:nvSpPr>
        <p:spPr>
          <a:xfrm>
            <a:off x="777240" y="1463040"/>
            <a:ext cx="8412480" cy="4057521"/>
          </a:xfrm>
          <a:prstGeom prst="rect">
            <a:avLst/>
          </a:prstGeom>
          <a:noFill/>
        </p:spPr>
        <p:txBody>
          <a:bodyPr wrap="square" lIns="73152" rIns="73152" anchor="t">
            <a:spAutoFit/>
          </a:bodyPr>
          <a:lstStyle/>
          <a:p>
            <a:pPr marL="285750" indent="-285750" algn="l">
              <a:spcAft>
                <a:spcPts val="1000"/>
              </a:spcAft>
              <a:buFont typeface="Arial" panose="020B0604020202020204" pitchFamily="34" charset="0"/>
              <a:buChar char="•"/>
              <a:defRPr sz="2000" b="0">
                <a:solidFill>
                  <a:srgbClr val="2D2D2D"/>
                </a:solidFill>
                <a:latin typeface="Aptos"/>
              </a:defRPr>
            </a:pPr>
            <a:r>
              <a:rPr lang="en-US" sz="1800" dirty="0">
                <a:latin typeface="Times New Roman" panose="02020603050405020304" pitchFamily="18" charset="0"/>
                <a:cs typeface="Times New Roman" panose="02020603050405020304" pitchFamily="18" charset="0"/>
              </a:rPr>
              <a:t>The IPL Player Performance Analysis project provides a structured approach to studying batting, bowling, team, season, and toss-related performance. </a:t>
            </a:r>
          </a:p>
          <a:p>
            <a:pPr marL="285750" indent="-285750" algn="l">
              <a:spcAft>
                <a:spcPts val="1000"/>
              </a:spcAft>
              <a:buFont typeface="Arial" panose="020B0604020202020204" pitchFamily="34" charset="0"/>
              <a:buChar char="•"/>
              <a:defRPr sz="2000" b="0">
                <a:solidFill>
                  <a:srgbClr val="2D2D2D"/>
                </a:solidFill>
                <a:latin typeface="Aptos"/>
              </a:defRPr>
            </a:pPr>
            <a:r>
              <a:rPr lang="en-US" sz="1800" dirty="0">
                <a:latin typeface="Times New Roman" panose="02020603050405020304" pitchFamily="18" charset="0"/>
                <a:cs typeface="Times New Roman" panose="02020603050405020304" pitchFamily="18" charset="0"/>
              </a:rPr>
              <a:t>The project uses Python and Pandas to process and analyze large IPL datasets efficiently instead of relying on manual comparison. </a:t>
            </a:r>
          </a:p>
          <a:p>
            <a:pPr marL="285750" indent="-285750" algn="l">
              <a:spcAft>
                <a:spcPts val="1000"/>
              </a:spcAft>
              <a:buFont typeface="Arial" panose="020B0604020202020204" pitchFamily="34" charset="0"/>
              <a:buChar char="•"/>
              <a:defRPr sz="2000" b="0">
                <a:solidFill>
                  <a:srgbClr val="2D2D2D"/>
                </a:solidFill>
                <a:latin typeface="Aptos"/>
              </a:defRPr>
            </a:pPr>
            <a:r>
              <a:rPr lang="en-US" sz="1800" dirty="0">
                <a:latin typeface="Times New Roman" panose="02020603050405020304" pitchFamily="18" charset="0"/>
                <a:cs typeface="Times New Roman" panose="02020603050405020304" pitchFamily="18" charset="0"/>
              </a:rPr>
              <a:t>Data validation and cleaning help ensure that the analysis is based on consistent and reliable records. </a:t>
            </a:r>
          </a:p>
          <a:p>
            <a:pPr marL="285750" indent="-285750" algn="l">
              <a:spcAft>
                <a:spcPts val="1000"/>
              </a:spcAft>
              <a:buFont typeface="Arial" panose="020B0604020202020204" pitchFamily="34" charset="0"/>
              <a:buChar char="•"/>
              <a:defRPr sz="2000" b="0">
                <a:solidFill>
                  <a:srgbClr val="2D2D2D"/>
                </a:solidFill>
                <a:latin typeface="Aptos"/>
              </a:defRPr>
            </a:pPr>
            <a:r>
              <a:rPr lang="en-US" sz="1800" dirty="0">
                <a:latin typeface="Times New Roman" panose="02020603050405020304" pitchFamily="18" charset="0"/>
                <a:cs typeface="Times New Roman" panose="02020603050405020304" pitchFamily="18" charset="0"/>
              </a:rPr>
              <a:t>Performance metrics can be used to compare players, identify trends, and understand changes in performance across IPL seasons. </a:t>
            </a:r>
          </a:p>
          <a:p>
            <a:pPr marL="285750" indent="-285750" algn="l">
              <a:spcAft>
                <a:spcPts val="1000"/>
              </a:spcAft>
              <a:buFont typeface="Arial" panose="020B0604020202020204" pitchFamily="34" charset="0"/>
              <a:buChar char="•"/>
              <a:defRPr sz="2000" b="0">
                <a:solidFill>
                  <a:srgbClr val="2D2D2D"/>
                </a:solidFill>
                <a:latin typeface="Aptos"/>
              </a:defRPr>
            </a:pPr>
            <a:r>
              <a:rPr lang="en-US" sz="1800" dirty="0">
                <a:latin typeface="Times New Roman" panose="02020603050405020304" pitchFamily="18" charset="0"/>
                <a:cs typeface="Times New Roman" panose="02020603050405020304" pitchFamily="18" charset="0"/>
              </a:rPr>
              <a:t>Tables and visualizations make complex statistics easier to understand and support clear interpretation of the results. </a:t>
            </a:r>
          </a:p>
          <a:p>
            <a:pPr marL="285750" indent="-285750" algn="l">
              <a:spcAft>
                <a:spcPts val="1000"/>
              </a:spcAft>
              <a:buFont typeface="Arial" panose="020B0604020202020204" pitchFamily="34" charset="0"/>
              <a:buChar char="•"/>
              <a:defRPr sz="2000" b="0">
                <a:solidFill>
                  <a:srgbClr val="2D2D2D"/>
                </a:solidFill>
                <a:latin typeface="Aptos"/>
              </a:defRPr>
            </a:pPr>
            <a:r>
              <a:rPr lang="en-US" sz="1800" dirty="0">
                <a:latin typeface="Times New Roman" panose="02020603050405020304" pitchFamily="18" charset="0"/>
                <a:cs typeface="Times New Roman" panose="02020603050405020304" pitchFamily="18" charset="0"/>
              </a:rPr>
              <a:t>The final findings are derived from the source CSV datasets, ensuring that the conclusions are supported by the actual data.</a:t>
            </a:r>
          </a:p>
        </p:txBody>
      </p:sp>
    </p:spTree>
    <p:extLst>
      <p:ext uri="{BB962C8B-B14F-4D97-AF65-F5344CB8AC3E}">
        <p14:creationId xmlns:p14="http://schemas.microsoft.com/office/powerpoint/2010/main" val="2694192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58400" cy="7772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400" y="0"/>
            <a:ext cx="8219599"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5372" y="0"/>
            <a:ext cx="8207655"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1257302" y="2266230"/>
            <a:ext cx="7543800" cy="3132565"/>
          </a:xfrm>
          <a:prstGeom prst="rect">
            <a:avLst/>
          </a:prstGeom>
        </p:spPr>
        <p:txBody>
          <a:bodyPr vert="horz" wrap="square" lIns="91440" tIns="45720" rIns="91440" bIns="45720" rtlCol="0" anchor="ctr">
            <a:normAutofit/>
          </a:bodyPr>
          <a:lstStyle/>
          <a:p>
            <a:pPr algn="ctr" rtl="0">
              <a:lnSpc>
                <a:spcPct val="90000"/>
              </a:lnSpc>
              <a:spcBef>
                <a:spcPct val="0"/>
              </a:spcBef>
              <a:spcAft>
                <a:spcPts val="700"/>
              </a:spcAft>
              <a:defRPr sz="3400" b="1">
                <a:solidFill>
                  <a:srgbClr val="233464"/>
                </a:solidFill>
                <a:latin typeface="Aptos"/>
              </a:defRPr>
            </a:pPr>
            <a:r>
              <a:rPr lang="en-US" sz="3000" b="1" kern="1200" dirty="0">
                <a:solidFill>
                  <a:schemeClr val="tx1"/>
                </a:solidFill>
                <a:latin typeface="Aptos Display" pitchFamily="18" charset="0"/>
                <a:ea typeface="+mj-ea"/>
                <a:cs typeface="Times New Roman" pitchFamily="18" charset="0"/>
              </a:rPr>
              <a:t>THANK YOU</a:t>
            </a:r>
          </a:p>
        </p:txBody>
      </p:sp>
      <p:sp>
        <p:nvSpPr>
          <p:cNvPr id="26" name="Rectangle 25">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67812" y="6261424"/>
            <a:ext cx="3922776" cy="310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object 3">
            <a:extLst>
              <a:ext uri="{FF2B5EF4-FFF2-40B4-BE49-F238E27FC236}">
                <a16:creationId xmlns:a16="http://schemas.microsoft.com/office/drawing/2014/main" id="{A36E30A8-BD1B-0058-4620-F390351DADBD}"/>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3310</TotalTime>
  <Words>1300</Words>
  <Application>Microsoft Office PowerPoint</Application>
  <PresentationFormat>Custom</PresentationFormat>
  <Paragraphs>215</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 Display</vt:lpstr>
      <vt:lpstr>Arial</vt:lpstr>
      <vt:lpstr>Calibri</vt:lpstr>
      <vt:lpstr>Palatino Linotype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amruthavarshini3117@hotmail.com</cp:lastModifiedBy>
  <cp:revision>112</cp:revision>
  <cp:lastPrinted>2025-10-14T18:21:49Z</cp:lastPrinted>
  <dcterms:created xsi:type="dcterms:W3CDTF">2025-10-10T08:28:06Z</dcterms:created>
  <dcterms:modified xsi:type="dcterms:W3CDTF">2026-09-30T05:32:09Z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