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8" r:id="rId10"/>
    <p:sldId id="271" r:id="rId11"/>
    <p:sldId id="281" r:id="rId12"/>
    <p:sldId id="283" r:id="rId13"/>
    <p:sldId id="285" r:id="rId14"/>
    <p:sldId id="284" r:id="rId15"/>
    <p:sldId id="268" r:id="rId16"/>
    <p:sldId id="269" r:id="rId17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597685-9CB6-45F9-A194-17869D503BB0}" v="6" dt="2026-09-22T09:10:40.52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4" autoAdjust="0"/>
    <p:restoredTop sz="94660"/>
  </p:normalViewPr>
  <p:slideViewPr>
    <p:cSldViewPr>
      <p:cViewPr varScale="1">
        <p:scale>
          <a:sx n="69" d="100"/>
          <a:sy n="69" d="100"/>
        </p:scale>
        <p:origin x="1954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rna chand" userId="6e54419aa65d471c" providerId="LiveId" clId="{2483B58E-5644-4E75-AA46-D334125ADD6E}"/>
    <pc:docChg chg="undo custSel modSld">
      <pc:chgData name="purna chand" userId="6e54419aa65d471c" providerId="LiveId" clId="{2483B58E-5644-4E75-AA46-D334125ADD6E}" dt="2026-09-22T09:13:59.059" v="130" actId="1076"/>
      <pc:docMkLst>
        <pc:docMk/>
      </pc:docMkLst>
      <pc:sldChg chg="addSp delSp modSp mod">
        <pc:chgData name="purna chand" userId="6e54419aa65d471c" providerId="LiveId" clId="{2483B58E-5644-4E75-AA46-D334125ADD6E}" dt="2026-09-22T09:10:12.476" v="82" actId="1076"/>
        <pc:sldMkLst>
          <pc:docMk/>
          <pc:sldMk cId="314495878" sldId="271"/>
        </pc:sldMkLst>
        <pc:spChg chg="add mod">
          <ac:chgData name="purna chand" userId="6e54419aa65d471c" providerId="LiveId" clId="{2483B58E-5644-4E75-AA46-D334125ADD6E}" dt="2026-09-22T09:10:12.476" v="82" actId="1076"/>
          <ac:spMkLst>
            <pc:docMk/>
            <pc:sldMk cId="314495878" sldId="271"/>
            <ac:spMk id="4" creationId="{52502A97-D245-72B2-C4CE-36C3CF74332D}"/>
          </ac:spMkLst>
        </pc:spChg>
        <pc:spChg chg="add del mod">
          <ac:chgData name="purna chand" userId="6e54419aa65d471c" providerId="LiveId" clId="{2483B58E-5644-4E75-AA46-D334125ADD6E}" dt="2026-09-22T09:06:10.678" v="37"/>
          <ac:spMkLst>
            <pc:docMk/>
            <pc:sldMk cId="314495878" sldId="271"/>
            <ac:spMk id="10" creationId="{C3424CE3-2BBD-D949-B6E7-EE563E93A1D9}"/>
          </ac:spMkLst>
        </pc:spChg>
        <pc:spChg chg="mod">
          <ac:chgData name="purna chand" userId="6e54419aa65d471c" providerId="LiveId" clId="{2483B58E-5644-4E75-AA46-D334125ADD6E}" dt="2026-09-22T09:06:53.284" v="48" actId="1076"/>
          <ac:spMkLst>
            <pc:docMk/>
            <pc:sldMk cId="314495878" sldId="271"/>
            <ac:spMk id="12" creationId="{00000000-0000-0000-0000-000000000000}"/>
          </ac:spMkLst>
        </pc:spChg>
        <pc:spChg chg="add mod">
          <ac:chgData name="purna chand" userId="6e54419aa65d471c" providerId="LiveId" clId="{2483B58E-5644-4E75-AA46-D334125ADD6E}" dt="2026-09-22T09:08:39.566" v="64" actId="1076"/>
          <ac:spMkLst>
            <pc:docMk/>
            <pc:sldMk cId="314495878" sldId="271"/>
            <ac:spMk id="13" creationId="{0E34B842-9CD3-AA46-6CA7-F730C9D1D96E}"/>
          </ac:spMkLst>
        </pc:spChg>
        <pc:spChg chg="add mod">
          <ac:chgData name="purna chand" userId="6e54419aa65d471c" providerId="LiveId" clId="{2483B58E-5644-4E75-AA46-D334125ADD6E}" dt="2026-09-22T09:10:07.110" v="81" actId="1076"/>
          <ac:spMkLst>
            <pc:docMk/>
            <pc:sldMk cId="314495878" sldId="271"/>
            <ac:spMk id="15" creationId="{D18714A5-46F1-BD0D-4A00-BB0C1211F660}"/>
          </ac:spMkLst>
        </pc:spChg>
        <pc:spChg chg="add mod">
          <ac:chgData name="purna chand" userId="6e54419aa65d471c" providerId="LiveId" clId="{2483B58E-5644-4E75-AA46-D334125ADD6E}" dt="2026-09-22T09:08:48.654" v="66" actId="1076"/>
          <ac:spMkLst>
            <pc:docMk/>
            <pc:sldMk cId="314495878" sldId="271"/>
            <ac:spMk id="16" creationId="{D359C03E-C4CB-43D3-0C7D-3D50822A8B32}"/>
          </ac:spMkLst>
        </pc:spChg>
        <pc:spChg chg="add mod">
          <ac:chgData name="purna chand" userId="6e54419aa65d471c" providerId="LiveId" clId="{2483B58E-5644-4E75-AA46-D334125ADD6E}" dt="2026-09-22T09:09:02.344" v="69" actId="1076"/>
          <ac:spMkLst>
            <pc:docMk/>
            <pc:sldMk cId="314495878" sldId="271"/>
            <ac:spMk id="18" creationId="{E02D8121-E16D-A49A-1052-85D8AFE05F58}"/>
          </ac:spMkLst>
        </pc:spChg>
        <pc:spChg chg="mod">
          <ac:chgData name="purna chand" userId="6e54419aa65d471c" providerId="LiveId" clId="{2483B58E-5644-4E75-AA46-D334125ADD6E}" dt="2026-09-22T09:08:25.917" v="61" actId="1076"/>
          <ac:spMkLst>
            <pc:docMk/>
            <pc:sldMk cId="314495878" sldId="271"/>
            <ac:spMk id="20" creationId="{00000000-0000-0000-0000-000000000000}"/>
          </ac:spMkLst>
        </pc:spChg>
        <pc:spChg chg="add mod">
          <ac:chgData name="purna chand" userId="6e54419aa65d471c" providerId="LiveId" clId="{2483B58E-5644-4E75-AA46-D334125ADD6E}" dt="2026-09-22T09:09:59.881" v="80" actId="1076"/>
          <ac:spMkLst>
            <pc:docMk/>
            <pc:sldMk cId="314495878" sldId="271"/>
            <ac:spMk id="21" creationId="{B1C9C953-BED3-2F43-1A1F-3B7650BC3A88}"/>
          </ac:spMkLst>
        </pc:spChg>
        <pc:cxnChg chg="add del">
          <ac:chgData name="purna chand" userId="6e54419aa65d471c" providerId="LiveId" clId="{2483B58E-5644-4E75-AA46-D334125ADD6E}" dt="2026-09-22T09:05:07.531" v="24" actId="11529"/>
          <ac:cxnSpMkLst>
            <pc:docMk/>
            <pc:sldMk cId="314495878" sldId="271"/>
            <ac:cxnSpMk id="3" creationId="{F0BC3A08-AD3D-3AB9-73F3-725E1C529C83}"/>
          </ac:cxnSpMkLst>
        </pc:cxnChg>
      </pc:sldChg>
      <pc:sldChg chg="addSp delSp modSp mod">
        <pc:chgData name="purna chand" userId="6e54419aa65d471c" providerId="LiveId" clId="{2483B58E-5644-4E75-AA46-D334125ADD6E}" dt="2026-09-22T09:13:59.059" v="130" actId="1076"/>
        <pc:sldMkLst>
          <pc:docMk/>
          <pc:sldMk cId="3744217247" sldId="281"/>
        </pc:sldMkLst>
        <pc:spChg chg="add">
          <ac:chgData name="purna chand" userId="6e54419aa65d471c" providerId="LiveId" clId="{2483B58E-5644-4E75-AA46-D334125ADD6E}" dt="2026-09-22T09:10:28.519" v="84" actId="22"/>
          <ac:spMkLst>
            <pc:docMk/>
            <pc:sldMk cId="3744217247" sldId="281"/>
            <ac:spMk id="3" creationId="{58C6D514-1AF0-EDB1-7078-687065ECF56B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2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3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4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5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6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7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8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19" creationId="{00000000-0000-0000-0000-000000000000}"/>
          </ac:spMkLst>
        </pc:spChg>
        <pc:spChg chg="del">
          <ac:chgData name="purna chand" userId="6e54419aa65d471c" providerId="LiveId" clId="{2483B58E-5644-4E75-AA46-D334125ADD6E}" dt="2026-09-22T09:10:20.918" v="83" actId="478"/>
          <ac:spMkLst>
            <pc:docMk/>
            <pc:sldMk cId="3744217247" sldId="281"/>
            <ac:spMk id="20" creationId="{00000000-0000-0000-0000-000000000000}"/>
          </ac:spMkLst>
        </pc:spChg>
        <pc:spChg chg="mod">
          <ac:chgData name="purna chand" userId="6e54419aa65d471c" providerId="LiveId" clId="{2483B58E-5644-4E75-AA46-D334125ADD6E}" dt="2026-09-22T09:10:40.518" v="85"/>
          <ac:spMkLst>
            <pc:docMk/>
            <pc:sldMk cId="3744217247" sldId="281"/>
            <ac:spMk id="23" creationId="{B3782B54-B821-DE87-C2B7-79ECF9E77AF9}"/>
          </ac:spMkLst>
        </pc:spChg>
        <pc:spChg chg="add mod">
          <ac:chgData name="purna chand" userId="6e54419aa65d471c" providerId="LiveId" clId="{2483B58E-5644-4E75-AA46-D334125ADD6E}" dt="2026-09-22T09:13:59.059" v="130" actId="1076"/>
          <ac:spMkLst>
            <pc:docMk/>
            <pc:sldMk cId="3744217247" sldId="281"/>
            <ac:spMk id="25" creationId="{A5CA9835-2A27-E3B2-E349-E0FE4429CFBE}"/>
          </ac:spMkLst>
        </pc:spChg>
        <pc:spChg chg="add mod">
          <ac:chgData name="purna chand" userId="6e54419aa65d471c" providerId="LiveId" clId="{2483B58E-5644-4E75-AA46-D334125ADD6E}" dt="2026-09-22T09:11:43.863" v="99" actId="1076"/>
          <ac:spMkLst>
            <pc:docMk/>
            <pc:sldMk cId="3744217247" sldId="281"/>
            <ac:spMk id="27" creationId="{769BA950-6049-F76A-4A0C-CF5ED87D2763}"/>
          </ac:spMkLst>
        </pc:spChg>
        <pc:spChg chg="add mod">
          <ac:chgData name="purna chand" userId="6e54419aa65d471c" providerId="LiveId" clId="{2483B58E-5644-4E75-AA46-D334125ADD6E}" dt="2026-09-22T09:11:56.197" v="101" actId="1076"/>
          <ac:spMkLst>
            <pc:docMk/>
            <pc:sldMk cId="3744217247" sldId="281"/>
            <ac:spMk id="29" creationId="{3B0312D2-1C2D-0FC3-47A4-8970E0D691E7}"/>
          </ac:spMkLst>
        </pc:spChg>
        <pc:spChg chg="add mod">
          <ac:chgData name="purna chand" userId="6e54419aa65d471c" providerId="LiveId" clId="{2483B58E-5644-4E75-AA46-D334125ADD6E}" dt="2026-09-22T09:12:22.479" v="109" actId="14100"/>
          <ac:spMkLst>
            <pc:docMk/>
            <pc:sldMk cId="3744217247" sldId="281"/>
            <ac:spMk id="31" creationId="{6FA49019-54D3-0F1F-3651-5D4892AE3078}"/>
          </ac:spMkLst>
        </pc:spChg>
        <pc:spChg chg="add mod">
          <ac:chgData name="purna chand" userId="6e54419aa65d471c" providerId="LiveId" clId="{2483B58E-5644-4E75-AA46-D334125ADD6E}" dt="2026-09-22T09:12:33.020" v="111" actId="1076"/>
          <ac:spMkLst>
            <pc:docMk/>
            <pc:sldMk cId="3744217247" sldId="281"/>
            <ac:spMk id="33" creationId="{6D0F4567-D057-4BE7-32A7-334EC2164A2C}"/>
          </ac:spMkLst>
        </pc:spChg>
        <pc:spChg chg="add mod">
          <ac:chgData name="purna chand" userId="6e54419aa65d471c" providerId="LiveId" clId="{2483B58E-5644-4E75-AA46-D334125ADD6E}" dt="2026-09-22T09:13:12.785" v="119" actId="1076"/>
          <ac:spMkLst>
            <pc:docMk/>
            <pc:sldMk cId="3744217247" sldId="281"/>
            <ac:spMk id="35" creationId="{53C43C12-4B70-F721-9E0A-DD8370D3BABC}"/>
          </ac:spMkLst>
        </pc:spChg>
        <pc:spChg chg="add mod">
          <ac:chgData name="purna chand" userId="6e54419aa65d471c" providerId="LiveId" clId="{2483B58E-5644-4E75-AA46-D334125ADD6E}" dt="2026-09-22T09:13:22.745" v="121" actId="1076"/>
          <ac:spMkLst>
            <pc:docMk/>
            <pc:sldMk cId="3744217247" sldId="281"/>
            <ac:spMk id="37" creationId="{D2A13C47-9211-7F6A-3235-E7CA857CC45D}"/>
          </ac:spMkLst>
        </pc:spChg>
        <pc:spChg chg="add mod">
          <ac:chgData name="purna chand" userId="6e54419aa65d471c" providerId="LiveId" clId="{2483B58E-5644-4E75-AA46-D334125ADD6E}" dt="2026-09-22T09:13:51.692" v="129" actId="1076"/>
          <ac:spMkLst>
            <pc:docMk/>
            <pc:sldMk cId="3744217247" sldId="281"/>
            <ac:spMk id="39" creationId="{A378BCE5-A3E9-0942-2521-8A05596F86BE}"/>
          </ac:spMkLst>
        </pc:spChg>
        <pc:grpChg chg="add mod">
          <ac:chgData name="purna chand" userId="6e54419aa65d471c" providerId="LiveId" clId="{2483B58E-5644-4E75-AA46-D334125ADD6E}" dt="2026-09-22T09:10:40.518" v="85"/>
          <ac:grpSpMkLst>
            <pc:docMk/>
            <pc:sldMk cId="3744217247" sldId="281"/>
            <ac:grpSpMk id="4" creationId="{F02D1B8B-963F-84C5-69F0-17C3EECCFD8D}"/>
          </ac:grpSpMkLst>
        </pc:grpChg>
        <pc:picChg chg="mod">
          <ac:chgData name="purna chand" userId="6e54419aa65d471c" providerId="LiveId" clId="{2483B58E-5644-4E75-AA46-D334125ADD6E}" dt="2026-09-22T09:10:40.518" v="85"/>
          <ac:picMkLst>
            <pc:docMk/>
            <pc:sldMk cId="3744217247" sldId="281"/>
            <ac:picMk id="10" creationId="{BD448D2F-A85D-4EA9-4AFA-DBD143FFC367}"/>
          </ac:picMkLst>
        </pc:picChg>
        <pc:picChg chg="del">
          <ac:chgData name="purna chand" userId="6e54419aa65d471c" providerId="LiveId" clId="{2483B58E-5644-4E75-AA46-D334125ADD6E}" dt="2026-09-22T09:10:20.918" v="83" actId="478"/>
          <ac:picMkLst>
            <pc:docMk/>
            <pc:sldMk cId="3744217247" sldId="281"/>
            <ac:picMk id="11" creationId="{A6C365DC-19B7-1764-968A-F9C87D5E4951}"/>
          </ac:picMkLst>
        </pc:picChg>
        <pc:picChg chg="mod">
          <ac:chgData name="purna chand" userId="6e54419aa65d471c" providerId="LiveId" clId="{2483B58E-5644-4E75-AA46-D334125ADD6E}" dt="2026-09-22T09:10:40.518" v="85"/>
          <ac:picMkLst>
            <pc:docMk/>
            <pc:sldMk cId="3744217247" sldId="281"/>
            <ac:picMk id="21" creationId="{70B9531E-FF63-3CBC-8C76-5101CEB24CF2}"/>
          </ac:picMkLst>
        </pc:picChg>
        <pc:picChg chg="mod">
          <ac:chgData name="purna chand" userId="6e54419aa65d471c" providerId="LiveId" clId="{2483B58E-5644-4E75-AA46-D334125ADD6E}" dt="2026-09-22T09:10:40.518" v="85"/>
          <ac:picMkLst>
            <pc:docMk/>
            <pc:sldMk cId="3744217247" sldId="281"/>
            <ac:picMk id="22" creationId="{A51A82D2-D894-569F-6C1F-514FA4F1297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E0C1-6277-CAD3-8A7C-7F0F37C6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776A0-3BEE-1FDC-EADA-6B6FA1E1A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53676-942B-2284-A56F-CCE051D8D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8B2BB-B290-5A6F-7542-202146F1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576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300" b="1" dirty="0">
                <a:solidFill>
                  <a:srgbClr val="1F3168"/>
                </a:solidFill>
                <a:latin typeface="Aptos Display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sz="1500" b="1">
                <a:solidFill>
                  <a:srgbClr val="FF6600"/>
                </a:solidFill>
                <a:latin typeface="Aptos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67712"/>
            <a:ext cx="8869680" cy="658368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sz="2700" b="1">
                <a:solidFill>
                  <a:srgbClr val="1F3168"/>
                </a:solidFill>
                <a:latin typeface="Aptos Display"/>
              </a:rPr>
              <a:t>IPL Player Performance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44368"/>
            <a:ext cx="7680960" cy="384048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1800" b="0">
                <a:solidFill>
                  <a:srgbClr val="375BA0"/>
                </a:solidFill>
                <a:latin typeface="Aptos"/>
              </a:defRPr>
            </a:pPr>
            <a:r>
              <a:rPr sz="1700" b="0">
                <a:solidFill>
                  <a:srgbClr val="FF6600"/>
                </a:solidFill>
                <a:latin typeface="Aptos"/>
              </a:rPr>
              <a:t>Exploratory Data Analysis of IPL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933976"/>
            <a:ext cx="7040880" cy="1413207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200" b="1" dirty="0">
                <a:solidFill>
                  <a:srgbClr val="FF6600"/>
                </a:solidFill>
                <a:latin typeface="Aptos"/>
              </a:rPr>
              <a:t>PROJECT TEAM</a:t>
            </a:r>
          </a:p>
          <a:p>
            <a:pPr algn="ctr">
              <a:spcAft>
                <a:spcPts val="300"/>
              </a:spcAft>
            </a:pPr>
            <a:r>
              <a:rPr sz="1150" b="1" dirty="0" err="1">
                <a:solidFill>
                  <a:srgbClr val="1F3168"/>
                </a:solidFill>
                <a:latin typeface="Aptos"/>
              </a:rPr>
              <a:t>Rokkam</a:t>
            </a:r>
            <a:r>
              <a:rPr sz="1150" b="1" dirty="0">
                <a:solidFill>
                  <a:srgbClr val="1F3168"/>
                </a:solidFill>
                <a:latin typeface="Aptos"/>
              </a:rPr>
              <a:t> Shyam Kumar (25B11CS833)</a:t>
            </a:r>
          </a:p>
          <a:p>
            <a:pPr algn="ctr">
              <a:spcAft>
                <a:spcPts val="300"/>
              </a:spcAft>
            </a:pPr>
            <a:r>
              <a:rPr sz="115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Tadala Amrutha Varshini (25B11CS926)</a:t>
            </a:r>
          </a:p>
          <a:p>
            <a:pPr algn="ctr">
              <a:spcAft>
                <a:spcPts val="300"/>
              </a:spcAft>
            </a:pPr>
            <a:r>
              <a:rPr sz="1150" b="1" dirty="0" err="1">
                <a:solidFill>
                  <a:schemeClr val="accent6">
                    <a:lumMod val="50000"/>
                  </a:schemeClr>
                </a:solidFill>
                <a:latin typeface="Aptos"/>
              </a:rPr>
              <a:t>Vasamsetti</a:t>
            </a:r>
            <a:r>
              <a:rPr sz="115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 Haarika (25B11CS996)</a:t>
            </a:r>
          </a:p>
          <a:p>
            <a:pPr algn="ctr">
              <a:spcAft>
                <a:spcPts val="300"/>
              </a:spcAft>
            </a:pPr>
            <a:r>
              <a:rPr sz="115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Sheik </a:t>
            </a:r>
            <a:r>
              <a:rPr sz="1150" b="1" dirty="0" err="1">
                <a:solidFill>
                  <a:schemeClr val="accent6">
                    <a:lumMod val="50000"/>
                  </a:schemeClr>
                </a:solidFill>
                <a:latin typeface="Aptos"/>
              </a:rPr>
              <a:t>Sameeruddin</a:t>
            </a:r>
            <a:r>
              <a:rPr sz="1150" b="1" dirty="0">
                <a:solidFill>
                  <a:schemeClr val="accent6">
                    <a:lumMod val="50000"/>
                  </a:schemeClr>
                </a:solidFill>
                <a:latin typeface="Aptos"/>
              </a:rPr>
              <a:t> (25B11CS897)</a:t>
            </a:r>
          </a:p>
          <a:p>
            <a:pPr algn="ctr">
              <a:spcBef>
                <a:spcPts val="500"/>
              </a:spcBef>
            </a:pPr>
            <a:r>
              <a:rPr lang="en-IN" sz="1050" b="1" dirty="0">
                <a:latin typeface="Times New Roman" pitchFamily="18" charset="0"/>
                <a:cs typeface="Times New Roman" pitchFamily="18" charset="0"/>
              </a:rPr>
              <a:t>Guide: Mr. K. Ashok Teja, Assistant Professor, CSE Dept</a:t>
            </a:r>
            <a:endParaRPr sz="1050" b="0" dirty="0">
              <a:solidFill>
                <a:srgbClr val="677080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1100" b="1">
                <a:solidFill>
                  <a:srgbClr val="1F3168"/>
                </a:solidFill>
                <a:latin typeface="Aptos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1170432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8407" y="128016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1654" y="1133856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Problem 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499616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 dirty="0">
                <a:solidFill>
                  <a:srgbClr val="4B5563"/>
                </a:solidFill>
                <a:latin typeface="Aptos"/>
              </a:rPr>
              <a:t>The challenge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1975104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78407" y="2084832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0798" y="1938528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>
                <a:solidFill>
                  <a:srgbClr val="1F3168"/>
                </a:solidFill>
                <a:latin typeface="Aptos Display"/>
              </a:rPr>
              <a:t>Introduction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304288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Project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2779776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78407" y="2889504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0798" y="2761488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250" b="1" dirty="0">
                <a:solidFill>
                  <a:srgbClr val="1F3168"/>
                </a:solidFill>
                <a:latin typeface="Aptos Display"/>
              </a:rPr>
              <a:t>Current Approach &amp;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108960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What is difficult today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584448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78407" y="3694176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4082" y="3544823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Proposed 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13632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Our analysis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389120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78407" y="4498848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468" y="4376927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Dataset Description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718304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Data used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193792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8407" y="530352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8661" y="5157216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Requirements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522976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Tools and setup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3520" y="1170432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413248" y="1280160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1141678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Methodology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1499616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Step-by-step process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0" y="1975104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413248" y="2084832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88737" y="1956816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Data Visualization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2304288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Charts and comparisons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03520" y="2779776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413248" y="2889504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8737" y="2724912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>
                <a:solidFill>
                  <a:srgbClr val="1F3168"/>
                </a:solidFill>
                <a:latin typeface="Aptos Display"/>
              </a:rPr>
              <a:t>Key Insights &amp; Analysis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3108960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Findings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03520" y="3584448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5413248" y="3694176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0447" y="3544823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 dirty="0">
                <a:solidFill>
                  <a:srgbClr val="1F3168"/>
                </a:solidFill>
                <a:latin typeface="Aptos Display"/>
              </a:rPr>
              <a:t>Implementation Workflow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3913632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Project stages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303520" y="4389120"/>
            <a:ext cx="3977639" cy="621792"/>
          </a:xfrm>
          <a:prstGeom prst="roundRect">
            <a:avLst/>
          </a:prstGeom>
          <a:solidFill>
            <a:srgbClr val="F6F8FC"/>
          </a:solidFill>
          <a:ln w="1016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413248" y="4498848"/>
            <a:ext cx="365760" cy="365760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79592" y="4370832"/>
            <a:ext cx="3300983" cy="51206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>
                <a:solidFill>
                  <a:srgbClr val="1F3168"/>
                </a:solidFill>
                <a:latin typeface="Aptos Display"/>
              </a:rPr>
              <a:t>Conclusion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18304"/>
            <a:ext cx="3063240" cy="1828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950" b="0">
                <a:solidFill>
                  <a:srgbClr val="4B5563"/>
                </a:solidFill>
                <a:latin typeface="Aptos"/>
              </a:rPr>
              <a:t>Summary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6656" y="1508760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1581912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Large Data Volume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IPL generates match-level and ball-by-ball records across seasons.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74336" y="1508760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57216" y="1581912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Manual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Reviewing players, teams, batting, bowling, and toss decisions manually takes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3675887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9536" y="3749039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Metrics Are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Structured analysis can calculate consistent performance measures and reveal trends.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604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974336" y="3675887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157216" y="3749039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Validate the 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550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Player rankings and conclusions must be checked against the source CSV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76656" y="1508760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" y="1581912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Rich Match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The IPL dataset includes match details and ball-by-ball events across seasons.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974336" y="1508760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157216" y="1581912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Multiple Influences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Batting, bowling, team context, and match conditions all affect performance.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76656" y="3675887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59536" y="3749039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Organize First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Raw records need cleaning and consistent labels before meaningful comparison.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604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974336" y="3675887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157216" y="3749039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Explore Visually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Charts help communicate player, team, and match trends clearly.</a:t>
            </a: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76656" y="1508760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9536" y="1581912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Scattered 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Statistics are spread across match, delivery, player, and team data files.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1417320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974336" y="1508760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157216" y="1581912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96128" y="1545336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Time-Consuming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2075688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Inspecting hundreds of thousands of deliveries manually is slow.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76656" y="3675887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59536" y="3749039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Difficult Comparisons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Season-by-season comparisons require repeated filtering and calculations.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6048" y="3584448"/>
            <a:ext cx="416052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974336" y="3675887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157216" y="3749039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3712463"/>
            <a:ext cx="335584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600" b="1">
                <a:solidFill>
                  <a:srgbClr val="1F3168"/>
                </a:solidFill>
                <a:latin typeface="Aptos Display"/>
              </a:rPr>
              <a:t>Limited Overview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4" y="4242816"/>
            <a:ext cx="372160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300" b="0">
                <a:solidFill>
                  <a:srgbClr val="2D333E"/>
                </a:solidFill>
                <a:latin typeface="Aptos"/>
              </a:rPr>
              <a:t>Raw tables make patterns and unusual performances harder to spot.</a:t>
            </a: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>
            <a:extLst>
              <a:ext uri="{FF2B5EF4-FFF2-40B4-BE49-F238E27FC236}">
                <a16:creationId xmlns:a16="http://schemas.microsoft.com/office/drawing/2014/main" id="{5B758792-840A-895D-A2CD-A09955CC1720}"/>
              </a:ext>
            </a:extLst>
          </p:cNvPr>
          <p:cNvGrpSpPr/>
          <p:nvPr/>
        </p:nvGrpSpPr>
        <p:grpSpPr>
          <a:xfrm>
            <a:off x="2743200" y="0"/>
            <a:ext cx="5103904" cy="1198311"/>
            <a:chOff x="2648188" y="47148"/>
            <a:chExt cx="5103904" cy="1198311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E290B6E4-4C6A-D92F-FFFC-B388B78435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87F4EE37-279F-308C-F87F-6E638DA193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8ED23BED-35EB-2EF2-62D6-17D1E3CB000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F06FBF5-D468-2472-2E09-3659EB0BF5E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Limitations of Manual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353312"/>
            <a:ext cx="2761488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76656" y="1444752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9536" y="1517904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1481328"/>
            <a:ext cx="1956816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500" b="1">
                <a:solidFill>
                  <a:srgbClr val="1F3168"/>
                </a:solidFill>
                <a:latin typeface="Aptos Display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011680"/>
            <a:ext cx="2322576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4B5563"/>
                </a:solidFill>
                <a:latin typeface="Aptos"/>
              </a:rPr>
              <a:t>Large ball-by-ball datasets are difficult to review manually.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93592" y="1353312"/>
            <a:ext cx="2761488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611880" y="1444752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794760" y="1517904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1481328"/>
            <a:ext cx="1956816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500" b="1">
                <a:solidFill>
                  <a:srgbClr val="1F3168"/>
                </a:solidFill>
                <a:latin typeface="Aptos Display"/>
              </a:rPr>
              <a:t>Human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048" y="2011680"/>
            <a:ext cx="2322576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4B5563"/>
                </a:solidFill>
                <a:latin typeface="Aptos"/>
              </a:rPr>
              <a:t>Repeated calculations can introduce mistakes.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1353312"/>
            <a:ext cx="2761488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547103" y="1444752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729983" y="1517904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8896" y="1481328"/>
            <a:ext cx="1956816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500" b="1">
                <a:solidFill>
                  <a:srgbClr val="1F3168"/>
                </a:solidFill>
                <a:latin typeface="Aptos Display"/>
              </a:rPr>
              <a:t>Inconsistent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8272" y="2011680"/>
            <a:ext cx="2322576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4B5563"/>
                </a:solidFill>
                <a:latin typeface="Aptos"/>
              </a:rPr>
              <a:t>Team aliases can split the same team into separate groups.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03120" y="3547872"/>
            <a:ext cx="333756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121408" y="3639312"/>
            <a:ext cx="82296" cy="1691639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304288" y="3712463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3675887"/>
            <a:ext cx="253288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500" b="1">
                <a:solidFill>
                  <a:srgbClr val="1F3168"/>
                </a:solidFill>
                <a:latin typeface="Aptos Display"/>
              </a:rPr>
              <a:t>Incomplete Context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4206240"/>
            <a:ext cx="289864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4B5563"/>
                </a:solidFill>
                <a:latin typeface="Aptos"/>
              </a:rPr>
              <a:t>Raw totals alone may miss match situations and role differences.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3547872"/>
            <a:ext cx="333756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641848" y="3639312"/>
            <a:ext cx="82296" cy="1691639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824728" y="3712463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675887"/>
            <a:ext cx="253288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500" b="1">
                <a:solidFill>
                  <a:srgbClr val="1F3168"/>
                </a:solidFill>
                <a:latin typeface="Aptos Display"/>
              </a:rPr>
              <a:t>Source Dependence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3016" y="4206240"/>
            <a:ext cx="2898648" cy="11247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>
                <a:solidFill>
                  <a:srgbClr val="4B5563"/>
                </a:solidFill>
                <a:latin typeface="Aptos"/>
              </a:rPr>
              <a:t>Conclusions depend on complete, consistent, validated data.</a:t>
            </a:r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43200" y="228600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 lIns="50800" tIns="25400" rIns="50800" bIns="2540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1920240"/>
            <a:ext cx="2057400" cy="2514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5216" y="2011680"/>
            <a:ext cx="82296" cy="233172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68096" y="2084832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7" y="2048256"/>
            <a:ext cx="125272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400" b="1">
                <a:solidFill>
                  <a:srgbClr val="1F3168"/>
                </a:solidFill>
                <a:latin typeface="Aptos Display"/>
              </a:rPr>
              <a:t>Load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2578608"/>
            <a:ext cx="1618488" cy="176479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>
                <a:solidFill>
                  <a:srgbClr val="4B5563"/>
                </a:solidFill>
                <a:latin typeface="Aptos"/>
              </a:rPr>
              <a:t>Import match, delivery, player, and team CSV files.</a:t>
            </a:r>
          </a:p>
        </p:txBody>
      </p:sp>
      <p:sp>
        <p:nvSpPr>
          <p:cNvPr id="24" name="Chevron 23"/>
          <p:cNvSpPr/>
          <p:nvPr/>
        </p:nvSpPr>
        <p:spPr>
          <a:xfrm>
            <a:off x="2651760" y="2907792"/>
            <a:ext cx="182880" cy="384048"/>
          </a:xfrm>
          <a:prstGeom prst="chevron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52928" y="1920240"/>
            <a:ext cx="2057400" cy="2514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871216" y="2011680"/>
            <a:ext cx="82296" cy="2331720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054096" y="2084832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8" y="2048256"/>
            <a:ext cx="125272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150" b="1">
                <a:solidFill>
                  <a:srgbClr val="1F3168"/>
                </a:solidFill>
                <a:latin typeface="Aptos Display"/>
              </a:rPr>
              <a:t>Check &amp; Clean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2384" y="2578608"/>
            <a:ext cx="1618488" cy="176479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>
                <a:solidFill>
                  <a:srgbClr val="4B5563"/>
                </a:solidFill>
                <a:latin typeface="Aptos"/>
              </a:rPr>
              <a:t>Inspect columns, data types, missing values, duplicates, and aliases.</a:t>
            </a:r>
          </a:p>
        </p:txBody>
      </p:sp>
      <p:sp>
        <p:nvSpPr>
          <p:cNvPr id="30" name="Chevron 29"/>
          <p:cNvSpPr/>
          <p:nvPr/>
        </p:nvSpPr>
        <p:spPr>
          <a:xfrm>
            <a:off x="4937760" y="2907792"/>
            <a:ext cx="182880" cy="384048"/>
          </a:xfrm>
          <a:prstGeom prst="chevron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138928" y="1920240"/>
            <a:ext cx="2057400" cy="2514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157216" y="2011680"/>
            <a:ext cx="82296" cy="233172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340096" y="2084832"/>
            <a:ext cx="347472" cy="347472"/>
          </a:xfrm>
          <a:prstGeom prst="ellipse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048256"/>
            <a:ext cx="125272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150" b="1">
                <a:solidFill>
                  <a:srgbClr val="1F3168"/>
                </a:solidFill>
                <a:latin typeface="Aptos Display"/>
              </a:rPr>
              <a:t>Calculate 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8384" y="2578608"/>
            <a:ext cx="1618488" cy="176479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>
                <a:solidFill>
                  <a:srgbClr val="4B5563"/>
                </a:solidFill>
                <a:latin typeface="Aptos"/>
              </a:rPr>
              <a:t>Create batting, bowling, team, and toss-related measures.</a:t>
            </a:r>
          </a:p>
        </p:txBody>
      </p:sp>
      <p:sp>
        <p:nvSpPr>
          <p:cNvPr id="36" name="Chevron 35"/>
          <p:cNvSpPr/>
          <p:nvPr/>
        </p:nvSpPr>
        <p:spPr>
          <a:xfrm>
            <a:off x="7223760" y="2907792"/>
            <a:ext cx="182880" cy="384048"/>
          </a:xfrm>
          <a:prstGeom prst="chevron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424927" y="1920240"/>
            <a:ext cx="2057400" cy="2514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443215" y="2011680"/>
            <a:ext cx="82296" cy="2331720"/>
          </a:xfrm>
          <a:prstGeom prst="roundRect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626096" y="2084832"/>
            <a:ext cx="347472" cy="347472"/>
          </a:xfrm>
          <a:prstGeom prst="ellipse">
            <a:avLst/>
          </a:prstGeom>
          <a:solidFill>
            <a:srgbClr val="1F3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7" y="2048256"/>
            <a:ext cx="1252728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/>
            <a:r>
              <a:rPr sz="1150" b="1">
                <a:solidFill>
                  <a:srgbClr val="1F3168"/>
                </a:solidFill>
                <a:latin typeface="Aptos Display"/>
              </a:rPr>
              <a:t>Visualize &amp; Interpret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44383" y="2578608"/>
            <a:ext cx="1618488" cy="176479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>
                <a:solidFill>
                  <a:srgbClr val="4B5563"/>
                </a:solidFill>
                <a:latin typeface="Aptos"/>
              </a:rPr>
              <a:t>Compare players and teams, then summarize patterns and limitations.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983480"/>
            <a:ext cx="7955279" cy="50292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/>
            <a:r>
              <a:rPr sz="1400" b="1">
                <a:solidFill>
                  <a:srgbClr val="1F3168"/>
                </a:solidFill>
                <a:latin typeface="Aptos Display"/>
              </a:rPr>
              <a:t>Outcome: a repeatable workflow for reliable IPL performance comparisons</a:t>
            </a: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693586" y="298585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143000"/>
            <a:ext cx="8046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233464"/>
                </a:solidFill>
                <a:latin typeface="Aptos"/>
              </a:defRPr>
            </a:pPr>
            <a:r>
              <a:rPr sz="1600" b="1">
                <a:latin typeface="Aptos"/>
              </a:rPr>
              <a:t>IPL dataset covering matches, deliveries, players, and teams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277499"/>
              </p:ext>
            </p:extLst>
          </p:nvPr>
        </p:nvGraphicFramePr>
        <p:xfrm>
          <a:off x="411480" y="1965960"/>
          <a:ext cx="4526280" cy="3427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59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670">
                <a:tc>
                  <a:txBody>
                    <a:bodyPr/>
                    <a:lstStyle/>
                    <a:p>
                      <a:r>
                        <a:rPr sz="1000"/>
                        <a:t>Field</a:t>
                      </a:r>
                    </a:p>
                  </a:txBody>
                  <a:tcPr marT="25400" marB="25400">
                    <a:solidFill>
                      <a:srgbClr val="2334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Description</a:t>
                      </a:r>
                    </a:p>
                  </a:txBody>
                  <a:tcPr marT="25400" marB="25400">
                    <a:solidFill>
                      <a:srgbClr val="2334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670">
                <a:tc>
                  <a:txBody>
                    <a:bodyPr/>
                    <a:lstStyle/>
                    <a:p>
                      <a:r>
                        <a:rPr sz="1000"/>
                        <a:t>match_id / season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Match identifier and IPL season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670">
                <a:tc>
                  <a:txBody>
                    <a:bodyPr/>
                    <a:lstStyle/>
                    <a:p>
                      <a:r>
                        <a:rPr sz="1000"/>
                        <a:t>team1 / team2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Teams participating in a match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670">
                <a:tc>
                  <a:txBody>
                    <a:bodyPr/>
                    <a:lstStyle/>
                    <a:p>
                      <a:r>
                        <a:rPr sz="1000"/>
                        <a:t>toss_winner / decision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Toss winner and bat/field choice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670">
                <a:tc>
                  <a:txBody>
                    <a:bodyPr/>
                    <a:lstStyle/>
                    <a:p>
                      <a:r>
                        <a:rPr sz="1000"/>
                        <a:t>batter / bowler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Players involved in each delivery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670">
                <a:tc>
                  <a:txBody>
                    <a:bodyPr/>
                    <a:lstStyle/>
                    <a:p>
                      <a:r>
                        <a:rPr lang="en-IN" sz="1000" dirty="0" err="1"/>
                        <a:t>Runs_batter</a:t>
                      </a:r>
                      <a:r>
                        <a:rPr sz="1000" dirty="0"/>
                        <a:t> / runs</a:t>
                      </a:r>
                      <a:r>
                        <a:rPr lang="en-IN" sz="1000" dirty="0"/>
                        <a:t>_total</a:t>
                      </a:r>
                      <a:endParaRPr sz="1000" dirty="0"/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Runs scored on a delivery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r>
                        <a:rPr sz="1000" dirty="0"/>
                        <a:t>wicket / venue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Wicket event and match venue</a:t>
                      </a:r>
                    </a:p>
                  </a:txBody>
                  <a:tcPr marT="25400" marB="25400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074920" y="1965960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0800" rIns="45720" bIns="50800" rtlCol="0" anchor="ctr"/>
          <a:lstStyle/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Dataset Snapshot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1,2</a:t>
            </a:r>
            <a:r>
              <a:rPr lang="en-IN" sz="1200" b="1" dirty="0">
                <a:solidFill>
                  <a:srgbClr val="FF6600"/>
                </a:solidFill>
                <a:latin typeface="Aptos"/>
              </a:rPr>
              <a:t>43</a:t>
            </a:r>
            <a:r>
              <a:rPr sz="1200" b="1" dirty="0">
                <a:solidFill>
                  <a:srgbClr val="FF6600"/>
                </a:solidFill>
                <a:latin typeface="Aptos"/>
              </a:rPr>
              <a:t> match records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2</a:t>
            </a:r>
            <a:r>
              <a:rPr lang="en-IN" sz="1200" b="1" dirty="0">
                <a:solidFill>
                  <a:srgbClr val="FF6600"/>
                </a:solidFill>
                <a:latin typeface="Aptos"/>
              </a:rPr>
              <a:t>95</a:t>
            </a:r>
            <a:r>
              <a:rPr sz="1200" b="1" dirty="0">
                <a:solidFill>
                  <a:srgbClr val="FF6600"/>
                </a:solidFill>
                <a:latin typeface="Aptos"/>
              </a:rPr>
              <a:t>,</a:t>
            </a:r>
            <a:r>
              <a:rPr lang="en-IN" sz="1200" b="1" dirty="0">
                <a:solidFill>
                  <a:srgbClr val="FF6600"/>
                </a:solidFill>
                <a:latin typeface="Aptos"/>
              </a:rPr>
              <a:t>729</a:t>
            </a:r>
            <a:r>
              <a:rPr sz="1200" b="1" dirty="0">
                <a:solidFill>
                  <a:srgbClr val="FF6600"/>
                </a:solidFill>
                <a:latin typeface="Aptos"/>
              </a:rPr>
              <a:t> ball-by-ball deliveries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799 player profiles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2971800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0800" rIns="45720" bIns="50800" rtlCol="0" anchor="ctr"/>
          <a:lstStyle/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Dataset Notes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1</a:t>
            </a:r>
            <a:r>
              <a:rPr lang="en-IN" sz="1200" b="1" dirty="0">
                <a:solidFill>
                  <a:srgbClr val="FF6600"/>
                </a:solidFill>
                <a:latin typeface="Aptos"/>
              </a:rPr>
              <a:t>5</a:t>
            </a:r>
            <a:r>
              <a:rPr sz="1200" b="1" dirty="0">
                <a:solidFill>
                  <a:srgbClr val="FF6600"/>
                </a:solidFill>
                <a:latin typeface="Aptos"/>
              </a:rPr>
              <a:t> teams • 46 team aliases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Multiple CSV files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Dataset period stated: 2008–202</a:t>
            </a:r>
            <a:r>
              <a:rPr lang="en-IN" sz="1200" b="1" dirty="0">
                <a:solidFill>
                  <a:srgbClr val="FF6600"/>
                </a:solidFill>
                <a:latin typeface="Aptos"/>
              </a:rPr>
              <a:t>6</a:t>
            </a:r>
            <a:endParaRPr sz="1200" b="1" dirty="0">
              <a:solidFill>
                <a:srgbClr val="FF6600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074920" y="3977639"/>
            <a:ext cx="4526280" cy="86868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0800" rIns="45720" bIns="50800" rtlCol="0" anchor="ctr"/>
          <a:lstStyle/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Tools &amp; Libraries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Python • Pandas • NumPy</a:t>
            </a: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Matplotlib • Seaborn • </a:t>
            </a:r>
            <a:r>
              <a:rPr sz="1200" b="1" dirty="0" err="1">
                <a:solidFill>
                  <a:srgbClr val="FF6600"/>
                </a:solidFill>
                <a:latin typeface="Aptos"/>
              </a:rPr>
              <a:t>Plotly</a:t>
            </a:r>
            <a:endParaRPr sz="1200" b="1" dirty="0">
              <a:solidFill>
                <a:srgbClr val="FF6600"/>
              </a:solidFill>
              <a:latin typeface="Aptos"/>
            </a:endParaRPr>
          </a:p>
          <a:p>
            <a:pPr algn="l"/>
            <a:r>
              <a:rPr sz="1200" b="1" dirty="0">
                <a:solidFill>
                  <a:srgbClr val="FF6600"/>
                </a:solidFill>
                <a:latin typeface="Aptos"/>
              </a:rPr>
              <a:t>Google </a:t>
            </a:r>
            <a:r>
              <a:rPr sz="1200" b="1" dirty="0" err="1">
                <a:solidFill>
                  <a:srgbClr val="FF6600"/>
                </a:solidFill>
                <a:latin typeface="Aptos"/>
              </a:rPr>
              <a:t>Colab</a:t>
            </a:r>
            <a:endParaRPr sz="1200" b="1" dirty="0">
              <a:solidFill>
                <a:srgbClr val="FF6600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4984" y="5715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 dirty="0">
                <a:solidFill>
                  <a:srgbClr val="808080"/>
                </a:solidFill>
                <a:latin typeface="Aptos"/>
              </a:rPr>
              <a:t>Dataset figures are taken from the supplied project presentation. Validate quality and missing values against the CSV files.</a:t>
            </a:r>
          </a:p>
        </p:txBody>
      </p:sp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3147364" y="52524"/>
            <a:ext cx="4206240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034207" y="289232"/>
            <a:ext cx="42062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 dirty="0">
                <a:solidFill>
                  <a:srgbClr val="FFFFFF"/>
                </a:solidFill>
                <a:latin typeface="Aptos Display"/>
              </a:rPr>
              <a:t>REQUIREMENTS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8353" y="977329"/>
            <a:ext cx="8869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0">
                <a:solidFill>
                  <a:srgbClr val="596574"/>
                </a:solidFill>
                <a:latin typeface="Aptos"/>
              </a:rPr>
              <a:t>Technical setup required for IPL data analysis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8066" y="1417320"/>
            <a:ext cx="2149983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28066" y="1417320"/>
            <a:ext cx="52806" cy="1508760"/>
          </a:xfrm>
          <a:prstGeom prst="rect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694944" y="1627632"/>
            <a:ext cx="393192" cy="393192"/>
          </a:xfrm>
          <a:prstGeom prst="ellipse">
            <a:avLst/>
          </a:prstGeom>
          <a:solidFill>
            <a:srgbClr val="E1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94944" y="1618488"/>
            <a:ext cx="438912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596574"/>
                </a:solidFill>
                <a:latin typeface="Aptos"/>
              </a:rPr>
              <a:t>CPU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6657" y="1563624"/>
            <a:ext cx="1395603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1F3452"/>
                </a:solidFill>
                <a:latin typeface="Aptos"/>
              </a:rPr>
              <a:t>PROCESSOR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028" y="2067544"/>
            <a:ext cx="1848232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A626C"/>
                </a:solidFill>
                <a:latin typeface="Aptos"/>
              </a:rPr>
              <a:t>Intel Core i3 / AMD Ryzen 3 or higher
Recommended: modern multi-core CPU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06293" y="1417320"/>
            <a:ext cx="2149983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06293" y="1417320"/>
            <a:ext cx="52806" cy="1508760"/>
          </a:xfrm>
          <a:prstGeom prst="rect">
            <a:avLst/>
          </a:prstGeom>
          <a:solidFill>
            <a:srgbClr val="438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2972257" y="1627632"/>
            <a:ext cx="393192" cy="393192"/>
          </a:xfrm>
          <a:prstGeom prst="ellipse">
            <a:avLst/>
          </a:prstGeom>
          <a:solidFill>
            <a:srgbClr val="E1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972257" y="1623060"/>
            <a:ext cx="438912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438563"/>
                </a:solidFill>
                <a:latin typeface="Aptos"/>
              </a:rPr>
              <a:t>RAM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24885" y="1563624"/>
            <a:ext cx="1395603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1F3452"/>
                </a:solidFill>
                <a:latin typeface="Aptos"/>
              </a:rPr>
              <a:t>MEMORY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72257" y="2148335"/>
            <a:ext cx="1848231" cy="5770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A626C"/>
                </a:solidFill>
                <a:latin typeface="Aptos"/>
              </a:rPr>
              <a:t>Minimum 4 GB RAM
8 GB recommended for smoother analysis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84521" y="1417320"/>
            <a:ext cx="2149983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084521" y="1417320"/>
            <a:ext cx="52806" cy="1508760"/>
          </a:xfrm>
          <a:prstGeom prst="rect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5250484" y="1627632"/>
            <a:ext cx="393192" cy="393192"/>
          </a:xfrm>
          <a:prstGeom prst="ellipse">
            <a:avLst/>
          </a:prstGeom>
          <a:solidFill>
            <a:srgbClr val="E1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50484" y="1623060"/>
            <a:ext cx="438912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3569A5"/>
                </a:solidFill>
                <a:latin typeface="Aptos"/>
              </a:rPr>
              <a:t>SSD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03112" y="1563624"/>
            <a:ext cx="1395603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1F3452"/>
                </a:solidFill>
                <a:latin typeface="Aptos"/>
              </a:rPr>
              <a:t>STORAGE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50484" y="2148335"/>
            <a:ext cx="1848231" cy="5770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A626C"/>
                </a:solidFill>
                <a:latin typeface="Aptos"/>
              </a:rPr>
              <a:t>At least 2 GB free space
Keep datasets and notebooks accessible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62748" y="1417320"/>
            <a:ext cx="2149983" cy="1508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7362748" y="1417320"/>
            <a:ext cx="52806" cy="1508760"/>
          </a:xfrm>
          <a:prstGeom prst="rect">
            <a:avLst/>
          </a:prstGeom>
          <a:solidFill>
            <a:srgbClr val="438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7528712" y="1627632"/>
            <a:ext cx="393192" cy="393192"/>
          </a:xfrm>
          <a:prstGeom prst="ellipse">
            <a:avLst/>
          </a:prstGeom>
          <a:solidFill>
            <a:srgbClr val="E1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528712" y="1623060"/>
            <a:ext cx="438912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438563"/>
                </a:solidFill>
                <a:latin typeface="Aptos"/>
              </a:rPr>
              <a:t>NET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81340" y="1563624"/>
            <a:ext cx="1395603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1F3452"/>
                </a:solidFill>
                <a:latin typeface="Aptos"/>
              </a:rPr>
              <a:t>INTERNET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28712" y="2148335"/>
            <a:ext cx="2001622" cy="5770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A626C"/>
                </a:solidFill>
                <a:latin typeface="Aptos"/>
              </a:rPr>
              <a:t>Stable internet connection
Useful for Google </a:t>
            </a:r>
            <a:r>
              <a:rPr sz="1050" b="0" dirty="0" err="1">
                <a:solidFill>
                  <a:srgbClr val="5A626C"/>
                </a:solidFill>
                <a:latin typeface="Aptos"/>
              </a:rPr>
              <a:t>Colab</a:t>
            </a:r>
            <a:r>
              <a:rPr sz="1050" b="0" dirty="0">
                <a:solidFill>
                  <a:srgbClr val="5A626C"/>
                </a:solidFill>
                <a:latin typeface="Aptos"/>
              </a:rPr>
              <a:t> and data access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28066" y="3246120"/>
            <a:ext cx="8977122" cy="24231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54380" y="3438144"/>
            <a:ext cx="3017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1">
                <a:solidFill>
                  <a:srgbClr val="1F3452"/>
                </a:solidFill>
                <a:latin typeface="Aptos"/>
              </a:rPr>
              <a:t>SOFTWARE &amp; TOOLS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4380" y="3767328"/>
            <a:ext cx="2791206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A626C"/>
                </a:solidFill>
                <a:latin typeface="Aptos"/>
              </a:rPr>
              <a:t>Environment used in the project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54380" y="4251960"/>
            <a:ext cx="1018413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56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54380" y="4251960"/>
            <a:ext cx="1018413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2D5B91"/>
                </a:solidFill>
                <a:latin typeface="Aptos"/>
              </a:rPr>
              <a:t>PYTHON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9107" y="4251960"/>
            <a:ext cx="1018413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8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1999107" y="4251960"/>
            <a:ext cx="1018413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348064"/>
                </a:solidFill>
                <a:latin typeface="Aptos"/>
              </a:rPr>
              <a:t>PANDAS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43834" y="4251960"/>
            <a:ext cx="1018413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56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243834" y="4251960"/>
            <a:ext cx="1018413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2D5B91"/>
                </a:solidFill>
                <a:latin typeface="Aptos"/>
              </a:rPr>
              <a:t>NUMPY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488561" y="4251960"/>
            <a:ext cx="1093851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8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488561" y="4251960"/>
            <a:ext cx="1093851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348064"/>
                </a:solidFill>
                <a:latin typeface="Aptos"/>
              </a:rPr>
              <a:t>MATPLOTLIB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733288" y="4251960"/>
            <a:ext cx="1018413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56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733288" y="4251960"/>
            <a:ext cx="1018413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2D5B91"/>
                </a:solidFill>
                <a:latin typeface="Aptos"/>
              </a:rPr>
              <a:t>SEABORN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978015" y="4251960"/>
            <a:ext cx="905256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8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978015" y="4251960"/>
            <a:ext cx="905256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348064"/>
                </a:solidFill>
                <a:latin typeface="Aptos"/>
              </a:rPr>
              <a:t>PLOTLY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58709" y="4251960"/>
            <a:ext cx="1244727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56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958709" y="4251960"/>
            <a:ext cx="1244727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2D5B91"/>
                </a:solidFill>
                <a:latin typeface="Aptos"/>
              </a:rPr>
              <a:t>GOOGLE COLAB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54380" y="5010912"/>
            <a:ext cx="15087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5A626C"/>
                </a:solidFill>
                <a:latin typeface="Aptos"/>
              </a:rPr>
              <a:t>PLATFORM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84198" y="4965192"/>
            <a:ext cx="7392924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1F3452"/>
                </a:solidFill>
                <a:latin typeface="Aptos"/>
              </a:rPr>
              <a:t>Windows 10/11  •  macOS  •  Linux     |     Chrome  •  Edge  •  Firefox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28066" y="5870448"/>
            <a:ext cx="8977122" cy="438912"/>
          </a:xfrm>
          <a:prstGeom prst="roundRect">
            <a:avLst/>
          </a:prstGeom>
          <a:solidFill>
            <a:srgbClr val="1F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41223" y="5870448"/>
            <a:ext cx="8750808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ptos"/>
              </a:rPr>
              <a:t>SETUP  →  LOAD IPL DATA  →  ANALYSE WITH PYTHON  →  VISUALISE RESULTS</a:t>
            </a:r>
          </a:p>
        </p:txBody>
      </p:sp>
    </p:spTree>
    <p:extLst>
      <p:ext uri="{BB962C8B-B14F-4D97-AF65-F5344CB8AC3E}">
        <p14:creationId xmlns:p14="http://schemas.microsoft.com/office/powerpoint/2010/main" val="2272052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1417320" y="161097"/>
            <a:ext cx="7223760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02920" y="411479"/>
            <a:ext cx="90525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FFFFFF"/>
                </a:solidFill>
                <a:latin typeface="Aptos Display"/>
              </a:rPr>
              <a:t>METHODOLOGY | DATA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919354"/>
            <a:ext cx="8686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dirty="0">
                <a:solidFill>
                  <a:srgbClr val="596574"/>
                </a:solidFill>
                <a:latin typeface="Aptos"/>
              </a:rPr>
              <a:t>A simple, step-by-step workflow for IPL data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4909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35609" y="2029967"/>
            <a:ext cx="362102" cy="438912"/>
          </a:xfrm>
          <a:prstGeom prst="ellipse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609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237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Collect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872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Load match and ball-by-ball CSV files with Pandas.</a:t>
            </a:r>
          </a:p>
        </p:txBody>
      </p:sp>
      <p:sp>
        <p:nvSpPr>
          <p:cNvPr id="17" name="Chevron 16"/>
          <p:cNvSpPr/>
          <p:nvPr/>
        </p:nvSpPr>
        <p:spPr>
          <a:xfrm>
            <a:off x="2542260" y="2807208"/>
            <a:ext cx="226314" cy="274320"/>
          </a:xfrm>
          <a:prstGeom prst="chevron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06293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926994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6994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9622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Explore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2257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Check rows, columns, data types, and key fields.</a:t>
            </a:r>
          </a:p>
        </p:txBody>
      </p:sp>
      <p:sp>
        <p:nvSpPr>
          <p:cNvPr id="23" name="Chevron 22"/>
          <p:cNvSpPr/>
          <p:nvPr/>
        </p:nvSpPr>
        <p:spPr>
          <a:xfrm>
            <a:off x="4933645" y="2807208"/>
            <a:ext cx="226314" cy="274320"/>
          </a:xfrm>
          <a:prstGeom prst="chevron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197678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318379" y="2029967"/>
            <a:ext cx="362102" cy="438912"/>
          </a:xfrm>
          <a:prstGeom prst="ellipse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18379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1006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Clean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63640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Check missing values and duplicates; standardize team names.</a:t>
            </a:r>
          </a:p>
        </p:txBody>
      </p:sp>
      <p:sp>
        <p:nvSpPr>
          <p:cNvPr id="29" name="Chevron 28"/>
          <p:cNvSpPr/>
          <p:nvPr/>
        </p:nvSpPr>
        <p:spPr>
          <a:xfrm>
            <a:off x="7325029" y="2807208"/>
            <a:ext cx="226314" cy="274320"/>
          </a:xfrm>
          <a:prstGeom prst="chevron">
            <a:avLst/>
          </a:prstGeom>
          <a:solidFill>
            <a:srgbClr val="3569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589062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709763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9763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2391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Prepare tables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5026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Align match and delivery records for analysis.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8591" y="4434840"/>
            <a:ext cx="8826246" cy="32004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1223" y="4983480"/>
            <a:ext cx="8788527" cy="713232"/>
          </a:xfrm>
          <a:prstGeom prst="roundRect">
            <a:avLst/>
          </a:prstGeom>
          <a:solidFill>
            <a:srgbClr val="EF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5074920"/>
            <a:ext cx="8503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3758"/>
                </a:solidFill>
                <a:latin typeface="Aptos"/>
              </a:rPr>
              <a:t>OUTPUT  →  Clean, consistent IPL data ready for analysis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989320"/>
            <a:ext cx="86868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96574"/>
                </a:solidFill>
                <a:latin typeface="Aptos"/>
              </a:rPr>
              <a:t>IPL PLAYER PERFORMANCE ANALYSIS  •  METHODOLOGY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E1A7-3004-3B9A-3BDF-6F0CD676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F02D1B8B-963F-84C5-69F0-17C3EECCFD8D}"/>
              </a:ext>
            </a:extLst>
          </p:cNvPr>
          <p:cNvGrpSpPr/>
          <p:nvPr/>
        </p:nvGrpSpPr>
        <p:grpSpPr>
          <a:xfrm>
            <a:off x="1417320" y="161097"/>
            <a:ext cx="7223760" cy="1198311"/>
            <a:chOff x="2648188" y="47148"/>
            <a:chExt cx="5103904" cy="1198311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D448D2F-A85D-4EA9-4AFA-DBD143FFC36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>
              <a:extLst>
                <a:ext uri="{FF2B5EF4-FFF2-40B4-BE49-F238E27FC236}">
                  <a16:creationId xmlns:a16="http://schemas.microsoft.com/office/drawing/2014/main" id="{70B9531E-FF63-3CBC-8C76-5101CEB24CF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>
              <a:extLst>
                <a:ext uri="{FF2B5EF4-FFF2-40B4-BE49-F238E27FC236}">
                  <a16:creationId xmlns:a16="http://schemas.microsoft.com/office/drawing/2014/main" id="{A51A82D2-D894-569F-6C1F-514FA4F1297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>
              <a:extLst>
                <a:ext uri="{FF2B5EF4-FFF2-40B4-BE49-F238E27FC236}">
                  <a16:creationId xmlns:a16="http://schemas.microsoft.com/office/drawing/2014/main" id="{B3782B54-B821-DE87-C2B7-79ECF9E77AF9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02920" y="396841"/>
            <a:ext cx="90525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 dirty="0">
                <a:solidFill>
                  <a:srgbClr val="FFFFFF"/>
                </a:solidFill>
                <a:latin typeface="Aptos Display"/>
              </a:rPr>
              <a:t>METHODOLOGY | ANALYSIS &amp;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920257"/>
            <a:ext cx="8686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dirty="0">
                <a:solidFill>
                  <a:srgbClr val="596574"/>
                </a:solidFill>
                <a:latin typeface="Aptos"/>
              </a:rPr>
              <a:t>A simple, step-by-step workflow for IPL data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4909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35609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5609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237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Explore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72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Summarize runs, wickets, and player performance.</a:t>
            </a:r>
          </a:p>
        </p:txBody>
      </p:sp>
      <p:sp>
        <p:nvSpPr>
          <p:cNvPr id="31" name="Chevron 30"/>
          <p:cNvSpPr/>
          <p:nvPr/>
        </p:nvSpPr>
        <p:spPr>
          <a:xfrm>
            <a:off x="2542260" y="2807208"/>
            <a:ext cx="226314" cy="274320"/>
          </a:xfrm>
          <a:prstGeom prst="chevron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06293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926994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26994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9622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Find trends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2257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Compare seasons, teams, toss decisions, and outcomes.</a:t>
            </a:r>
          </a:p>
        </p:txBody>
      </p:sp>
      <p:sp>
        <p:nvSpPr>
          <p:cNvPr id="37" name="Chevron 36"/>
          <p:cNvSpPr/>
          <p:nvPr/>
        </p:nvSpPr>
        <p:spPr>
          <a:xfrm>
            <a:off x="4933645" y="2807208"/>
            <a:ext cx="226314" cy="274320"/>
          </a:xfrm>
          <a:prstGeom prst="chevron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197678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318379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18379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1006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1">
                <a:solidFill>
                  <a:srgbClr val="1F3758"/>
                </a:solidFill>
                <a:latin typeface="Aptos"/>
              </a:rPr>
              <a:t>Visualize results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3640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Create clear player, team, and season charts.</a:t>
            </a:r>
          </a:p>
        </p:txBody>
      </p:sp>
      <p:sp>
        <p:nvSpPr>
          <p:cNvPr id="43" name="Chevron 42"/>
          <p:cNvSpPr/>
          <p:nvPr/>
        </p:nvSpPr>
        <p:spPr>
          <a:xfrm>
            <a:off x="7325029" y="2807208"/>
            <a:ext cx="226314" cy="274320"/>
          </a:xfrm>
          <a:prstGeom prst="chevron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589062" y="1874519"/>
            <a:ext cx="2051913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709763" y="2029967"/>
            <a:ext cx="362102" cy="438912"/>
          </a:xfrm>
          <a:prstGeom prst="ellipse">
            <a:avLst/>
          </a:prstGeom>
          <a:solidFill>
            <a:srgbClr val="308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09763" y="2029967"/>
            <a:ext cx="36210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2391" y="2002536"/>
            <a:ext cx="148132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1F3758"/>
                </a:solidFill>
              </a:rPr>
              <a:t>Interpret results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55026" y="2633472"/>
            <a:ext cx="171998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596574"/>
                </a:solidFill>
                <a:latin typeface="Aptos"/>
              </a:rPr>
              <a:t>Summarize patterns and note data limitations.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8591" y="4434840"/>
            <a:ext cx="8826246" cy="32004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41223" y="4983480"/>
            <a:ext cx="8788527" cy="713232"/>
          </a:xfrm>
          <a:prstGeom prst="roundRect">
            <a:avLst/>
          </a:prstGeom>
          <a:solidFill>
            <a:srgbClr val="F1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5074920"/>
            <a:ext cx="8503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F3758"/>
                </a:solidFill>
                <a:latin typeface="Aptos"/>
              </a:rPr>
              <a:t>OUTPUT  →  Performance metrics, visual comparisons, and documented insights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989320"/>
            <a:ext cx="86868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596574"/>
                </a:solidFill>
                <a:latin typeface="Aptos"/>
              </a:rPr>
              <a:t>IPL PLAYER PERFORMANCE ANALYSIS  •  METHODOLOGY</a:t>
            </a:r>
          </a:p>
        </p:txBody>
      </p:sp>
    </p:spTree>
    <p:extLst>
      <p:ext uri="{BB962C8B-B14F-4D97-AF65-F5344CB8AC3E}">
        <p14:creationId xmlns:p14="http://schemas.microsoft.com/office/powerpoint/2010/main" val="3744217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810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808080"/>
                </a:solidFill>
                <a:latin typeface="Aptos"/>
              </a:rPr>
              <a:t>Dataset overview based on the supplied project deck; performance rankings require source CSV data.</a:t>
            </a:r>
          </a:p>
        </p:txBody>
      </p:sp>
      <p:pic>
        <p:nvPicPr>
          <p:cNvPr id="30" name="Picture 29" descr="analysis_are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709160"/>
            <a:ext cx="4480560" cy="29260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FD79CAB-EAC6-50E0-55F1-0672FC5D0D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1782668"/>
            <a:ext cx="4480560" cy="25611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EC0E5D-594A-3DFB-C470-4B2148A682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87" y="4343812"/>
            <a:ext cx="4113839" cy="3429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E0AD99-49E6-AA63-9E98-AD81D6993F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7505" y="1766120"/>
            <a:ext cx="4038600" cy="248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31172" y="235744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8961120" cy="332911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The supplied project deck reports 1,2</a:t>
            </a:r>
            <a:r>
              <a:rPr lang="en-IN" sz="1900" dirty="0">
                <a:solidFill>
                  <a:srgbClr val="2D2D2D"/>
                </a:solidFill>
                <a:latin typeface="Aptos"/>
              </a:rPr>
              <a:t>43</a:t>
            </a:r>
            <a:r>
              <a:rPr sz="1900" dirty="0">
                <a:solidFill>
                  <a:srgbClr val="2D2D2D"/>
                </a:solidFill>
                <a:latin typeface="Aptos"/>
              </a:rPr>
              <a:t> match records and 2</a:t>
            </a:r>
            <a:r>
              <a:rPr lang="en-IN" sz="1900" dirty="0">
                <a:solidFill>
                  <a:srgbClr val="2D2D2D"/>
                </a:solidFill>
                <a:latin typeface="Aptos"/>
              </a:rPr>
              <a:t>95,729</a:t>
            </a:r>
            <a:r>
              <a:rPr sz="1900" dirty="0">
                <a:solidFill>
                  <a:srgbClr val="2D2D2D"/>
                </a:solidFill>
                <a:latin typeface="Aptos"/>
              </a:rPr>
              <a:t> delivery records.</a:t>
            </a:r>
          </a:p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The dataset description lists 799 player profiles, 1</a:t>
            </a:r>
            <a:r>
              <a:rPr lang="en-IN" sz="1900" dirty="0">
                <a:solidFill>
                  <a:srgbClr val="2D2D2D"/>
                </a:solidFill>
                <a:latin typeface="Aptos"/>
              </a:rPr>
              <a:t>5</a:t>
            </a:r>
            <a:r>
              <a:rPr sz="1900" dirty="0">
                <a:solidFill>
                  <a:srgbClr val="2D2D2D"/>
                </a:solidFill>
                <a:latin typeface="Aptos"/>
              </a:rPr>
              <a:t> teams, and 46 team aliases.</a:t>
            </a:r>
          </a:p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Ball-by-ball data can support player-level batting and bowling comparisons.</a:t>
            </a:r>
          </a:p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Match and toss fields can be used to examine toss decisions and match results.</a:t>
            </a:r>
          </a:p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The stated dataset period is 2008–202</a:t>
            </a:r>
            <a:r>
              <a:rPr lang="en-IN" sz="1900" dirty="0">
                <a:solidFill>
                  <a:srgbClr val="2D2D2D"/>
                </a:solidFill>
                <a:latin typeface="Aptos"/>
              </a:rPr>
              <a:t>6</a:t>
            </a:r>
            <a:r>
              <a:rPr sz="1900" dirty="0">
                <a:solidFill>
                  <a:srgbClr val="2D2D2D"/>
                </a:solidFill>
                <a:latin typeface="Aptos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900" dirty="0">
                <a:solidFill>
                  <a:srgbClr val="2D2D2D"/>
                </a:solidFill>
                <a:latin typeface="Aptos"/>
              </a:rPr>
              <a:t>• The supplied PPT does not include calculated top-player rankings or toss-impact results; these must be generated from the CSV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67ACC245-70D9-3E8C-5FB8-754CFCF29BA7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6520D471-D4E5-A862-75B1-D9BCC13CCE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AD22DAB3-C37B-1766-28C4-6EB13F7079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CDC96198-DF83-D7E8-5187-D35038090D7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BAA191BE-B616-456E-A32A-06C5D11989B1}"/>
                </a:ext>
              </a:extLst>
            </p:cNvPr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Implementation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808080"/>
                </a:solidFill>
                <a:latin typeface="Times New Roman"/>
              </a:rPr>
              <a:t>Workflow for IPL player and team performance analysis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196596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latin typeface="Aptos"/>
              </a:rPr>
              <a:t>1. Data Collection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291839" y="196596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latin typeface="Aptos"/>
              </a:rPr>
              <a:t>2. Data Cleaning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96596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latin typeface="Aptos"/>
              </a:rPr>
              <a:t>3. Pre-processing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365760" y="370332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4. EDA</a:t>
            </a:r>
          </a:p>
        </p:txBody>
      </p:sp>
      <p:sp>
        <p:nvSpPr>
          <p:cNvPr id="18" name="Chevron 17"/>
          <p:cNvSpPr/>
          <p:nvPr/>
        </p:nvSpPr>
        <p:spPr>
          <a:xfrm>
            <a:off x="3291839" y="3703320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5. Visualization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217920" y="3703320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latin typeface="Aptos"/>
              </a:rPr>
              <a:t>6. Insights &amp; Report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4572000" y="2999232"/>
            <a:ext cx="640080" cy="640080"/>
          </a:xfrm>
          <a:prstGeom prst="downArrow">
            <a:avLst/>
          </a:prstGeom>
          <a:solidFill>
            <a:srgbClr val="C25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5074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33464"/>
                </a:solidFill>
                <a:latin typeface="Aptos"/>
              </a:rPr>
              <a:t>Output: validated IPL tables → performance metrics → visual comparisons → documented findings</a:t>
            </a:r>
          </a:p>
        </p:txBody>
      </p:sp>
    </p:spTree>
    <p:extLst>
      <p:ext uri="{BB962C8B-B14F-4D97-AF65-F5344CB8AC3E}">
        <p14:creationId xmlns:p14="http://schemas.microsoft.com/office/powerpoint/2010/main" val="49352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463040"/>
            <a:ext cx="8412480" cy="380873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spcAft>
                <a:spcPts val="10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1800">
                <a:latin typeface="Aptos"/>
              </a:rPr>
              <a:t>• The project focuses on IPL batting, bowling, team, season, and toss-related analysis.</a:t>
            </a:r>
          </a:p>
          <a:p>
            <a:pPr algn="l">
              <a:spcAft>
                <a:spcPts val="1000"/>
              </a:spcAft>
            </a:pPr>
            <a:r>
              <a:rPr sz="1800">
                <a:latin typeface="Aptos"/>
              </a:rPr>
              <a:t>• The supplied deck documents the dataset scale and the planned Python-based toolset.</a:t>
            </a:r>
          </a:p>
          <a:p>
            <a:pPr algn="l">
              <a:spcAft>
                <a:spcPts val="1000"/>
              </a:spcAft>
            </a:pPr>
            <a:r>
              <a:rPr sz="1800">
                <a:latin typeface="Aptos"/>
              </a:rPr>
              <a:t>• Visualizations can make player and team comparisons easier to interpret.</a:t>
            </a:r>
          </a:p>
          <a:p>
            <a:pPr algn="l">
              <a:spcAft>
                <a:spcPts val="1000"/>
              </a:spcAft>
            </a:pPr>
            <a:r>
              <a:rPr sz="1800">
                <a:latin typeface="Aptos"/>
              </a:rPr>
              <a:t>• Final performance conclusions should be confirmed by running the analysis on the source CSV files.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251" y="6126486"/>
            <a:ext cx="813816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1500" b="1">
                <a:latin typeface="Aptos"/>
              </a:rPr>
              <a:t>Future scope: connect live IPL data, add predictive models, and build an interactive dashboard using Power BI or Plotly.</a:t>
            </a: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000" b="1" kern="1200" dirty="0">
                <a:solidFill>
                  <a:schemeClr val="tx1"/>
                </a:solidFill>
                <a:latin typeface="Aptos Display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3265</TotalTime>
  <Words>1109</Words>
  <Application>Microsoft Office PowerPoint</Application>
  <PresentationFormat>Custom</PresentationFormat>
  <Paragraphs>231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amruthavarshini3117@hotmail.com</cp:lastModifiedBy>
  <cp:revision>111</cp:revision>
  <cp:lastPrinted>2025-10-14T18:21:49Z</cp:lastPrinted>
  <dcterms:created xsi:type="dcterms:W3CDTF">2025-10-10T08:28:06Z</dcterms:created>
  <dcterms:modified xsi:type="dcterms:W3CDTF">2026-09-29T19:18:42Z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